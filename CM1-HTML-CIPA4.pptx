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sldSz cx="12192000" cy="6858000"/>
  <p:notesSz cx="12192000" cy="6858000"/>
  <p:embeddedFontLst>
    <p:embeddedFont>
      <p:font typeface="Consolas" panose="020B0609020204030204" pitchFamily="49" charset="0"/>
      <p:regular r:id="rId89"/>
      <p:bold r:id="rId90"/>
      <p:italic r:id="rId91"/>
      <p:boldItalic r:id="rId92"/>
    </p:embeddedFont>
    <p:embeddedFont>
      <p:font typeface="Helvetica Neue" panose="020B0604020202020204" charset="0"/>
      <p:regular r:id="rId93"/>
      <p:bold r:id="rId94"/>
      <p:italic r:id="rId95"/>
      <p:boldItalic r:id="rId96"/>
    </p:embeddedFont>
    <p:embeddedFont>
      <p:font typeface="Trebuchet MS" panose="020B0603020202020204" pitchFamily="34" charset="0"/>
      <p:regular r:id="rId97"/>
      <p:bold r:id="rId98"/>
      <p:italic r:id="rId99"/>
      <p:boldItalic r:id="rId100"/>
    </p:embeddedFont>
    <p:embeddedFont>
      <p:font typeface="Verdana" panose="020B0604030504040204" pitchFamily="34" charset="0"/>
      <p:regular r:id="rId101"/>
      <p:bold r:id="rId102"/>
      <p:italic r:id="rId103"/>
      <p:boldItalic r:id="rId10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5" roundtripDataSignature="AMtx7mg3m5D5lpjIwrIQlbS8CTSbn1d3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C756BD-769A-4933-AF03-410CCDEDF079}">
  <a:tblStyle styleId="{47C756BD-769A-4933-AF03-410CCDEDF0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1.fntdata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4.fntdata"/><Relationship Id="rId5" Type="http://schemas.openxmlformats.org/officeDocument/2006/relationships/slide" Target="slides/slide4.xml"/><Relationship Id="rId90" Type="http://schemas.openxmlformats.org/officeDocument/2006/relationships/font" Target="fonts/font2.fntdata"/><Relationship Id="rId95" Type="http://schemas.openxmlformats.org/officeDocument/2006/relationships/font" Target="fonts/font7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5.fntdata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3.fntdata"/><Relationship Id="rId9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6.fntdata"/><Relationship Id="rId99" Type="http://schemas.openxmlformats.org/officeDocument/2006/relationships/font" Target="fonts/font11.fntdata"/><Relationship Id="rId10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9.fntdata"/><Relationship Id="rId104" Type="http://schemas.openxmlformats.org/officeDocument/2006/relationships/font" Target="fonts/font16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2.fntdata"/><Relationship Id="rId105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5.fntdata"/><Relationship Id="rId98" Type="http://schemas.openxmlformats.org/officeDocument/2006/relationships/font" Target="fonts/font10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: </a:t>
            </a:r>
            <a:endParaRPr/>
          </a:p>
        </p:txBody>
      </p:sp>
      <p:sp>
        <p:nvSpPr>
          <p:cNvPr id="81" name="Google Shape;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7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7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7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7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7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7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7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8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8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8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8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8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8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9"/>
          <p:cNvSpPr txBox="1">
            <a:spLocks noGrp="1"/>
          </p:cNvSpPr>
          <p:nvPr>
            <p:ph type="ctrTitle"/>
          </p:nvPr>
        </p:nvSpPr>
        <p:spPr>
          <a:xfrm>
            <a:off x="5027421" y="1992248"/>
            <a:ext cx="5316855" cy="756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9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9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9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557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557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557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557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557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557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557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557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557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55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0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0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0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0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0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557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557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557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557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557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557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557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557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557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55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1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1"/>
          <p:cNvSpPr txBox="1">
            <a:spLocks noGrp="1"/>
          </p:cNvSpPr>
          <p:nvPr>
            <p:ph type="body" idx="1"/>
          </p:nvPr>
        </p:nvSpPr>
        <p:spPr>
          <a:xfrm>
            <a:off x="710183" y="1722564"/>
            <a:ext cx="10373360" cy="204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1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1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557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557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557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557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557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557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557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557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557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55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2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2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2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557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557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557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557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557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557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557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557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557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55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3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3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557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557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557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557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557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557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557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557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557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55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8"/>
          <p:cNvSpPr/>
          <p:nvPr/>
        </p:nvSpPr>
        <p:spPr>
          <a:xfrm>
            <a:off x="0" y="6524999"/>
            <a:ext cx="12192000" cy="331470"/>
          </a:xfrm>
          <a:custGeom>
            <a:avLst/>
            <a:gdLst/>
            <a:ahLst/>
            <a:cxnLst/>
            <a:rect l="l" t="t" r="r" b="b"/>
            <a:pathLst>
              <a:path w="12192000" h="331470" extrusionOk="0">
                <a:moveTo>
                  <a:pt x="12192000" y="0"/>
                </a:moveTo>
                <a:lnTo>
                  <a:pt x="0" y="0"/>
                </a:lnTo>
                <a:lnTo>
                  <a:pt x="0" y="331012"/>
                </a:lnTo>
                <a:lnTo>
                  <a:pt x="12192000" y="331012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7" name="Google Shape;7;p8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52275" y="1556842"/>
            <a:ext cx="339686" cy="5040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8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46962" y="225234"/>
            <a:ext cx="1213711" cy="58623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88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88"/>
          <p:cNvSpPr txBox="1">
            <a:spLocks noGrp="1"/>
          </p:cNvSpPr>
          <p:nvPr>
            <p:ph type="body" idx="1"/>
          </p:nvPr>
        </p:nvSpPr>
        <p:spPr>
          <a:xfrm>
            <a:off x="710183" y="1722564"/>
            <a:ext cx="10373360" cy="204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88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8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88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557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557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557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557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557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557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557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557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557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557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hyperlink" Target="https://www.lumni.fr/video/creation-d-internet-de-la-premiere-connexion-au-reseau-mondial" TargetMode="External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jp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www.youtube.com/watch?v=ORMxnhkSBAA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hyperlink" Target="http://www.exemple.fr/bonjour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30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xemple.fr/bonjour.html" TargetMode="External"/><Relationship Id="rId3" Type="http://schemas.openxmlformats.org/officeDocument/2006/relationships/image" Target="../media/image2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isen-nantes.fr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emple.com/page.html?nom=nn&amp;prenom=p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isen-nantes.fr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2.png"/><Relationship Id="rId7" Type="http://schemas.openxmlformats.org/officeDocument/2006/relationships/image" Target="../media/image37.png"/><Relationship Id="rId12" Type="http://schemas.openxmlformats.org/officeDocument/2006/relationships/image" Target="../media/image4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0.png"/><Relationship Id="rId10" Type="http://schemas.openxmlformats.org/officeDocument/2006/relationships/image" Target="../media/image39.png"/><Relationship Id="rId4" Type="http://schemas.openxmlformats.org/officeDocument/2006/relationships/image" Target="../media/image29.png"/><Relationship Id="rId9" Type="http://schemas.openxmlformats.org/officeDocument/2006/relationships/image" Target="../media/image35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2.png"/><Relationship Id="rId7" Type="http://schemas.openxmlformats.org/officeDocument/2006/relationships/image" Target="../media/image37.png"/><Relationship Id="rId12" Type="http://schemas.openxmlformats.org/officeDocument/2006/relationships/image" Target="../media/image4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0.png"/><Relationship Id="rId10" Type="http://schemas.openxmlformats.org/officeDocument/2006/relationships/image" Target="../media/image39.png"/><Relationship Id="rId4" Type="http://schemas.openxmlformats.org/officeDocument/2006/relationships/image" Target="../media/image29.png"/><Relationship Id="rId9" Type="http://schemas.openxmlformats.org/officeDocument/2006/relationships/image" Target="../media/image35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jpg"/><Relationship Id="rId4" Type="http://schemas.openxmlformats.org/officeDocument/2006/relationships/image" Target="../media/image4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vscod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ode.visualstudio.com/" TargetMode="Externa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validator.w3.org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w3.org/html5/html-author/charref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lipsum.com/" TargetMode="External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jpg"/><Relationship Id="rId5" Type="http://schemas.openxmlformats.org/officeDocument/2006/relationships/image" Target="../media/image55.png"/><Relationship Id="rId4" Type="http://schemas.openxmlformats.org/officeDocument/2006/relationships/image" Target="../media/image54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4.jpg"/><Relationship Id="rId4" Type="http://schemas.openxmlformats.org/officeDocument/2006/relationships/image" Target="../media/image63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7.jpg"/><Relationship Id="rId4" Type="http://schemas.openxmlformats.org/officeDocument/2006/relationships/image" Target="../media/image66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jpg"/><Relationship Id="rId4" Type="http://schemas.openxmlformats.org/officeDocument/2006/relationships/image" Target="../media/image6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3.jpg"/><Relationship Id="rId4" Type="http://schemas.openxmlformats.org/officeDocument/2006/relationships/image" Target="../media/image72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6.jpg"/><Relationship Id="rId4" Type="http://schemas.openxmlformats.org/officeDocument/2006/relationships/image" Target="../media/image75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9.jpg"/><Relationship Id="rId4" Type="http://schemas.openxmlformats.org/officeDocument/2006/relationships/image" Target="../media/image7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xample.com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4.jp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6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6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6.jpg"/><Relationship Id="rId4" Type="http://schemas.openxmlformats.org/officeDocument/2006/relationships/image" Target="../media/image8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7" Type="http://schemas.openxmlformats.org/officeDocument/2006/relationships/image" Target="../media/image93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2.jpg"/><Relationship Id="rId5" Type="http://schemas.openxmlformats.org/officeDocument/2006/relationships/image" Target="../media/image91.png"/><Relationship Id="rId4" Type="http://schemas.openxmlformats.org/officeDocument/2006/relationships/image" Target="../media/image90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6.jpg"/><Relationship Id="rId4" Type="http://schemas.openxmlformats.org/officeDocument/2006/relationships/image" Target="../media/image95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9.jpg"/><Relationship Id="rId4" Type="http://schemas.openxmlformats.org/officeDocument/2006/relationships/image" Target="../media/image98.jp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jpg"/><Relationship Id="rId3" Type="http://schemas.openxmlformats.org/officeDocument/2006/relationships/image" Target="../media/image100.png"/><Relationship Id="rId7" Type="http://schemas.openxmlformats.org/officeDocument/2006/relationships/image" Target="../media/image104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3.jpg"/><Relationship Id="rId5" Type="http://schemas.openxmlformats.org/officeDocument/2006/relationships/image" Target="../media/image102.jpg"/><Relationship Id="rId4" Type="http://schemas.openxmlformats.org/officeDocument/2006/relationships/image" Target="../media/image10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8.jpg"/><Relationship Id="rId4" Type="http://schemas.openxmlformats.org/officeDocument/2006/relationships/image" Target="../media/image107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strip.com/mime-file-type-checker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strip.com/mime-file-type-checker" TargetMode="Externa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549"/>
            <a:ext cx="3378199" cy="651548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 txBox="1">
            <a:spLocks noGrp="1"/>
          </p:cNvSpPr>
          <p:nvPr>
            <p:ph type="ctrTitle"/>
          </p:nvPr>
        </p:nvSpPr>
        <p:spPr>
          <a:xfrm>
            <a:off x="5027421" y="1992248"/>
            <a:ext cx="5316855" cy="756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latin typeface="Calibri"/>
                <a:ea typeface="Calibri"/>
                <a:cs typeface="Calibri"/>
                <a:sym typeface="Calibri"/>
              </a:rPr>
              <a:t>Développement web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3940809" y="3426967"/>
            <a:ext cx="378587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E20512"/>
                </a:solidFill>
                <a:latin typeface="Calibri"/>
                <a:ea typeface="Calibri"/>
                <a:cs typeface="Calibri"/>
                <a:sym typeface="Calibri"/>
              </a:rPr>
              <a:t>Groupe des étudiants : CIPA 4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pic>
        <p:nvPicPr>
          <p:cNvPr id="54" name="Google Shape;5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475" y="3115138"/>
            <a:ext cx="11340052" cy="34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0302" y="161877"/>
            <a:ext cx="160829" cy="160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06302" y="271601"/>
            <a:ext cx="103639" cy="104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6343" y="4691290"/>
            <a:ext cx="223032" cy="22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1925" y="4335181"/>
            <a:ext cx="148218" cy="148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23800" y="3536539"/>
            <a:ext cx="149451" cy="1457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 txBox="1"/>
          <p:nvPr/>
        </p:nvSpPr>
        <p:spPr>
          <a:xfrm>
            <a:off x="4469061" y="322700"/>
            <a:ext cx="21849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75" rIns="0" bIns="0" anchor="t" anchorCtr="0">
            <a:spAutoFit/>
          </a:bodyPr>
          <a:lstStyle/>
          <a:p>
            <a:pPr marL="16583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7">
                <a:solidFill>
                  <a:srgbClr val="09162F"/>
                </a:solidFill>
                <a:latin typeface="Trebuchet MS"/>
                <a:ea typeface="Trebuchet MS"/>
                <a:cs typeface="Trebuchet MS"/>
                <a:sym typeface="Trebuchet MS"/>
              </a:rPr>
              <a:t>Timeline</a:t>
            </a:r>
            <a:endParaRPr sz="3917">
              <a:solidFill>
                <a:srgbClr val="0916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638042" y="2207666"/>
            <a:ext cx="1782600" cy="86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5080" lvl="0" indent="0" algn="ctr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0916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Généralités</a:t>
            </a:r>
            <a:endParaRPr sz="2400" b="1" dirty="0">
              <a:solidFill>
                <a:srgbClr val="09162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065" marR="5080" lvl="0" indent="0" algn="ctr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916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HTML</a:t>
            </a:r>
            <a:endParaRPr sz="2400" b="1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2824404" y="4059396"/>
            <a:ext cx="1369800" cy="65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75" rIns="0" bIns="0" anchor="t" anchorCtr="0">
            <a:spAutoFit/>
          </a:bodyPr>
          <a:lstStyle/>
          <a:p>
            <a:pPr marL="12700" marR="5080" lvl="0" indent="0" algn="ctr" rtl="0">
              <a:lnSpc>
                <a:spcPct val="1161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rPr lang="en-US" sz="2400" b="1" dirty="0">
                <a:latin typeface="Helvetica Neue"/>
                <a:ea typeface="Helvetica Neue"/>
                <a:cs typeface="Helvetica Neue"/>
                <a:sym typeface="Helvetica Neue"/>
              </a:rPr>
              <a:t>CSS</a:t>
            </a:r>
            <a:endParaRPr sz="24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708845" y="2477358"/>
            <a:ext cx="1787100" cy="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350" rIns="0" bIns="0" anchor="t" anchorCtr="0">
            <a:spAutoFit/>
          </a:bodyPr>
          <a:lstStyle/>
          <a:p>
            <a:pPr marL="16583" marR="6633" lvl="0" indent="0" algn="ctr" rtl="0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916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JavaScript</a:t>
            </a:r>
            <a:endParaRPr sz="24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6697461" y="4167853"/>
            <a:ext cx="1857900" cy="62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56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53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916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PHP</a:t>
            </a:r>
            <a:endParaRPr sz="24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5137039" y="4172532"/>
            <a:ext cx="927600" cy="693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450" rIns="0" bIns="0" anchor="t" anchorCtr="0">
            <a:spAutoFit/>
          </a:bodyPr>
          <a:lstStyle/>
          <a:p>
            <a:pPr marL="0" marR="3175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9162F"/>
                </a:solidFill>
                <a:latin typeface="Trebuchet MS"/>
                <a:ea typeface="Trebuchet MS"/>
                <a:cs typeface="Trebuchet MS"/>
                <a:sym typeface="Trebuchet MS"/>
              </a:rPr>
              <a:t>Jour 3</a:t>
            </a:r>
          </a:p>
          <a:p>
            <a:pPr marL="0" marR="3175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9162F"/>
                </a:solidFill>
                <a:latin typeface="Trebuchet MS"/>
                <a:ea typeface="Trebuchet MS"/>
                <a:cs typeface="Trebuchet MS"/>
                <a:sym typeface="Trebuchet MS"/>
              </a:rPr>
              <a:t>Jour 4</a:t>
            </a:r>
            <a:endParaRPr sz="2700" dirty="0">
              <a:solidFill>
                <a:srgbClr val="0916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797628" y="4156718"/>
            <a:ext cx="1424100" cy="46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450" rIns="0" bIns="0" anchor="t" anchorCtr="0">
            <a:spAutoFit/>
          </a:bodyPr>
          <a:lstStyle/>
          <a:p>
            <a:pPr marL="0" marR="33020" lvl="0" indent="0" algn="ctr" rtl="0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9162F"/>
                </a:solidFill>
                <a:latin typeface="Trebuchet MS"/>
                <a:ea typeface="Trebuchet MS"/>
                <a:cs typeface="Trebuchet MS"/>
                <a:sym typeface="Trebuchet MS"/>
              </a:rPr>
              <a:t>Jour 1</a:t>
            </a:r>
            <a:endParaRPr sz="2700" dirty="0">
              <a:solidFill>
                <a:srgbClr val="0916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11092090" y="5882478"/>
            <a:ext cx="1389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75" rIns="0" bIns="0" anchor="t" anchorCtr="0">
            <a:spAutoFit/>
          </a:bodyPr>
          <a:lstStyle/>
          <a:p>
            <a:pPr marL="1658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5">
                <a:solidFill>
                  <a:srgbClr val="F7F7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305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9158926" y="2556264"/>
            <a:ext cx="983400" cy="48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075" rIns="0" bIns="0" anchor="t" anchorCtr="0">
            <a:spAutoFit/>
          </a:bodyPr>
          <a:lstStyle/>
          <a:p>
            <a:pPr marL="26534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09162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</a:t>
            </a:r>
            <a:endParaRPr sz="24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65;p2">
            <a:extLst>
              <a:ext uri="{FF2B5EF4-FFF2-40B4-BE49-F238E27FC236}">
                <a16:creationId xmlns:a16="http://schemas.microsoft.com/office/drawing/2014/main" id="{117F7AE5-815E-89BE-BCDF-74AC5D23D8DD}"/>
              </a:ext>
            </a:extLst>
          </p:cNvPr>
          <p:cNvSpPr txBox="1"/>
          <p:nvPr/>
        </p:nvSpPr>
        <p:spPr>
          <a:xfrm>
            <a:off x="3093680" y="2649770"/>
            <a:ext cx="927600" cy="38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450" rIns="0" bIns="0" anchor="t" anchorCtr="0">
            <a:spAutoFit/>
          </a:bodyPr>
          <a:lstStyle/>
          <a:p>
            <a:pPr marL="0" marR="3175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9162F"/>
                </a:solidFill>
                <a:latin typeface="Trebuchet MS"/>
                <a:ea typeface="Trebuchet MS"/>
                <a:cs typeface="Trebuchet MS"/>
                <a:sym typeface="Trebuchet MS"/>
              </a:rPr>
              <a:t>Jour 2</a:t>
            </a:r>
            <a:endParaRPr sz="2700" dirty="0">
              <a:solidFill>
                <a:srgbClr val="0916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" name="Google Shape;65;p2">
            <a:extLst>
              <a:ext uri="{FF2B5EF4-FFF2-40B4-BE49-F238E27FC236}">
                <a16:creationId xmlns:a16="http://schemas.microsoft.com/office/drawing/2014/main" id="{14E908C7-5936-6563-466C-DA4504BA5264}"/>
              </a:ext>
            </a:extLst>
          </p:cNvPr>
          <p:cNvSpPr txBox="1"/>
          <p:nvPr/>
        </p:nvSpPr>
        <p:spPr>
          <a:xfrm>
            <a:off x="7162611" y="2348492"/>
            <a:ext cx="927600" cy="693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450" rIns="0" bIns="0" anchor="t" anchorCtr="0">
            <a:spAutoFit/>
          </a:bodyPr>
          <a:lstStyle/>
          <a:p>
            <a:pPr marL="0" marR="3175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9162F"/>
                </a:solidFill>
                <a:latin typeface="Trebuchet MS"/>
                <a:ea typeface="Trebuchet MS"/>
                <a:cs typeface="Trebuchet MS"/>
                <a:sym typeface="Trebuchet MS"/>
              </a:rPr>
              <a:t>Jour 4</a:t>
            </a:r>
          </a:p>
          <a:p>
            <a:pPr marL="0" marR="3175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9162F"/>
                </a:solidFill>
                <a:latin typeface="Trebuchet MS"/>
                <a:ea typeface="Trebuchet MS"/>
                <a:cs typeface="Trebuchet MS"/>
                <a:sym typeface="Trebuchet MS"/>
              </a:rPr>
              <a:t>Jour 5</a:t>
            </a:r>
            <a:endParaRPr sz="2700" dirty="0">
              <a:solidFill>
                <a:srgbClr val="0916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Google Shape;65;p2">
            <a:extLst>
              <a:ext uri="{FF2B5EF4-FFF2-40B4-BE49-F238E27FC236}">
                <a16:creationId xmlns:a16="http://schemas.microsoft.com/office/drawing/2014/main" id="{36AB6E67-7C0F-833E-D7F4-CD8ECDA64E31}"/>
              </a:ext>
            </a:extLst>
          </p:cNvPr>
          <p:cNvSpPr txBox="1"/>
          <p:nvPr/>
        </p:nvSpPr>
        <p:spPr>
          <a:xfrm>
            <a:off x="9188183" y="4154391"/>
            <a:ext cx="927600" cy="693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450" rIns="0" bIns="0" anchor="t" anchorCtr="0">
            <a:spAutoFit/>
          </a:bodyPr>
          <a:lstStyle/>
          <a:p>
            <a:pPr marL="0" marR="3175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9162F"/>
                </a:solidFill>
                <a:latin typeface="Trebuchet MS"/>
                <a:ea typeface="Trebuchet MS"/>
                <a:cs typeface="Trebuchet MS"/>
                <a:sym typeface="Trebuchet MS"/>
              </a:rPr>
              <a:t>Jour 6</a:t>
            </a:r>
          </a:p>
          <a:p>
            <a:pPr marL="0" marR="3175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9162F"/>
                </a:solidFill>
                <a:latin typeface="Trebuchet MS"/>
                <a:ea typeface="Trebuchet MS"/>
                <a:cs typeface="Trebuchet MS"/>
                <a:sym typeface="Trebuchet MS"/>
              </a:rPr>
              <a:t>Jour 7</a:t>
            </a:r>
            <a:endParaRPr sz="2700" dirty="0">
              <a:solidFill>
                <a:srgbClr val="09162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>
            <a:spLocks noGrp="1"/>
          </p:cNvSpPr>
          <p:nvPr>
            <p:ph type="title"/>
          </p:nvPr>
        </p:nvSpPr>
        <p:spPr>
          <a:xfrm>
            <a:off x="4786376" y="2334006"/>
            <a:ext cx="2875280" cy="74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4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557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78" name="Google Shape;78;p4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>
            <a:spLocks noGrp="1"/>
          </p:cNvSpPr>
          <p:nvPr>
            <p:ph type="title"/>
          </p:nvPr>
        </p:nvSpPr>
        <p:spPr>
          <a:xfrm>
            <a:off x="3772661" y="821512"/>
            <a:ext cx="465074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Internet : Définition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1031239" y="1564893"/>
            <a:ext cx="10226675" cy="198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5600" lvl="0" indent="-34290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C'est un réseau de réseaux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marR="17145" lvl="0" indent="-343535" algn="l" rtl="0">
              <a:lnSpc>
                <a:spcPct val="107857"/>
              </a:lnSpc>
              <a:spcBef>
                <a:spcPts val="21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Il s'agit d'un grand réseau informatique mondial accessible au public et qui permet de connecter plusieurs équipements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3535" algn="l" rtl="0">
              <a:lnSpc>
                <a:spcPct val="107857"/>
              </a:lnSpc>
              <a:spcBef>
                <a:spcPts val="1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Internet n'appartient à aucun organisme, c'est un travail collaboratif gouverné par des standards (W3C) et des règles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1104" y="4184175"/>
            <a:ext cx="3093815" cy="226670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557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/>
        </p:nvSpPr>
        <p:spPr>
          <a:xfrm>
            <a:off x="4018026" y="821512"/>
            <a:ext cx="415797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Internet : Histoire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Généralités</a:t>
            </a:r>
            <a:endParaRPr/>
          </a:p>
        </p:txBody>
      </p:sp>
      <p:grpSp>
        <p:nvGrpSpPr>
          <p:cNvPr id="95" name="Google Shape;95;p6"/>
          <p:cNvGrpSpPr/>
          <p:nvPr/>
        </p:nvGrpSpPr>
        <p:grpSpPr>
          <a:xfrm>
            <a:off x="2446273" y="2235707"/>
            <a:ext cx="7463145" cy="2301494"/>
            <a:chOff x="2446273" y="2235707"/>
            <a:chExt cx="7463145" cy="2301494"/>
          </a:xfrm>
        </p:grpSpPr>
        <p:pic>
          <p:nvPicPr>
            <p:cNvPr id="96" name="Google Shape;96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80292" y="2298246"/>
              <a:ext cx="7429126" cy="22175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46273" y="2235707"/>
              <a:ext cx="1507489" cy="23014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6"/>
          <p:cNvSpPr txBox="1"/>
          <p:nvPr/>
        </p:nvSpPr>
        <p:spPr>
          <a:xfrm>
            <a:off x="3354070" y="4976672"/>
            <a:ext cx="3212465" cy="1104900"/>
          </a:xfrm>
          <a:prstGeom prst="rect">
            <a:avLst/>
          </a:prstGeom>
          <a:noFill/>
          <a:ln w="952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6825" rIns="0" bIns="0" anchor="t" anchorCtr="0">
            <a:spAutoFit/>
          </a:bodyPr>
          <a:lstStyle/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Internet aujourd'hui 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54864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0000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Un milliard de sites en ligne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54864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0000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Trois milliards d'internaute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0556" y="4920107"/>
            <a:ext cx="650748" cy="650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49258" y="4886718"/>
            <a:ext cx="650773" cy="656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6"/>
          <p:cNvGrpSpPr/>
          <p:nvPr/>
        </p:nvGrpSpPr>
        <p:grpSpPr>
          <a:xfrm>
            <a:off x="6905053" y="4854955"/>
            <a:ext cx="781024" cy="1473200"/>
            <a:chOff x="6905053" y="4854955"/>
            <a:chExt cx="781024" cy="1473200"/>
          </a:xfrm>
        </p:grpSpPr>
        <p:pic>
          <p:nvPicPr>
            <p:cNvPr id="102" name="Google Shape;102;p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905053" y="4854955"/>
              <a:ext cx="781024" cy="781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010400" y="5677382"/>
              <a:ext cx="650773" cy="6507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4" name="Google Shape;104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50429" y="5783529"/>
            <a:ext cx="650748" cy="52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54666" y="5878319"/>
            <a:ext cx="444542" cy="31163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 txBox="1"/>
          <p:nvPr/>
        </p:nvSpPr>
        <p:spPr>
          <a:xfrm>
            <a:off x="346659" y="6224727"/>
            <a:ext cx="2504440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Liens : </a:t>
            </a:r>
            <a:r>
              <a:rPr lang="en-US" sz="1400" u="sng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création d'internet</a:t>
            </a:r>
            <a:r>
              <a:rPr lang="en-US" sz="1400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(3’10)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557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08" name="Google Shape;108;p6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/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558800" y="6224727"/>
            <a:ext cx="3013710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Liens : </a:t>
            </a:r>
            <a:r>
              <a:rPr lang="en-US" sz="1400" u="sng">
                <a:solidFill>
                  <a:srgbClr val="944F7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 vs Extranet vs Intranet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397738" y="1633704"/>
            <a:ext cx="9968001" cy="3911393"/>
            <a:chOff x="397738" y="1633704"/>
            <a:chExt cx="9968001" cy="3911393"/>
          </a:xfrm>
        </p:grpSpPr>
        <p:pic>
          <p:nvPicPr>
            <p:cNvPr id="116" name="Google Shape;116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7738" y="1633704"/>
              <a:ext cx="1985061" cy="3911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7"/>
            <p:cNvSpPr/>
            <p:nvPr/>
          </p:nvSpPr>
          <p:spPr>
            <a:xfrm>
              <a:off x="2354580" y="1643506"/>
              <a:ext cx="8011159" cy="3854450"/>
            </a:xfrm>
            <a:custGeom>
              <a:avLst/>
              <a:gdLst/>
              <a:ahLst/>
              <a:cxnLst/>
              <a:rect l="l" t="t" r="r" b="b"/>
              <a:pathLst>
                <a:path w="8011159" h="3854450" extrusionOk="0">
                  <a:moveTo>
                    <a:pt x="8010652" y="0"/>
                  </a:moveTo>
                  <a:lnTo>
                    <a:pt x="0" y="0"/>
                  </a:lnTo>
                  <a:lnTo>
                    <a:pt x="0" y="3854196"/>
                  </a:lnTo>
                  <a:lnTo>
                    <a:pt x="8010652" y="3854196"/>
                  </a:lnTo>
                  <a:lnTo>
                    <a:pt x="8010652" y="0"/>
                  </a:lnTo>
                  <a:close/>
                </a:path>
              </a:pathLst>
            </a:custGeom>
            <a:solidFill>
              <a:srgbClr val="FFFFFF">
                <a:alpha val="8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2354580" y="1643506"/>
              <a:ext cx="8011159" cy="3854450"/>
            </a:xfrm>
            <a:custGeom>
              <a:avLst/>
              <a:gdLst/>
              <a:ahLst/>
              <a:cxnLst/>
              <a:rect l="l" t="t" r="r" b="b"/>
              <a:pathLst>
                <a:path w="8011159" h="3854450" extrusionOk="0">
                  <a:moveTo>
                    <a:pt x="0" y="3854196"/>
                  </a:moveTo>
                  <a:lnTo>
                    <a:pt x="8010652" y="3854196"/>
                  </a:lnTo>
                  <a:lnTo>
                    <a:pt x="8010652" y="0"/>
                  </a:lnTo>
                  <a:lnTo>
                    <a:pt x="0" y="0"/>
                  </a:lnTo>
                  <a:lnTo>
                    <a:pt x="0" y="3854196"/>
                  </a:lnTo>
                  <a:close/>
                </a:path>
              </a:pathLst>
            </a:custGeom>
            <a:noFill/>
            <a:ln w="9525" cap="flat" cmpd="sng">
              <a:solidFill>
                <a:srgbClr val="D670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3568953" y="1891741"/>
            <a:ext cx="157797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Internet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7"/>
          <p:cNvGrpSpPr/>
          <p:nvPr/>
        </p:nvGrpSpPr>
        <p:grpSpPr>
          <a:xfrm>
            <a:off x="1057655" y="2776727"/>
            <a:ext cx="9308084" cy="2590038"/>
            <a:chOff x="1057655" y="2776727"/>
            <a:chExt cx="9308084" cy="2590038"/>
          </a:xfrm>
        </p:grpSpPr>
        <p:pic>
          <p:nvPicPr>
            <p:cNvPr id="121" name="Google Shape;121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57655" y="2776727"/>
              <a:ext cx="1338833" cy="25900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7"/>
            <p:cNvSpPr/>
            <p:nvPr/>
          </p:nvSpPr>
          <p:spPr>
            <a:xfrm>
              <a:off x="2354580" y="2799714"/>
              <a:ext cx="8011159" cy="2505710"/>
            </a:xfrm>
            <a:custGeom>
              <a:avLst/>
              <a:gdLst/>
              <a:ahLst/>
              <a:cxnLst/>
              <a:rect l="l" t="t" r="r" b="b"/>
              <a:pathLst>
                <a:path w="8011159" h="2505710" extrusionOk="0">
                  <a:moveTo>
                    <a:pt x="8010652" y="0"/>
                  </a:moveTo>
                  <a:lnTo>
                    <a:pt x="0" y="0"/>
                  </a:lnTo>
                  <a:lnTo>
                    <a:pt x="0" y="2505202"/>
                  </a:lnTo>
                  <a:lnTo>
                    <a:pt x="8010652" y="2505202"/>
                  </a:lnTo>
                  <a:lnTo>
                    <a:pt x="8010652" y="0"/>
                  </a:lnTo>
                  <a:close/>
                </a:path>
              </a:pathLst>
            </a:custGeom>
            <a:solidFill>
              <a:srgbClr val="FFFFFF">
                <a:alpha val="8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2354580" y="2799714"/>
              <a:ext cx="8011159" cy="2505710"/>
            </a:xfrm>
            <a:custGeom>
              <a:avLst/>
              <a:gdLst/>
              <a:ahLst/>
              <a:cxnLst/>
              <a:rect l="l" t="t" r="r" b="b"/>
              <a:pathLst>
                <a:path w="8011159" h="2505710" extrusionOk="0">
                  <a:moveTo>
                    <a:pt x="0" y="2505202"/>
                  </a:moveTo>
                  <a:lnTo>
                    <a:pt x="8010652" y="2505202"/>
                  </a:lnTo>
                  <a:lnTo>
                    <a:pt x="8010652" y="0"/>
                  </a:lnTo>
                  <a:lnTo>
                    <a:pt x="0" y="0"/>
                  </a:lnTo>
                  <a:lnTo>
                    <a:pt x="0" y="2505202"/>
                  </a:lnTo>
                  <a:close/>
                </a:path>
              </a:pathLst>
            </a:custGeom>
            <a:noFill/>
            <a:ln w="9525" cap="flat" cmpd="sng">
              <a:solidFill>
                <a:srgbClr val="E68E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24" name="Google Shape;124;p7"/>
          <p:cNvSpPr txBox="1"/>
          <p:nvPr/>
        </p:nvSpPr>
        <p:spPr>
          <a:xfrm>
            <a:off x="3492753" y="3048076"/>
            <a:ext cx="173037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Extranet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7"/>
          <p:cNvGrpSpPr/>
          <p:nvPr/>
        </p:nvGrpSpPr>
        <p:grpSpPr>
          <a:xfrm>
            <a:off x="1732788" y="3931920"/>
            <a:ext cx="8632951" cy="1241297"/>
            <a:chOff x="1732788" y="3931920"/>
            <a:chExt cx="8632951" cy="1241297"/>
          </a:xfrm>
        </p:grpSpPr>
        <p:pic>
          <p:nvPicPr>
            <p:cNvPr id="126" name="Google Shape;126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32788" y="3931920"/>
              <a:ext cx="663701" cy="12412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7"/>
            <p:cNvSpPr/>
            <p:nvPr/>
          </p:nvSpPr>
          <p:spPr>
            <a:xfrm>
              <a:off x="2354580" y="3956011"/>
              <a:ext cx="8011159" cy="1156335"/>
            </a:xfrm>
            <a:custGeom>
              <a:avLst/>
              <a:gdLst/>
              <a:ahLst/>
              <a:cxnLst/>
              <a:rect l="l" t="t" r="r" b="b"/>
              <a:pathLst>
                <a:path w="8011159" h="1156335" extrusionOk="0">
                  <a:moveTo>
                    <a:pt x="8010652" y="0"/>
                  </a:moveTo>
                  <a:lnTo>
                    <a:pt x="0" y="0"/>
                  </a:lnTo>
                  <a:lnTo>
                    <a:pt x="0" y="1156246"/>
                  </a:lnTo>
                  <a:lnTo>
                    <a:pt x="8010652" y="1156246"/>
                  </a:lnTo>
                  <a:lnTo>
                    <a:pt x="8010652" y="0"/>
                  </a:lnTo>
                  <a:close/>
                </a:path>
              </a:pathLst>
            </a:custGeom>
            <a:solidFill>
              <a:srgbClr val="FFFFFF">
                <a:alpha val="8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2354580" y="3956011"/>
              <a:ext cx="8011159" cy="1156335"/>
            </a:xfrm>
            <a:custGeom>
              <a:avLst/>
              <a:gdLst/>
              <a:ahLst/>
              <a:cxnLst/>
              <a:rect l="l" t="t" r="r" b="b"/>
              <a:pathLst>
                <a:path w="8011159" h="1156335" extrusionOk="0">
                  <a:moveTo>
                    <a:pt x="0" y="1156246"/>
                  </a:moveTo>
                  <a:lnTo>
                    <a:pt x="8010652" y="1156246"/>
                  </a:lnTo>
                  <a:lnTo>
                    <a:pt x="8010652" y="0"/>
                  </a:lnTo>
                  <a:lnTo>
                    <a:pt x="0" y="0"/>
                  </a:lnTo>
                  <a:lnTo>
                    <a:pt x="0" y="1156246"/>
                  </a:lnTo>
                  <a:close/>
                </a:path>
              </a:pathLst>
            </a:custGeom>
            <a:noFill/>
            <a:ln w="9525" cap="flat" cmpd="sng">
              <a:solidFill>
                <a:srgbClr val="F3B1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29" name="Google Shape;129;p7"/>
          <p:cNvSpPr txBox="1"/>
          <p:nvPr/>
        </p:nvSpPr>
        <p:spPr>
          <a:xfrm>
            <a:off x="3568953" y="4205096"/>
            <a:ext cx="15767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Intranet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6429247" y="1916937"/>
            <a:ext cx="3577590" cy="56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325" rIns="0" bIns="0" anchor="t" anchorCtr="0">
            <a:spAutoFit/>
          </a:bodyPr>
          <a:lstStyle/>
          <a:p>
            <a:pPr marL="184785" marR="5080" lvl="0" indent="-172720" algn="l" rtl="0">
              <a:lnSpc>
                <a:spcPct val="1036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Un réseau mondial accessible au public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6420358" y="2823717"/>
            <a:ext cx="3885565" cy="106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425" rIns="0" bIns="0" anchor="t" anchorCtr="0">
            <a:spAutoFit/>
          </a:bodyPr>
          <a:lstStyle/>
          <a:p>
            <a:pPr marL="184785" marR="5080" lvl="0" indent="-172720" algn="l" rtl="0">
              <a:lnSpc>
                <a:spcPct val="86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Un réseau semi-privé accessible aux membres d'une organisation et à des utilisateurs spécifiques de l'extérieur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6420358" y="4230115"/>
            <a:ext cx="3723640" cy="56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325" rIns="0" bIns="0" anchor="t" anchorCtr="0">
            <a:spAutoFit/>
          </a:bodyPr>
          <a:lstStyle/>
          <a:p>
            <a:pPr marL="184785" marR="5080" lvl="0" indent="-172720" algn="l" rtl="0">
              <a:lnSpc>
                <a:spcPct val="1036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Un réseau privé interne accessible aux membres d'une organisation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7"/>
          <p:cNvGrpSpPr/>
          <p:nvPr/>
        </p:nvGrpSpPr>
        <p:grpSpPr>
          <a:xfrm>
            <a:off x="2698876" y="1901469"/>
            <a:ext cx="770331" cy="2979267"/>
            <a:chOff x="2698876" y="1901469"/>
            <a:chExt cx="770331" cy="2979267"/>
          </a:xfrm>
        </p:grpSpPr>
        <p:pic>
          <p:nvPicPr>
            <p:cNvPr id="134" name="Google Shape;134;p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758312" y="4169841"/>
              <a:ext cx="710895" cy="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760725" y="1901469"/>
              <a:ext cx="528421" cy="528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698876" y="2944418"/>
              <a:ext cx="710895" cy="7108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7"/>
          <p:cNvSpPr txBox="1"/>
          <p:nvPr/>
        </p:nvSpPr>
        <p:spPr>
          <a:xfrm>
            <a:off x="3106673" y="929132"/>
            <a:ext cx="462978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Internet VS Intranet VS Extranet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3345560" y="6614871"/>
            <a:ext cx="10287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4272534" y="821512"/>
            <a:ext cx="36480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Internet	  Web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26450" y="1769100"/>
            <a:ext cx="10840500" cy="42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355600" marR="196850" lvl="0" indent="-3429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Les machines communiquent via internet à travers des protocoles de transfert de données standard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1964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Internet a plusieurs applications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800" lvl="1" indent="-342900" algn="l" rtl="0">
              <a:lnSpc>
                <a:spcPct val="10875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courrier électronique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800" lvl="1" indent="-3429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messagerie instantanée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800" lvl="1" indent="-3429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téléchargement de fichiers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800" lvl="1" indent="-3429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970000"/>
              </a:buClr>
              <a:buSzPts val="1800"/>
              <a:buFont typeface="Arial"/>
              <a:buChar char="•"/>
            </a:pPr>
            <a:r>
              <a:rPr lang="en-US" sz="24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World Wide Web (WWW) ou </a:t>
            </a:r>
            <a:r>
              <a:rPr lang="en-US" sz="2400" b="1">
                <a:solidFill>
                  <a:srgbClr val="3B78D7"/>
                </a:solidFill>
                <a:latin typeface="Calibri"/>
                <a:ea typeface="Calibri"/>
                <a:cs typeface="Calibri"/>
                <a:sym typeface="Calibri"/>
              </a:rPr>
              <a:t>WEB </a:t>
            </a:r>
            <a:r>
              <a:rPr lang="en-US" sz="24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tout court …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2900" algn="l" rtl="0">
              <a:lnSpc>
                <a:spcPct val="107857"/>
              </a:lnSpc>
              <a:spcBef>
                <a:spcPts val="20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On se connecte au web via un accès internet qui peut être obtenue par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800" lvl="1" indent="-342900" algn="l" rtl="0">
              <a:lnSpc>
                <a:spcPct val="10145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réseau filaire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800" lvl="1" indent="-342900" algn="l" rtl="0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réseau sans fil …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299453" y="1013078"/>
            <a:ext cx="415290" cy="426720"/>
          </a:xfrm>
          <a:custGeom>
            <a:avLst/>
            <a:gdLst/>
            <a:ahLst/>
            <a:cxnLst/>
            <a:rect l="l" t="t" r="r" b="b"/>
            <a:pathLst>
              <a:path w="415290" h="426719" extrusionOk="0">
                <a:moveTo>
                  <a:pt x="231775" y="0"/>
                </a:moveTo>
                <a:lnTo>
                  <a:pt x="199771" y="87884"/>
                </a:lnTo>
                <a:lnTo>
                  <a:pt x="0" y="87884"/>
                </a:lnTo>
                <a:lnTo>
                  <a:pt x="0" y="188213"/>
                </a:lnTo>
                <a:lnTo>
                  <a:pt x="163322" y="188213"/>
                </a:lnTo>
                <a:lnTo>
                  <a:pt x="145034" y="238379"/>
                </a:lnTo>
                <a:lnTo>
                  <a:pt x="0" y="238379"/>
                </a:lnTo>
                <a:lnTo>
                  <a:pt x="0" y="338709"/>
                </a:lnTo>
                <a:lnTo>
                  <a:pt x="108458" y="338709"/>
                </a:lnTo>
                <a:lnTo>
                  <a:pt x="89026" y="392303"/>
                </a:lnTo>
                <a:lnTo>
                  <a:pt x="183261" y="426593"/>
                </a:lnTo>
                <a:lnTo>
                  <a:pt x="215265" y="338709"/>
                </a:lnTo>
                <a:lnTo>
                  <a:pt x="415036" y="338709"/>
                </a:lnTo>
                <a:lnTo>
                  <a:pt x="415036" y="238379"/>
                </a:lnTo>
                <a:lnTo>
                  <a:pt x="251841" y="238379"/>
                </a:lnTo>
                <a:lnTo>
                  <a:pt x="270001" y="188213"/>
                </a:lnTo>
                <a:lnTo>
                  <a:pt x="415036" y="188213"/>
                </a:lnTo>
                <a:lnTo>
                  <a:pt x="415036" y="87884"/>
                </a:lnTo>
                <a:lnTo>
                  <a:pt x="306577" y="87884"/>
                </a:lnTo>
                <a:lnTo>
                  <a:pt x="326009" y="34290"/>
                </a:lnTo>
                <a:lnTo>
                  <a:pt x="231775" y="0"/>
                </a:lnTo>
                <a:close/>
              </a:path>
            </a:pathLst>
          </a:custGeom>
          <a:solidFill>
            <a:srgbClr val="97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8" name="Google Shape;148;p8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9" name="Google Shape;149;p8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5539232" y="821512"/>
            <a:ext cx="111696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Web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0407" y="4227626"/>
            <a:ext cx="1178845" cy="1589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6664" y="5996672"/>
            <a:ext cx="2555250" cy="471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 txBox="1"/>
          <p:nvPr/>
        </p:nvSpPr>
        <p:spPr>
          <a:xfrm>
            <a:off x="1629286" y="3618132"/>
            <a:ext cx="1670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Internaute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5432922" y="5817475"/>
            <a:ext cx="2053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78130" marR="5080" lvl="0" indent="-2654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Serveur web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514094" y="5438038"/>
            <a:ext cx="1875155" cy="48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Navigateurs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88652" y="4339413"/>
            <a:ext cx="1310225" cy="13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 txBox="1"/>
          <p:nvPr/>
        </p:nvSpPr>
        <p:spPr>
          <a:xfrm>
            <a:off x="9251918" y="3753019"/>
            <a:ext cx="21837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Programmeur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7146261" y="4979684"/>
            <a:ext cx="2445384" cy="85725"/>
          </a:xfrm>
          <a:custGeom>
            <a:avLst/>
            <a:gdLst/>
            <a:ahLst/>
            <a:cxnLst/>
            <a:rect l="l" t="t" r="r" b="b"/>
            <a:pathLst>
              <a:path w="2445384" h="85725" extrusionOk="0">
                <a:moveTo>
                  <a:pt x="86105" y="0"/>
                </a:moveTo>
                <a:lnTo>
                  <a:pt x="0" y="42164"/>
                </a:lnTo>
                <a:lnTo>
                  <a:pt x="85344" y="85725"/>
                </a:lnTo>
                <a:lnTo>
                  <a:pt x="85598" y="57138"/>
                </a:lnTo>
                <a:lnTo>
                  <a:pt x="71245" y="57138"/>
                </a:lnTo>
                <a:lnTo>
                  <a:pt x="71330" y="47625"/>
                </a:lnTo>
                <a:lnTo>
                  <a:pt x="71379" y="42164"/>
                </a:lnTo>
                <a:lnTo>
                  <a:pt x="71499" y="28563"/>
                </a:lnTo>
                <a:lnTo>
                  <a:pt x="85852" y="28563"/>
                </a:lnTo>
                <a:lnTo>
                  <a:pt x="86105" y="0"/>
                </a:lnTo>
                <a:close/>
              </a:path>
              <a:path w="2445384" h="85725" extrusionOk="0">
                <a:moveTo>
                  <a:pt x="85852" y="28563"/>
                </a:moveTo>
                <a:lnTo>
                  <a:pt x="85731" y="42164"/>
                </a:lnTo>
                <a:lnTo>
                  <a:pt x="85682" y="47625"/>
                </a:lnTo>
                <a:lnTo>
                  <a:pt x="85598" y="57138"/>
                </a:lnTo>
                <a:lnTo>
                  <a:pt x="2445130" y="76200"/>
                </a:lnTo>
                <a:lnTo>
                  <a:pt x="2445300" y="57138"/>
                </a:lnTo>
                <a:lnTo>
                  <a:pt x="2445384" y="47625"/>
                </a:lnTo>
                <a:lnTo>
                  <a:pt x="85852" y="28563"/>
                </a:lnTo>
                <a:close/>
              </a:path>
              <a:path w="2445384" h="85725" extrusionOk="0">
                <a:moveTo>
                  <a:pt x="85852" y="28563"/>
                </a:moveTo>
                <a:lnTo>
                  <a:pt x="71499" y="28563"/>
                </a:lnTo>
                <a:lnTo>
                  <a:pt x="71379" y="42164"/>
                </a:lnTo>
                <a:lnTo>
                  <a:pt x="71330" y="47625"/>
                </a:lnTo>
                <a:lnTo>
                  <a:pt x="71245" y="57138"/>
                </a:lnTo>
                <a:lnTo>
                  <a:pt x="85598" y="57138"/>
                </a:lnTo>
                <a:lnTo>
                  <a:pt x="85682" y="47625"/>
                </a:lnTo>
                <a:lnTo>
                  <a:pt x="85731" y="42164"/>
                </a:lnTo>
                <a:lnTo>
                  <a:pt x="85852" y="28563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64" name="Google Shape;164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33887" y="4100727"/>
            <a:ext cx="1435575" cy="143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/>
        </p:nvSpPr>
        <p:spPr>
          <a:xfrm>
            <a:off x="269240" y="1616710"/>
            <a:ext cx="10804525" cy="1827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355600" marR="415290" lvl="0" indent="-3429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Web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permet de consulter des pages accessibles sur des sites. C'est une application répartie dans plusieurs outils: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145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un éditeur de code pour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créer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 page web → tâche réalisée par le programmeur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un serveur web pour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stocker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 page web → tâche réalisée par le programmeur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un navigateur web pour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consulter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 page web → tâche réalisée par l'internaute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67" name="Google Shape;167;p9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/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" name="Google Shape;173;p10"/>
          <p:cNvGrpSpPr/>
          <p:nvPr/>
        </p:nvGrpSpPr>
        <p:grpSpPr>
          <a:xfrm>
            <a:off x="2611120" y="3797744"/>
            <a:ext cx="8690864" cy="2041525"/>
            <a:chOff x="2611120" y="3797744"/>
            <a:chExt cx="8690864" cy="2041525"/>
          </a:xfrm>
        </p:grpSpPr>
        <p:sp>
          <p:nvSpPr>
            <p:cNvPr id="174" name="Google Shape;174;p10"/>
            <p:cNvSpPr/>
            <p:nvPr/>
          </p:nvSpPr>
          <p:spPr>
            <a:xfrm>
              <a:off x="2611120" y="4337811"/>
              <a:ext cx="7060565" cy="754380"/>
            </a:xfrm>
            <a:custGeom>
              <a:avLst/>
              <a:gdLst/>
              <a:ahLst/>
              <a:cxnLst/>
              <a:rect l="l" t="t" r="r" b="b"/>
              <a:pathLst>
                <a:path w="7060565" h="754379" extrusionOk="0">
                  <a:moveTo>
                    <a:pt x="6999351" y="725678"/>
                  </a:moveTo>
                  <a:lnTo>
                    <a:pt x="85801" y="686015"/>
                  </a:lnTo>
                  <a:lnTo>
                    <a:pt x="85979" y="657352"/>
                  </a:lnTo>
                  <a:lnTo>
                    <a:pt x="0" y="699770"/>
                  </a:lnTo>
                  <a:lnTo>
                    <a:pt x="85471" y="743077"/>
                  </a:lnTo>
                  <a:lnTo>
                    <a:pt x="85572" y="725678"/>
                  </a:lnTo>
                  <a:lnTo>
                    <a:pt x="85636" y="714590"/>
                  </a:lnTo>
                  <a:lnTo>
                    <a:pt x="6999224" y="754253"/>
                  </a:lnTo>
                  <a:lnTo>
                    <a:pt x="6999351" y="725678"/>
                  </a:lnTo>
                  <a:close/>
                </a:path>
                <a:path w="7060565" h="754379" extrusionOk="0">
                  <a:moveTo>
                    <a:pt x="7032726" y="93853"/>
                  </a:moveTo>
                  <a:lnTo>
                    <a:pt x="6989064" y="93853"/>
                  </a:lnTo>
                  <a:lnTo>
                    <a:pt x="6974700" y="93853"/>
                  </a:lnTo>
                  <a:lnTo>
                    <a:pt x="6974459" y="122301"/>
                  </a:lnTo>
                  <a:lnTo>
                    <a:pt x="7032726" y="93853"/>
                  </a:lnTo>
                  <a:close/>
                </a:path>
                <a:path w="7060565" h="754379" extrusionOk="0">
                  <a:moveTo>
                    <a:pt x="7060565" y="80264"/>
                  </a:moveTo>
                  <a:lnTo>
                    <a:pt x="6975221" y="36576"/>
                  </a:lnTo>
                  <a:lnTo>
                    <a:pt x="6974967" y="65151"/>
                  </a:lnTo>
                  <a:lnTo>
                    <a:pt x="122047" y="0"/>
                  </a:lnTo>
                  <a:lnTo>
                    <a:pt x="121666" y="28575"/>
                  </a:lnTo>
                  <a:lnTo>
                    <a:pt x="6974713" y="93726"/>
                  </a:lnTo>
                  <a:lnTo>
                    <a:pt x="6974954" y="65278"/>
                  </a:lnTo>
                  <a:lnTo>
                    <a:pt x="6974827" y="80264"/>
                  </a:lnTo>
                  <a:lnTo>
                    <a:pt x="6974713" y="93726"/>
                  </a:lnTo>
                  <a:lnTo>
                    <a:pt x="6989064" y="93853"/>
                  </a:lnTo>
                  <a:lnTo>
                    <a:pt x="7033006" y="93726"/>
                  </a:lnTo>
                  <a:lnTo>
                    <a:pt x="7060565" y="80264"/>
                  </a:lnTo>
                  <a:close/>
                </a:path>
              </a:pathLst>
            </a:custGeom>
            <a:solidFill>
              <a:srgbClr val="44536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75" name="Google Shape;175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310507" y="3903662"/>
              <a:ext cx="1705356" cy="1705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260459" y="3797744"/>
              <a:ext cx="2041525" cy="2041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" name="Google Shape;177;p10"/>
          <p:cNvSpPr txBox="1"/>
          <p:nvPr/>
        </p:nvSpPr>
        <p:spPr>
          <a:xfrm>
            <a:off x="2980689" y="3967988"/>
            <a:ext cx="161163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Envoi de requête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6583806" y="4726051"/>
            <a:ext cx="116268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Renvoi de la page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4562347" y="5438038"/>
            <a:ext cx="12885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864" y="5996672"/>
            <a:ext cx="2555250" cy="47129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/>
        </p:nvSpPr>
        <p:spPr>
          <a:xfrm>
            <a:off x="535940" y="3708654"/>
            <a:ext cx="21786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Internaute/Client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9100212" y="5731675"/>
            <a:ext cx="23883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77495" marR="5080" lvl="0" indent="-26543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Serveur web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5898" y="4026192"/>
            <a:ext cx="1705483" cy="170548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0"/>
          <p:cNvSpPr txBox="1"/>
          <p:nvPr/>
        </p:nvSpPr>
        <p:spPr>
          <a:xfrm>
            <a:off x="5760846" y="4066413"/>
            <a:ext cx="386524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http://www.exemple.fr/bonjour.html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827938" y="5590438"/>
            <a:ext cx="18753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Navigateurs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29011" y="3599370"/>
            <a:ext cx="330707" cy="33064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8790685" y="1721611"/>
            <a:ext cx="2900045" cy="1813560"/>
          </a:xfrm>
          <a:prstGeom prst="rect">
            <a:avLst/>
          </a:prstGeom>
          <a:solidFill>
            <a:srgbClr val="E7E6E6"/>
          </a:solidFill>
          <a:ln w="952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2075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marR="1592580" lvl="0" indent="0" algn="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marR="1583690" lvl="0" indent="0" algn="r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00711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&lt;b&gt; bonjour&lt;/b&gt;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4991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&lt;/body&gt;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2075" lvl="0" indent="0" algn="l" rtl="0">
              <a:lnSpc>
                <a:spcPct val="116944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2373248" y="593216"/>
            <a:ext cx="7447915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Web : mode de fonctionnement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1352169" y="4859223"/>
            <a:ext cx="782320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bonjour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8790685" y="1448308"/>
            <a:ext cx="1534795" cy="273685"/>
          </a:xfrm>
          <a:prstGeom prst="rect">
            <a:avLst/>
          </a:prstGeom>
          <a:solidFill>
            <a:srgbClr val="92C47C"/>
          </a:solidFill>
          <a:ln w="952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2075" lvl="0" indent="0" algn="l" rtl="0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bonjour.html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41034" y="2079411"/>
            <a:ext cx="1148299" cy="119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 txBox="1"/>
          <p:nvPr/>
        </p:nvSpPr>
        <p:spPr>
          <a:xfrm>
            <a:off x="76200" y="1600708"/>
            <a:ext cx="7363500" cy="2042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6825" rIns="0" bIns="0" anchor="t" anchorCtr="0">
            <a:spAutoFit/>
          </a:bodyPr>
          <a:lstStyle/>
          <a:p>
            <a:pPr marL="548640" marR="393065" lvl="0" indent="-31115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AutoNum type="arabicPeriod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Le client envoie une requête au serveur web via internet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548005" lvl="0" indent="-310515" algn="l" rtl="0">
              <a:lnSpc>
                <a:spcPct val="100714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AutoNum type="arabicPeriod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Le serveur cherche la page demandée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548640" marR="998855" lvl="0" indent="-311150" algn="l" rtl="0">
              <a:lnSpc>
                <a:spcPct val="107857"/>
              </a:lnSpc>
              <a:spcBef>
                <a:spcPts val="215"/>
              </a:spcBef>
              <a:spcAft>
                <a:spcPts val="0"/>
              </a:spcAft>
              <a:buSzPts val="1300"/>
              <a:buFont typeface="Calibri"/>
              <a:buAutoNum type="arabicPeriod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Le navigateur interprète la réponse reçu et affiche la page HTML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4" name="Google Shape;194;p10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/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11"/>
          <p:cNvGrpSpPr/>
          <p:nvPr/>
        </p:nvGrpSpPr>
        <p:grpSpPr>
          <a:xfrm>
            <a:off x="2611120" y="3797744"/>
            <a:ext cx="8690864" cy="2041525"/>
            <a:chOff x="2611120" y="3797744"/>
            <a:chExt cx="8690864" cy="2041525"/>
          </a:xfrm>
        </p:grpSpPr>
        <p:sp>
          <p:nvSpPr>
            <p:cNvPr id="201" name="Google Shape;201;p11"/>
            <p:cNvSpPr/>
            <p:nvPr/>
          </p:nvSpPr>
          <p:spPr>
            <a:xfrm>
              <a:off x="2611120" y="4337811"/>
              <a:ext cx="7060565" cy="754380"/>
            </a:xfrm>
            <a:custGeom>
              <a:avLst/>
              <a:gdLst/>
              <a:ahLst/>
              <a:cxnLst/>
              <a:rect l="l" t="t" r="r" b="b"/>
              <a:pathLst>
                <a:path w="7060565" h="754379" extrusionOk="0">
                  <a:moveTo>
                    <a:pt x="6999351" y="725678"/>
                  </a:moveTo>
                  <a:lnTo>
                    <a:pt x="85801" y="686015"/>
                  </a:lnTo>
                  <a:lnTo>
                    <a:pt x="85979" y="657352"/>
                  </a:lnTo>
                  <a:lnTo>
                    <a:pt x="0" y="699770"/>
                  </a:lnTo>
                  <a:lnTo>
                    <a:pt x="85471" y="743077"/>
                  </a:lnTo>
                  <a:lnTo>
                    <a:pt x="85572" y="725678"/>
                  </a:lnTo>
                  <a:lnTo>
                    <a:pt x="85636" y="714590"/>
                  </a:lnTo>
                  <a:lnTo>
                    <a:pt x="6999224" y="754253"/>
                  </a:lnTo>
                  <a:lnTo>
                    <a:pt x="6999351" y="725678"/>
                  </a:lnTo>
                  <a:close/>
                </a:path>
                <a:path w="7060565" h="754379" extrusionOk="0">
                  <a:moveTo>
                    <a:pt x="7032726" y="93853"/>
                  </a:moveTo>
                  <a:lnTo>
                    <a:pt x="6989064" y="93853"/>
                  </a:lnTo>
                  <a:lnTo>
                    <a:pt x="6974700" y="93853"/>
                  </a:lnTo>
                  <a:lnTo>
                    <a:pt x="6974459" y="122301"/>
                  </a:lnTo>
                  <a:lnTo>
                    <a:pt x="7032726" y="93853"/>
                  </a:lnTo>
                  <a:close/>
                </a:path>
                <a:path w="7060565" h="754379" extrusionOk="0">
                  <a:moveTo>
                    <a:pt x="7060565" y="80264"/>
                  </a:moveTo>
                  <a:lnTo>
                    <a:pt x="6975221" y="36576"/>
                  </a:lnTo>
                  <a:lnTo>
                    <a:pt x="6974967" y="65151"/>
                  </a:lnTo>
                  <a:lnTo>
                    <a:pt x="122047" y="0"/>
                  </a:lnTo>
                  <a:lnTo>
                    <a:pt x="121666" y="28575"/>
                  </a:lnTo>
                  <a:lnTo>
                    <a:pt x="6974713" y="93726"/>
                  </a:lnTo>
                  <a:lnTo>
                    <a:pt x="6974954" y="65278"/>
                  </a:lnTo>
                  <a:lnTo>
                    <a:pt x="6974827" y="80264"/>
                  </a:lnTo>
                  <a:lnTo>
                    <a:pt x="6974713" y="93726"/>
                  </a:lnTo>
                  <a:lnTo>
                    <a:pt x="6989064" y="93853"/>
                  </a:lnTo>
                  <a:lnTo>
                    <a:pt x="7033006" y="93726"/>
                  </a:lnTo>
                  <a:lnTo>
                    <a:pt x="7060565" y="80264"/>
                  </a:lnTo>
                  <a:close/>
                </a:path>
              </a:pathLst>
            </a:custGeom>
            <a:solidFill>
              <a:srgbClr val="44536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202" name="Google Shape;202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310507" y="3903662"/>
              <a:ext cx="1705356" cy="1705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260459" y="3797744"/>
              <a:ext cx="2041525" cy="2041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11"/>
          <p:cNvSpPr txBox="1"/>
          <p:nvPr/>
        </p:nvSpPr>
        <p:spPr>
          <a:xfrm>
            <a:off x="2980689" y="3967988"/>
            <a:ext cx="161163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Envoi de requête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6583806" y="4726051"/>
            <a:ext cx="116268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Renvoi de la page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4562347" y="5438038"/>
            <a:ext cx="12885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864" y="5996672"/>
            <a:ext cx="2555250" cy="47129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 txBox="1"/>
          <p:nvPr/>
        </p:nvSpPr>
        <p:spPr>
          <a:xfrm>
            <a:off x="943762" y="3627882"/>
            <a:ext cx="16701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Internaute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9550925" y="5731675"/>
            <a:ext cx="16803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77495" marR="5080" lvl="0" indent="-2654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Serveur web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5898" y="4026192"/>
            <a:ext cx="1705483" cy="170548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/>
        </p:nvSpPr>
        <p:spPr>
          <a:xfrm>
            <a:off x="827938" y="5590438"/>
            <a:ext cx="18753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Navigateurs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>
            <a:spLocks noGrp="1"/>
          </p:cNvSpPr>
          <p:nvPr>
            <p:ph type="title"/>
          </p:nvPr>
        </p:nvSpPr>
        <p:spPr>
          <a:xfrm>
            <a:off x="2373248" y="517016"/>
            <a:ext cx="7447915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Web : mode de fonctionnement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1352169" y="4859223"/>
            <a:ext cx="782320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bonjour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82771" y="2054911"/>
            <a:ext cx="1148299" cy="119742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3929507" y="3479800"/>
            <a:ext cx="3159125" cy="643255"/>
          </a:xfrm>
          <a:custGeom>
            <a:avLst/>
            <a:gdLst/>
            <a:ahLst/>
            <a:cxnLst/>
            <a:rect l="l" t="t" r="r" b="b"/>
            <a:pathLst>
              <a:path w="3159125" h="643254" extrusionOk="0">
                <a:moveTo>
                  <a:pt x="189611" y="95008"/>
                </a:moveTo>
                <a:lnTo>
                  <a:pt x="185242" y="62992"/>
                </a:lnTo>
                <a:lnTo>
                  <a:pt x="176657" y="0"/>
                </a:lnTo>
                <a:lnTo>
                  <a:pt x="108458" y="67310"/>
                </a:lnTo>
                <a:lnTo>
                  <a:pt x="135458" y="76530"/>
                </a:lnTo>
                <a:lnTo>
                  <a:pt x="0" y="473964"/>
                </a:lnTo>
                <a:lnTo>
                  <a:pt x="27051" y="483108"/>
                </a:lnTo>
                <a:lnTo>
                  <a:pt x="162521" y="85763"/>
                </a:lnTo>
                <a:lnTo>
                  <a:pt x="189611" y="95008"/>
                </a:lnTo>
                <a:close/>
              </a:path>
              <a:path w="3159125" h="643254" extrusionOk="0">
                <a:moveTo>
                  <a:pt x="3159125" y="615061"/>
                </a:moveTo>
                <a:lnTo>
                  <a:pt x="2608148" y="469861"/>
                </a:lnTo>
                <a:lnTo>
                  <a:pt x="2609113" y="466217"/>
                </a:lnTo>
                <a:lnTo>
                  <a:pt x="2615438" y="442214"/>
                </a:lnTo>
                <a:lnTo>
                  <a:pt x="2521585" y="461772"/>
                </a:lnTo>
                <a:lnTo>
                  <a:pt x="2593594" y="525145"/>
                </a:lnTo>
                <a:lnTo>
                  <a:pt x="2600858" y="497560"/>
                </a:lnTo>
                <a:lnTo>
                  <a:pt x="3151886" y="642747"/>
                </a:lnTo>
                <a:lnTo>
                  <a:pt x="3159125" y="615061"/>
                </a:lnTo>
                <a:close/>
              </a:path>
            </a:pathLst>
          </a:custGeom>
          <a:solidFill>
            <a:srgbClr val="97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6" name="Google Shape;216;p11"/>
          <p:cNvSpPr txBox="1"/>
          <p:nvPr/>
        </p:nvSpPr>
        <p:spPr>
          <a:xfrm>
            <a:off x="3195573" y="2981655"/>
            <a:ext cx="2218055" cy="48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Requête HTTP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5837046" y="3359287"/>
            <a:ext cx="3865245" cy="1007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8900" rIns="0" bIns="0" anchor="t" anchorCtr="0">
            <a:spAutoFit/>
          </a:bodyPr>
          <a:lstStyle/>
          <a:p>
            <a:pPr marL="1625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http://www.exemple.fr/bonjour.html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5604128" y="1693290"/>
            <a:ext cx="181483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Code HTML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7410322" y="1914525"/>
            <a:ext cx="1380490" cy="85725"/>
          </a:xfrm>
          <a:custGeom>
            <a:avLst/>
            <a:gdLst/>
            <a:ahLst/>
            <a:cxnLst/>
            <a:rect l="l" t="t" r="r" b="b"/>
            <a:pathLst>
              <a:path w="1380490" h="85725" extrusionOk="0">
                <a:moveTo>
                  <a:pt x="85725" y="0"/>
                </a:moveTo>
                <a:lnTo>
                  <a:pt x="0" y="42799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1380490" h="85725" extrusionOk="0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1380490" h="85725" extrusionOk="0">
                <a:moveTo>
                  <a:pt x="138036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1380362" y="57150"/>
                </a:lnTo>
                <a:lnTo>
                  <a:pt x="1380362" y="28575"/>
                </a:lnTo>
                <a:close/>
              </a:path>
            </a:pathLst>
          </a:custGeom>
          <a:solidFill>
            <a:srgbClr val="97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0" name="Google Shape;220;p11"/>
          <p:cNvSpPr/>
          <p:nvPr/>
        </p:nvSpPr>
        <p:spPr>
          <a:xfrm>
            <a:off x="7064756" y="4983860"/>
            <a:ext cx="432434" cy="582930"/>
          </a:xfrm>
          <a:custGeom>
            <a:avLst/>
            <a:gdLst/>
            <a:ahLst/>
            <a:cxnLst/>
            <a:rect l="l" t="t" r="r" b="b"/>
            <a:pathLst>
              <a:path w="432434" h="582929" extrusionOk="0">
                <a:moveTo>
                  <a:pt x="370114" y="521720"/>
                </a:moveTo>
                <a:lnTo>
                  <a:pt x="347091" y="538607"/>
                </a:lnTo>
                <a:lnTo>
                  <a:pt x="432308" y="582422"/>
                </a:lnTo>
                <a:lnTo>
                  <a:pt x="423918" y="533272"/>
                </a:lnTo>
                <a:lnTo>
                  <a:pt x="378587" y="533272"/>
                </a:lnTo>
                <a:lnTo>
                  <a:pt x="370114" y="521720"/>
                </a:lnTo>
                <a:close/>
              </a:path>
              <a:path w="432434" h="582929" extrusionOk="0">
                <a:moveTo>
                  <a:pt x="393198" y="504789"/>
                </a:moveTo>
                <a:lnTo>
                  <a:pt x="370114" y="521720"/>
                </a:lnTo>
                <a:lnTo>
                  <a:pt x="378587" y="533272"/>
                </a:lnTo>
                <a:lnTo>
                  <a:pt x="401700" y="516381"/>
                </a:lnTo>
                <a:lnTo>
                  <a:pt x="393198" y="504789"/>
                </a:lnTo>
                <a:close/>
              </a:path>
              <a:path w="432434" h="582929" extrusionOk="0">
                <a:moveTo>
                  <a:pt x="416178" y="487933"/>
                </a:moveTo>
                <a:lnTo>
                  <a:pt x="393198" y="504789"/>
                </a:lnTo>
                <a:lnTo>
                  <a:pt x="401700" y="516381"/>
                </a:lnTo>
                <a:lnTo>
                  <a:pt x="378587" y="533272"/>
                </a:lnTo>
                <a:lnTo>
                  <a:pt x="423918" y="533272"/>
                </a:lnTo>
                <a:lnTo>
                  <a:pt x="416178" y="487933"/>
                </a:lnTo>
                <a:close/>
              </a:path>
              <a:path w="432434" h="582929" extrusionOk="0">
                <a:moveTo>
                  <a:pt x="22987" y="0"/>
                </a:moveTo>
                <a:lnTo>
                  <a:pt x="0" y="17018"/>
                </a:lnTo>
                <a:lnTo>
                  <a:pt x="370114" y="521720"/>
                </a:lnTo>
                <a:lnTo>
                  <a:pt x="393198" y="504789"/>
                </a:lnTo>
                <a:lnTo>
                  <a:pt x="22987" y="0"/>
                </a:lnTo>
                <a:close/>
              </a:path>
            </a:pathLst>
          </a:custGeom>
          <a:solidFill>
            <a:srgbClr val="97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1" name="Google Shape;221;p11"/>
          <p:cNvSpPr txBox="1"/>
          <p:nvPr/>
        </p:nvSpPr>
        <p:spPr>
          <a:xfrm>
            <a:off x="6375653" y="5490768"/>
            <a:ext cx="225425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Réponse HTTP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23" name="Google Shape;223;p11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8790685" y="1721611"/>
            <a:ext cx="2900045" cy="1813560"/>
          </a:xfrm>
          <a:prstGeom prst="rect">
            <a:avLst/>
          </a:prstGeom>
          <a:solidFill>
            <a:srgbClr val="E7E6E6"/>
          </a:solidFill>
          <a:ln w="952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2075" lvl="0" indent="0" algn="l" rtl="0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marR="1592580" lvl="0" indent="0" algn="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marR="1583690" lvl="0" indent="0" algn="r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00711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&lt;b&gt; bonjour&lt;/b&gt;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4991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&lt;/body&gt;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2075" lvl="0" indent="0" algn="l" rtl="0">
              <a:lnSpc>
                <a:spcPct val="116944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8790685" y="1448308"/>
            <a:ext cx="1534795" cy="273685"/>
          </a:xfrm>
          <a:prstGeom prst="rect">
            <a:avLst/>
          </a:prstGeom>
          <a:solidFill>
            <a:srgbClr val="92C47C"/>
          </a:solidFill>
          <a:ln w="952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2075" lvl="0" indent="0" algn="l" rtl="0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bonjour.html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/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32" name="Google Shape;232;p12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269240" y="1540510"/>
            <a:ext cx="11396400" cy="8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355600" marR="5080" lvl="0" indent="-3302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▪"/>
            </a:pPr>
            <a:r>
              <a:rPr lang="en-US" sz="26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HTTP (Hypertext Transfer Protocol)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est un protocole de communication entre un client et un serveur. Sa version sécurisée est appelée HTTP</a:t>
            </a:r>
            <a:r>
              <a:rPr lang="en-US" sz="2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(avec </a:t>
            </a:r>
            <a:r>
              <a:rPr lang="en-US" sz="2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pour secured)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>
            <a:spLocks noGrp="1"/>
          </p:cNvSpPr>
          <p:nvPr>
            <p:ph type="title"/>
          </p:nvPr>
        </p:nvSpPr>
        <p:spPr>
          <a:xfrm>
            <a:off x="2525648" y="669112"/>
            <a:ext cx="745109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Web : mode de fonctionnement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 txBox="1"/>
          <p:nvPr/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269240" y="1540510"/>
            <a:ext cx="11396400" cy="26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355600" marR="5080" lvl="0" indent="-3302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▪"/>
            </a:pPr>
            <a:r>
              <a:rPr lang="en-US" sz="26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HTTP (Hypertext Transfer Protocol)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est un protocole de communication entre un client et un serveur. Sa version sécurisée est appelée HTTP</a:t>
            </a:r>
            <a:r>
              <a:rPr lang="en-US" sz="2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(avec </a:t>
            </a:r>
            <a:r>
              <a:rPr lang="en-US" sz="2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pour secured)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355600" marR="147955" lvl="0" indent="-330200" algn="l" rtl="0">
              <a:lnSpc>
                <a:spcPct val="107857"/>
              </a:lnSpc>
              <a:spcBef>
                <a:spcPts val="15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Les requêtes HTTP concernent, généralement, une ressource identifiée par son </a:t>
            </a:r>
            <a:r>
              <a:rPr lang="en-US" sz="26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URL ( Uniform Resource Locator = localisateur uniforme de ressource)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812800" marR="1198880" lvl="1" indent="-330200" algn="l" rtl="0">
              <a:lnSpc>
                <a:spcPct val="107857"/>
              </a:lnSpc>
              <a:spcBef>
                <a:spcPts val="5"/>
              </a:spcBef>
              <a:spcAft>
                <a:spcPts val="0"/>
              </a:spcAft>
              <a:buClr>
                <a:srgbClr val="970000"/>
              </a:buClr>
              <a:buSzPts val="1600"/>
              <a:buFont typeface="Arial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Contenu basique d'une URL :	</a:t>
            </a:r>
            <a:r>
              <a:rPr lang="en-US" sz="2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le protocole (comment)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, l</a:t>
            </a:r>
            <a:r>
              <a:rPr lang="en-US" sz="26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e nom du domaine (où)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et l</a:t>
            </a:r>
            <a:r>
              <a:rPr lang="en-US" sz="2600">
                <a:solidFill>
                  <a:srgbClr val="3B78D7"/>
                </a:solidFill>
                <a:latin typeface="Calibri"/>
                <a:ea typeface="Calibri"/>
                <a:cs typeface="Calibri"/>
                <a:sym typeface="Calibri"/>
              </a:rPr>
              <a:t>e nom du document (quoi)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2525648" y="669112"/>
            <a:ext cx="745109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Web : mode de fonctionnement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3886125" y="5215310"/>
            <a:ext cx="459104" cy="449579"/>
          </a:xfrm>
          <a:custGeom>
            <a:avLst/>
            <a:gdLst/>
            <a:ahLst/>
            <a:cxnLst/>
            <a:rect l="l" t="t" r="r" b="b"/>
            <a:pathLst>
              <a:path w="459104" h="449579" extrusionOk="0">
                <a:moveTo>
                  <a:pt x="31241" y="358520"/>
                </a:moveTo>
                <a:lnTo>
                  <a:pt x="0" y="449135"/>
                </a:lnTo>
                <a:lnTo>
                  <a:pt x="91186" y="419874"/>
                </a:lnTo>
                <a:lnTo>
                  <a:pt x="80974" y="409422"/>
                </a:lnTo>
                <a:lnTo>
                  <a:pt x="61087" y="409422"/>
                </a:lnTo>
                <a:lnTo>
                  <a:pt x="41021" y="389000"/>
                </a:lnTo>
                <a:lnTo>
                  <a:pt x="51252" y="379001"/>
                </a:lnTo>
                <a:lnTo>
                  <a:pt x="31241" y="358520"/>
                </a:lnTo>
                <a:close/>
              </a:path>
              <a:path w="459104" h="449579" extrusionOk="0">
                <a:moveTo>
                  <a:pt x="51252" y="379001"/>
                </a:moveTo>
                <a:lnTo>
                  <a:pt x="41021" y="389000"/>
                </a:lnTo>
                <a:lnTo>
                  <a:pt x="61087" y="409422"/>
                </a:lnTo>
                <a:lnTo>
                  <a:pt x="71258" y="399478"/>
                </a:lnTo>
                <a:lnTo>
                  <a:pt x="51252" y="379001"/>
                </a:lnTo>
                <a:close/>
              </a:path>
              <a:path w="459104" h="449579" extrusionOk="0">
                <a:moveTo>
                  <a:pt x="71258" y="399478"/>
                </a:moveTo>
                <a:lnTo>
                  <a:pt x="61087" y="409422"/>
                </a:lnTo>
                <a:lnTo>
                  <a:pt x="80974" y="409422"/>
                </a:lnTo>
                <a:lnTo>
                  <a:pt x="71258" y="399478"/>
                </a:lnTo>
                <a:close/>
              </a:path>
              <a:path w="459104" h="449579" extrusionOk="0">
                <a:moveTo>
                  <a:pt x="439038" y="0"/>
                </a:moveTo>
                <a:lnTo>
                  <a:pt x="51252" y="379001"/>
                </a:lnTo>
                <a:lnTo>
                  <a:pt x="71258" y="399478"/>
                </a:lnTo>
                <a:lnTo>
                  <a:pt x="458977" y="20446"/>
                </a:lnTo>
                <a:lnTo>
                  <a:pt x="439038" y="0"/>
                </a:lnTo>
                <a:close/>
              </a:path>
            </a:pathLst>
          </a:custGeom>
          <a:solidFill>
            <a:srgbClr val="97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3" name="Google Shape;243;p13"/>
          <p:cNvSpPr/>
          <p:nvPr/>
        </p:nvSpPr>
        <p:spPr>
          <a:xfrm>
            <a:off x="6542279" y="5236254"/>
            <a:ext cx="85725" cy="485139"/>
          </a:xfrm>
          <a:custGeom>
            <a:avLst/>
            <a:gdLst/>
            <a:ahLst/>
            <a:cxnLst/>
            <a:rect l="l" t="t" r="r" b="b"/>
            <a:pathLst>
              <a:path w="85725" h="485139" extrusionOk="0">
                <a:moveTo>
                  <a:pt x="28586" y="399207"/>
                </a:moveTo>
                <a:lnTo>
                  <a:pt x="0" y="399948"/>
                </a:lnTo>
                <a:lnTo>
                  <a:pt x="45085" y="484530"/>
                </a:lnTo>
                <a:lnTo>
                  <a:pt x="78346" y="413486"/>
                </a:lnTo>
                <a:lnTo>
                  <a:pt x="28956" y="413486"/>
                </a:lnTo>
                <a:lnTo>
                  <a:pt x="28606" y="399948"/>
                </a:lnTo>
                <a:lnTo>
                  <a:pt x="28586" y="399207"/>
                </a:lnTo>
                <a:close/>
              </a:path>
              <a:path w="85725" h="485139" extrusionOk="0">
                <a:moveTo>
                  <a:pt x="57161" y="398466"/>
                </a:moveTo>
                <a:lnTo>
                  <a:pt x="28586" y="399207"/>
                </a:lnTo>
                <a:lnTo>
                  <a:pt x="28936" y="412749"/>
                </a:lnTo>
                <a:lnTo>
                  <a:pt x="28956" y="413486"/>
                </a:lnTo>
                <a:lnTo>
                  <a:pt x="57531" y="412749"/>
                </a:lnTo>
                <a:lnTo>
                  <a:pt x="57200" y="399948"/>
                </a:lnTo>
                <a:lnTo>
                  <a:pt x="57161" y="398466"/>
                </a:lnTo>
                <a:close/>
              </a:path>
              <a:path w="85725" h="485139" extrusionOk="0">
                <a:moveTo>
                  <a:pt x="85725" y="397725"/>
                </a:moveTo>
                <a:lnTo>
                  <a:pt x="57161" y="398466"/>
                </a:lnTo>
                <a:lnTo>
                  <a:pt x="57531" y="412749"/>
                </a:lnTo>
                <a:lnTo>
                  <a:pt x="28956" y="413486"/>
                </a:lnTo>
                <a:lnTo>
                  <a:pt x="78346" y="413486"/>
                </a:lnTo>
                <a:lnTo>
                  <a:pt x="85725" y="397725"/>
                </a:lnTo>
                <a:close/>
              </a:path>
              <a:path w="85725" h="485139" extrusionOk="0">
                <a:moveTo>
                  <a:pt x="46862" y="0"/>
                </a:moveTo>
                <a:lnTo>
                  <a:pt x="18287" y="761"/>
                </a:lnTo>
                <a:lnTo>
                  <a:pt x="28548" y="397725"/>
                </a:lnTo>
                <a:lnTo>
                  <a:pt x="28586" y="399207"/>
                </a:lnTo>
                <a:lnTo>
                  <a:pt x="57161" y="398466"/>
                </a:lnTo>
                <a:lnTo>
                  <a:pt x="46882" y="761"/>
                </a:lnTo>
                <a:lnTo>
                  <a:pt x="46862" y="0"/>
                </a:ln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4" name="Google Shape;244;p13"/>
          <p:cNvSpPr/>
          <p:nvPr/>
        </p:nvSpPr>
        <p:spPr>
          <a:xfrm>
            <a:off x="8935457" y="5215290"/>
            <a:ext cx="292100" cy="527050"/>
          </a:xfrm>
          <a:custGeom>
            <a:avLst/>
            <a:gdLst/>
            <a:ahLst/>
            <a:cxnLst/>
            <a:rect l="l" t="t" r="r" b="b"/>
            <a:pathLst>
              <a:path w="292100" h="527050" extrusionOk="0">
                <a:moveTo>
                  <a:pt x="238843" y="458215"/>
                </a:moveTo>
                <a:lnTo>
                  <a:pt x="213614" y="471754"/>
                </a:lnTo>
                <a:lnTo>
                  <a:pt x="291973" y="527011"/>
                </a:lnTo>
                <a:lnTo>
                  <a:pt x="290361" y="471754"/>
                </a:lnTo>
                <a:lnTo>
                  <a:pt x="290334" y="470827"/>
                </a:lnTo>
                <a:lnTo>
                  <a:pt x="245618" y="470827"/>
                </a:lnTo>
                <a:lnTo>
                  <a:pt x="238843" y="458215"/>
                </a:lnTo>
                <a:close/>
              </a:path>
              <a:path w="292100" h="527050" extrusionOk="0">
                <a:moveTo>
                  <a:pt x="264000" y="444714"/>
                </a:moveTo>
                <a:lnTo>
                  <a:pt x="238843" y="458215"/>
                </a:lnTo>
                <a:lnTo>
                  <a:pt x="245618" y="470827"/>
                </a:lnTo>
                <a:lnTo>
                  <a:pt x="270764" y="457314"/>
                </a:lnTo>
                <a:lnTo>
                  <a:pt x="264000" y="444714"/>
                </a:lnTo>
                <a:close/>
              </a:path>
              <a:path w="292100" h="527050" extrusionOk="0">
                <a:moveTo>
                  <a:pt x="289178" y="431203"/>
                </a:moveTo>
                <a:lnTo>
                  <a:pt x="264000" y="444714"/>
                </a:lnTo>
                <a:lnTo>
                  <a:pt x="270764" y="457314"/>
                </a:lnTo>
                <a:lnTo>
                  <a:pt x="245618" y="470827"/>
                </a:lnTo>
                <a:lnTo>
                  <a:pt x="290334" y="470827"/>
                </a:lnTo>
                <a:lnTo>
                  <a:pt x="289178" y="431203"/>
                </a:lnTo>
                <a:close/>
              </a:path>
              <a:path w="292100" h="527050" extrusionOk="0">
                <a:moveTo>
                  <a:pt x="25273" y="0"/>
                </a:moveTo>
                <a:lnTo>
                  <a:pt x="0" y="13589"/>
                </a:lnTo>
                <a:lnTo>
                  <a:pt x="238843" y="458215"/>
                </a:lnTo>
                <a:lnTo>
                  <a:pt x="264000" y="444714"/>
                </a:lnTo>
                <a:lnTo>
                  <a:pt x="25273" y="0"/>
                </a:lnTo>
                <a:close/>
              </a:path>
            </a:pathLst>
          </a:custGeom>
          <a:solidFill>
            <a:srgbClr val="3C85C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aphicFrame>
        <p:nvGraphicFramePr>
          <p:cNvPr id="245" name="Google Shape;245;p13"/>
          <p:cNvGraphicFramePr/>
          <p:nvPr/>
        </p:nvGraphicFramePr>
        <p:xfrm>
          <a:off x="3536315" y="484954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{47C756BD-769A-4933-AF03-410CCDEDF079}</a:tableStyleId>
              </a:tblPr>
              <a:tblGrid>
                <a:gridCol w="143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650">
                <a:tc>
                  <a:txBody>
                    <a:bodyPr/>
                    <a:lstStyle/>
                    <a:p>
                      <a:pPr marL="67310" marR="0" lvl="0" indent="0" algn="l" rtl="0">
                        <a:lnSpc>
                          <a:spcPct val="10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851F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74E1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851F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</a:t>
                      </a:r>
                      <a:r>
                        <a:rPr lang="en-US" sz="2400" u="none" strike="noStrike" cap="none">
                          <a:solidFill>
                            <a:srgbClr val="851F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ww.isen-nantes.fr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274E1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74E1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274E1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274E1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274E1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851F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/recherche/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6" name="Google Shape;246;p13"/>
          <p:cNvSpPr txBox="1"/>
          <p:nvPr/>
        </p:nvSpPr>
        <p:spPr>
          <a:xfrm>
            <a:off x="3394005" y="5664888"/>
            <a:ext cx="921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Protocole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6162234" y="5742338"/>
            <a:ext cx="845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Nom du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domaine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8732339" y="5757763"/>
            <a:ext cx="976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1620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B78D7"/>
                </a:solidFill>
                <a:latin typeface="Calibri"/>
                <a:ea typeface="Calibri"/>
                <a:cs typeface="Calibri"/>
                <a:sym typeface="Calibri"/>
              </a:rPr>
              <a:t>Nom du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B78D7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5028" y="4661039"/>
            <a:ext cx="931196" cy="125586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3"/>
          <p:cNvSpPr txBox="1"/>
          <p:nvPr/>
        </p:nvSpPr>
        <p:spPr>
          <a:xfrm>
            <a:off x="941500" y="5979763"/>
            <a:ext cx="14934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>
                <a:solidFill>
                  <a:srgbClr val="E20512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www.isen-nantes.fr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253" name="Google Shape;253;p13"/>
          <p:cNvSpPr txBox="1"/>
          <p:nvPr/>
        </p:nvSpPr>
        <p:spPr>
          <a:xfrm>
            <a:off x="1311832" y="5308847"/>
            <a:ext cx="8001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E20512"/>
                </a:solidFill>
                <a:latin typeface="Calibri"/>
                <a:ea typeface="Calibri"/>
                <a:cs typeface="Calibri"/>
                <a:sym typeface="Calibri"/>
              </a:rPr>
              <a:t>Recherche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 txBox="1"/>
          <p:nvPr/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269240" y="1540510"/>
            <a:ext cx="11396400" cy="3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355600" marR="5080" lvl="0" indent="-3302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▪"/>
            </a:pPr>
            <a:r>
              <a:rPr lang="en-US" sz="26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HTTP (Hypertext Transfer Protocol)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est un protocole de communication entre un client et un serveur. Sa version sécurisée est appelée HTTP</a:t>
            </a:r>
            <a:r>
              <a:rPr lang="en-US" sz="2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(avec </a:t>
            </a:r>
            <a:r>
              <a:rPr lang="en-US" sz="2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pour secured)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355600" marR="147955" lvl="0" indent="-330200" algn="l" rtl="0">
              <a:lnSpc>
                <a:spcPct val="107857"/>
              </a:lnSpc>
              <a:spcBef>
                <a:spcPts val="15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Les requêtes HTTP concernent, généralement, une ressource identifiée par son </a:t>
            </a:r>
            <a:r>
              <a:rPr lang="en-US" sz="26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URL ( Uniform Resource Locator = localisateur uniforme de ressource)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812800" marR="1198880" lvl="1" indent="-330200" algn="l" rtl="0">
              <a:lnSpc>
                <a:spcPct val="107857"/>
              </a:lnSpc>
              <a:spcBef>
                <a:spcPts val="5"/>
              </a:spcBef>
              <a:spcAft>
                <a:spcPts val="0"/>
              </a:spcAft>
              <a:buClr>
                <a:srgbClr val="970000"/>
              </a:buClr>
              <a:buSzPts val="1600"/>
              <a:buFont typeface="Arial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Contenu basique d'une URL :	</a:t>
            </a:r>
            <a:r>
              <a:rPr lang="en-US" sz="2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le protocole (comment)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6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le nom du domaine (où)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et </a:t>
            </a:r>
            <a:r>
              <a:rPr lang="en-US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le nom du document (quoi)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93700" algn="l" rtl="0">
              <a:lnSpc>
                <a:spcPct val="106607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Il est possible de transmettre des données à travers une URL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1633220" lvl="0" indent="0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http://www.exemple.com/page.html?</a:t>
            </a:r>
            <a:r>
              <a:rPr lang="en-US" sz="24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nom</a:t>
            </a: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=</a:t>
            </a:r>
            <a:r>
              <a:rPr lang="en-US" sz="2400" u="sng">
                <a:solidFill>
                  <a:srgbClr val="4985E8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</a:t>
            </a:r>
            <a:r>
              <a:rPr lang="en-US" sz="2400" u="sng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&amp;</a:t>
            </a:r>
            <a:r>
              <a:rPr lang="en-US" sz="24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prenom</a:t>
            </a: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=</a:t>
            </a:r>
            <a:r>
              <a:rPr lang="en-US" sz="2400" u="sng">
                <a:solidFill>
                  <a:srgbClr val="4985E8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2400" u="sng">
                <a:solidFill>
                  <a:srgbClr val="4985E8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 txBox="1">
            <a:spLocks noGrp="1"/>
          </p:cNvSpPr>
          <p:nvPr>
            <p:ph type="title"/>
          </p:nvPr>
        </p:nvSpPr>
        <p:spPr>
          <a:xfrm>
            <a:off x="2525648" y="669112"/>
            <a:ext cx="745109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Web : mode de fonctionnement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1" name="Google Shape;261;p14"/>
          <p:cNvGrpSpPr/>
          <p:nvPr/>
        </p:nvGrpSpPr>
        <p:grpSpPr>
          <a:xfrm>
            <a:off x="6389370" y="4995036"/>
            <a:ext cx="3282696" cy="1137285"/>
            <a:chOff x="6389370" y="4995036"/>
            <a:chExt cx="3282696" cy="1137285"/>
          </a:xfrm>
        </p:grpSpPr>
        <p:sp>
          <p:nvSpPr>
            <p:cNvPr id="262" name="Google Shape;262;p14"/>
            <p:cNvSpPr/>
            <p:nvPr/>
          </p:nvSpPr>
          <p:spPr>
            <a:xfrm>
              <a:off x="6389370" y="5066156"/>
              <a:ext cx="2102485" cy="603250"/>
            </a:xfrm>
            <a:custGeom>
              <a:avLst/>
              <a:gdLst/>
              <a:ahLst/>
              <a:cxnLst/>
              <a:rect l="l" t="t" r="r" b="b"/>
              <a:pathLst>
                <a:path w="2102484" h="603250" extrusionOk="0">
                  <a:moveTo>
                    <a:pt x="368046" y="0"/>
                  </a:moveTo>
                  <a:lnTo>
                    <a:pt x="287274" y="51562"/>
                  </a:lnTo>
                  <a:lnTo>
                    <a:pt x="311835" y="66217"/>
                  </a:lnTo>
                  <a:lnTo>
                    <a:pt x="0" y="588441"/>
                  </a:lnTo>
                  <a:lnTo>
                    <a:pt x="24511" y="603084"/>
                  </a:lnTo>
                  <a:lnTo>
                    <a:pt x="336334" y="80835"/>
                  </a:lnTo>
                  <a:lnTo>
                    <a:pt x="360934" y="95504"/>
                  </a:lnTo>
                  <a:lnTo>
                    <a:pt x="364020" y="53975"/>
                  </a:lnTo>
                  <a:lnTo>
                    <a:pt x="368046" y="0"/>
                  </a:lnTo>
                  <a:close/>
                </a:path>
                <a:path w="2102484" h="603250" extrusionOk="0">
                  <a:moveTo>
                    <a:pt x="2102104" y="0"/>
                  </a:moveTo>
                  <a:lnTo>
                    <a:pt x="2021332" y="51562"/>
                  </a:lnTo>
                  <a:lnTo>
                    <a:pt x="2045881" y="66243"/>
                  </a:lnTo>
                  <a:lnTo>
                    <a:pt x="1734058" y="588441"/>
                  </a:lnTo>
                  <a:lnTo>
                    <a:pt x="1758569" y="603084"/>
                  </a:lnTo>
                  <a:lnTo>
                    <a:pt x="2070379" y="80873"/>
                  </a:lnTo>
                  <a:lnTo>
                    <a:pt x="2094865" y="95504"/>
                  </a:lnTo>
                  <a:lnTo>
                    <a:pt x="2098001" y="53975"/>
                  </a:lnTo>
                  <a:lnTo>
                    <a:pt x="2102104" y="0"/>
                  </a:lnTo>
                  <a:close/>
                </a:path>
              </a:pathLst>
            </a:custGeom>
            <a:solidFill>
              <a:srgbClr val="97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7420991" y="4995036"/>
              <a:ext cx="2251075" cy="1137285"/>
            </a:xfrm>
            <a:custGeom>
              <a:avLst/>
              <a:gdLst/>
              <a:ahLst/>
              <a:cxnLst/>
              <a:rect l="l" t="t" r="r" b="b"/>
              <a:pathLst>
                <a:path w="2251075" h="1137285" extrusionOk="0">
                  <a:moveTo>
                    <a:pt x="85725" y="194691"/>
                  </a:moveTo>
                  <a:lnTo>
                    <a:pt x="78574" y="180848"/>
                  </a:lnTo>
                  <a:lnTo>
                    <a:pt x="41783" y="109601"/>
                  </a:lnTo>
                  <a:lnTo>
                    <a:pt x="0" y="195834"/>
                  </a:lnTo>
                  <a:lnTo>
                    <a:pt x="28498" y="195465"/>
                  </a:lnTo>
                  <a:lnTo>
                    <a:pt x="40881" y="1136611"/>
                  </a:lnTo>
                  <a:lnTo>
                    <a:pt x="40894" y="1136980"/>
                  </a:lnTo>
                  <a:lnTo>
                    <a:pt x="69469" y="1136611"/>
                  </a:lnTo>
                  <a:lnTo>
                    <a:pt x="57086" y="195834"/>
                  </a:lnTo>
                  <a:lnTo>
                    <a:pt x="57073" y="195084"/>
                  </a:lnTo>
                  <a:lnTo>
                    <a:pt x="56896" y="181229"/>
                  </a:lnTo>
                  <a:lnTo>
                    <a:pt x="57073" y="194691"/>
                  </a:lnTo>
                  <a:lnTo>
                    <a:pt x="57073" y="195084"/>
                  </a:lnTo>
                  <a:lnTo>
                    <a:pt x="85725" y="194691"/>
                  </a:lnTo>
                  <a:close/>
                </a:path>
                <a:path w="2251075" h="1137285" extrusionOk="0">
                  <a:moveTo>
                    <a:pt x="2250567" y="484124"/>
                  </a:moveTo>
                  <a:lnTo>
                    <a:pt x="1918093" y="58750"/>
                  </a:lnTo>
                  <a:lnTo>
                    <a:pt x="1932444" y="47498"/>
                  </a:lnTo>
                  <a:lnTo>
                    <a:pt x="1940560" y="41148"/>
                  </a:lnTo>
                  <a:lnTo>
                    <a:pt x="1854073" y="0"/>
                  </a:lnTo>
                  <a:lnTo>
                    <a:pt x="1873123" y="93980"/>
                  </a:lnTo>
                  <a:lnTo>
                    <a:pt x="1895652" y="76327"/>
                  </a:lnTo>
                  <a:lnTo>
                    <a:pt x="2227961" y="501650"/>
                  </a:lnTo>
                  <a:lnTo>
                    <a:pt x="2250567" y="484124"/>
                  </a:lnTo>
                  <a:close/>
                </a:path>
              </a:pathLst>
            </a:custGeom>
            <a:solidFill>
              <a:srgbClr val="1154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64" name="Google Shape;264;p14"/>
          <p:cNvSpPr txBox="1"/>
          <p:nvPr/>
        </p:nvSpPr>
        <p:spPr>
          <a:xfrm>
            <a:off x="5598921" y="5660237"/>
            <a:ext cx="1526540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Nom du paramètre 1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6602221" y="6073546"/>
            <a:ext cx="1651000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B78D7"/>
                </a:solidFill>
                <a:latin typeface="Calibri"/>
                <a:ea typeface="Calibri"/>
                <a:cs typeface="Calibri"/>
                <a:sym typeface="Calibri"/>
              </a:rPr>
              <a:t>Valeur du paramètre 1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9216263" y="5469128"/>
            <a:ext cx="1651000" cy="240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B78D7"/>
                </a:solidFill>
                <a:latin typeface="Calibri"/>
                <a:ea typeface="Calibri"/>
                <a:cs typeface="Calibri"/>
                <a:sym typeface="Calibri"/>
              </a:rPr>
              <a:t>Valeur du paramètre 2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7598409" y="5637682"/>
            <a:ext cx="1526540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Nom du paramètre 2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1811273" y="4721910"/>
            <a:ext cx="9185275" cy="1679575"/>
          </a:xfrm>
          <a:custGeom>
            <a:avLst/>
            <a:gdLst/>
            <a:ahLst/>
            <a:cxnLst/>
            <a:rect l="l" t="t" r="r" b="b"/>
            <a:pathLst>
              <a:path w="9185275" h="1679575" extrusionOk="0">
                <a:moveTo>
                  <a:pt x="0" y="1679067"/>
                </a:moveTo>
                <a:lnTo>
                  <a:pt x="9184767" y="1679067"/>
                </a:lnTo>
                <a:lnTo>
                  <a:pt x="9184767" y="0"/>
                </a:lnTo>
                <a:lnTo>
                  <a:pt x="0" y="0"/>
                </a:lnTo>
                <a:lnTo>
                  <a:pt x="0" y="1679067"/>
                </a:lnTo>
                <a:close/>
              </a:path>
            </a:pathLst>
          </a:custGeom>
          <a:noFill/>
          <a:ln w="2857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9" name="Google Shape;269;p14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70" name="Google Shape;270;p14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 txBox="1"/>
          <p:nvPr/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Généralités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77" name="Google Shape;277;p15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269240" y="1540510"/>
            <a:ext cx="11396400" cy="43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355600" marR="5080" lvl="0" indent="-3302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▪"/>
            </a:pPr>
            <a:r>
              <a:rPr lang="en-US" sz="26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HTTP (Hypertext Transfer Protocol)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est un protocole de communication entre un client et un serveur. Sa version sécurisée est appelée HTTP</a:t>
            </a:r>
            <a:r>
              <a:rPr lang="en-US" sz="2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(avec </a:t>
            </a:r>
            <a:r>
              <a:rPr lang="en-US" sz="2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pour secured)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355600" marR="147955" lvl="0" indent="-330200" algn="l" rtl="0">
              <a:lnSpc>
                <a:spcPct val="107857"/>
              </a:lnSpc>
              <a:spcBef>
                <a:spcPts val="15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Les requêtes HTTP concernent, généralement, une ressource identifiée par son </a:t>
            </a:r>
            <a:r>
              <a:rPr lang="en-US" sz="26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URL ( Uniform Resource Locator = localisateur uniforme de ressource)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812800" marR="1185545" lvl="1" indent="-330200" algn="l" rtl="0">
              <a:lnSpc>
                <a:spcPct val="107857"/>
              </a:lnSpc>
              <a:spcBef>
                <a:spcPts val="5"/>
              </a:spcBef>
              <a:spcAft>
                <a:spcPts val="0"/>
              </a:spcAft>
              <a:buClr>
                <a:srgbClr val="970000"/>
              </a:buClr>
              <a:buSzPts val="1600"/>
              <a:buFont typeface="Arial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Contenu basique d'une URL :	le protocole (comment), le nom du domaine (où) et le nom du document (quoi)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812800" marR="1185545" lvl="1" indent="-330200" algn="l" rtl="0">
              <a:lnSpc>
                <a:spcPct val="107857"/>
              </a:lnSpc>
              <a:spcBef>
                <a:spcPts val="5"/>
              </a:spcBef>
              <a:spcAft>
                <a:spcPts val="0"/>
              </a:spcAft>
              <a:buClr>
                <a:srgbClr val="970000"/>
              </a:buClr>
              <a:buSzPts val="1600"/>
              <a:buFont typeface="Arial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Il est possible de transmettre des données à travers une URL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812800" marR="1185545" lvl="1" indent="-330200" algn="l" rtl="0">
              <a:lnSpc>
                <a:spcPct val="107857"/>
              </a:lnSpc>
              <a:spcBef>
                <a:spcPts val="5"/>
              </a:spcBef>
              <a:spcAft>
                <a:spcPts val="0"/>
              </a:spcAft>
              <a:buClr>
                <a:srgbClr val="970000"/>
              </a:buClr>
              <a:buSzPts val="1600"/>
              <a:buFont typeface="Arial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Une URL est réellement une adresse IP (Internet Protocol). Le protocole qui se charge de traduire les noms de domaine en adresse IP est DNS (Domain Name System)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 txBox="1">
            <a:spLocks noGrp="1"/>
          </p:cNvSpPr>
          <p:nvPr>
            <p:ph type="title"/>
          </p:nvPr>
        </p:nvSpPr>
        <p:spPr>
          <a:xfrm>
            <a:off x="2525648" y="669112"/>
            <a:ext cx="745109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Web : mode de fonctionnement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Généralités</a:t>
            </a:r>
            <a:endParaRPr/>
          </a:p>
        </p:txBody>
      </p:sp>
      <p:pic>
        <p:nvPicPr>
          <p:cNvPr id="285" name="Google Shape;2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7266" y="2838449"/>
            <a:ext cx="4390109" cy="80972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6"/>
          <p:cNvSpPr txBox="1"/>
          <p:nvPr/>
        </p:nvSpPr>
        <p:spPr>
          <a:xfrm>
            <a:off x="269240" y="821512"/>
            <a:ext cx="10532110" cy="1478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983990" lvl="0" indent="0" algn="l" rtl="0">
              <a:lnSpc>
                <a:spcPct val="117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Navigateur web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2900" algn="l" rtl="0">
              <a:lnSpc>
                <a:spcPct val="107857"/>
              </a:lnSpc>
              <a:spcBef>
                <a:spcPts val="27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C'est un client HTML ayant un interpréteur permettant de consulter et d'afficher le world wide web.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88" name="Google Shape;288;p16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269240" y="4537328"/>
            <a:ext cx="10989945" cy="111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15321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La plupart des navigateurs possède des outils de développement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875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Exemple : utilisation de devtools/chrome (clic droit + inspecter) sur la page du site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800" lvl="0" indent="0" algn="l" rtl="0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http://isen-nantes.fr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/>
          <p:nvPr/>
        </p:nvSpPr>
        <p:spPr>
          <a:xfrm>
            <a:off x="2471626" y="3658190"/>
            <a:ext cx="5906134" cy="87629"/>
          </a:xfrm>
          <a:custGeom>
            <a:avLst/>
            <a:gdLst/>
            <a:ahLst/>
            <a:cxnLst/>
            <a:rect l="l" t="t" r="r" b="b"/>
            <a:pathLst>
              <a:path w="5906134" h="87629" extrusionOk="0">
                <a:moveTo>
                  <a:pt x="85809" y="28523"/>
                </a:moveTo>
                <a:lnTo>
                  <a:pt x="85727" y="42418"/>
                </a:lnTo>
                <a:lnTo>
                  <a:pt x="85640" y="57097"/>
                </a:lnTo>
                <a:lnTo>
                  <a:pt x="5905373" y="87630"/>
                </a:lnTo>
                <a:lnTo>
                  <a:pt x="5905627" y="59055"/>
                </a:lnTo>
                <a:lnTo>
                  <a:pt x="85809" y="28523"/>
                </a:lnTo>
                <a:close/>
              </a:path>
              <a:path w="5906134" h="87629" extrusionOk="0">
                <a:moveTo>
                  <a:pt x="85979" y="0"/>
                </a:moveTo>
                <a:lnTo>
                  <a:pt x="0" y="42418"/>
                </a:lnTo>
                <a:lnTo>
                  <a:pt x="85471" y="85725"/>
                </a:lnTo>
                <a:lnTo>
                  <a:pt x="85629" y="59055"/>
                </a:lnTo>
                <a:lnTo>
                  <a:pt x="85640" y="57097"/>
                </a:lnTo>
                <a:lnTo>
                  <a:pt x="71373" y="57097"/>
                </a:lnTo>
                <a:lnTo>
                  <a:pt x="71500" y="28523"/>
                </a:lnTo>
                <a:lnTo>
                  <a:pt x="85809" y="28523"/>
                </a:lnTo>
                <a:lnTo>
                  <a:pt x="85979" y="0"/>
                </a:lnTo>
                <a:close/>
              </a:path>
              <a:path w="5906134" h="87629" extrusionOk="0">
                <a:moveTo>
                  <a:pt x="85809" y="28523"/>
                </a:moveTo>
                <a:lnTo>
                  <a:pt x="71500" y="28523"/>
                </a:lnTo>
                <a:lnTo>
                  <a:pt x="71373" y="57097"/>
                </a:lnTo>
                <a:lnTo>
                  <a:pt x="85640" y="57097"/>
                </a:lnTo>
                <a:lnTo>
                  <a:pt x="85727" y="42418"/>
                </a:lnTo>
                <a:lnTo>
                  <a:pt x="85809" y="28523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5" name="Google Shape;295;p17"/>
          <p:cNvSpPr/>
          <p:nvPr/>
        </p:nvSpPr>
        <p:spPr>
          <a:xfrm>
            <a:off x="2593038" y="3000711"/>
            <a:ext cx="5829934" cy="87630"/>
          </a:xfrm>
          <a:custGeom>
            <a:avLst/>
            <a:gdLst/>
            <a:ahLst/>
            <a:cxnLst/>
            <a:rect l="l" t="t" r="r" b="b"/>
            <a:pathLst>
              <a:path w="5829934" h="87630" extrusionOk="0">
                <a:moveTo>
                  <a:pt x="5744464" y="1904"/>
                </a:moveTo>
                <a:lnTo>
                  <a:pt x="5743956" y="87629"/>
                </a:lnTo>
                <a:lnTo>
                  <a:pt x="5801875" y="59054"/>
                </a:lnTo>
                <a:lnTo>
                  <a:pt x="5758434" y="59054"/>
                </a:lnTo>
                <a:lnTo>
                  <a:pt x="5758688" y="30479"/>
                </a:lnTo>
                <a:lnTo>
                  <a:pt x="5800859" y="30479"/>
                </a:lnTo>
                <a:lnTo>
                  <a:pt x="5744464" y="1904"/>
                </a:lnTo>
                <a:close/>
              </a:path>
              <a:path w="5829934" h="87630" extrusionOk="0">
                <a:moveTo>
                  <a:pt x="126" y="0"/>
                </a:moveTo>
                <a:lnTo>
                  <a:pt x="0" y="28575"/>
                </a:lnTo>
                <a:lnTo>
                  <a:pt x="5758434" y="59054"/>
                </a:lnTo>
                <a:lnTo>
                  <a:pt x="5744125" y="59054"/>
                </a:lnTo>
                <a:lnTo>
                  <a:pt x="5744207" y="45212"/>
                </a:lnTo>
                <a:lnTo>
                  <a:pt x="5744294" y="30479"/>
                </a:lnTo>
                <a:lnTo>
                  <a:pt x="5758687" y="30479"/>
                </a:lnTo>
                <a:lnTo>
                  <a:pt x="126" y="0"/>
                </a:lnTo>
                <a:close/>
              </a:path>
              <a:path w="5829934" h="87630" extrusionOk="0">
                <a:moveTo>
                  <a:pt x="5800859" y="30479"/>
                </a:moveTo>
                <a:lnTo>
                  <a:pt x="5758688" y="30479"/>
                </a:lnTo>
                <a:lnTo>
                  <a:pt x="5758557" y="45212"/>
                </a:lnTo>
                <a:lnTo>
                  <a:pt x="5758434" y="59054"/>
                </a:lnTo>
                <a:lnTo>
                  <a:pt x="5801875" y="59054"/>
                </a:lnTo>
                <a:lnTo>
                  <a:pt x="5829935" y="45212"/>
                </a:lnTo>
                <a:lnTo>
                  <a:pt x="5800859" y="30479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96" name="Google Shape;29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977" y="2470504"/>
            <a:ext cx="1463148" cy="1545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1632" y="2566626"/>
            <a:ext cx="1705356" cy="1705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9983" y="2460707"/>
            <a:ext cx="2041525" cy="20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7"/>
          <p:cNvSpPr txBox="1"/>
          <p:nvPr/>
        </p:nvSpPr>
        <p:spPr>
          <a:xfrm>
            <a:off x="6571567" y="3688797"/>
            <a:ext cx="1409100" cy="1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080" lvl="0" indent="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Renvoi d'une page web statique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4816172" y="4100608"/>
            <a:ext cx="13176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8536003" y="4279602"/>
            <a:ext cx="1244700" cy="9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74320" marR="5080" lvl="0" indent="-2743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Serveur web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212169" y="1276255"/>
            <a:ext cx="4469100" cy="16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25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Front-end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603885" lvl="0" indent="0" algn="l" rtl="0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Internaute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marL="2437765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Envoi d'une requête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7"/>
          <p:cNvGrpSpPr/>
          <p:nvPr/>
        </p:nvGrpSpPr>
        <p:grpSpPr>
          <a:xfrm>
            <a:off x="1324561" y="2769622"/>
            <a:ext cx="8326043" cy="1252677"/>
            <a:chOff x="1312036" y="2658922"/>
            <a:chExt cx="8326043" cy="1252677"/>
          </a:xfrm>
        </p:grpSpPr>
        <p:pic>
          <p:nvPicPr>
            <p:cNvPr id="304" name="Google Shape;304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942323" y="3451402"/>
              <a:ext cx="391668" cy="4601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19108" y="2658922"/>
              <a:ext cx="1018971" cy="59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1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312036" y="3326460"/>
              <a:ext cx="391871" cy="3918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" name="Google Shape;307;p17"/>
          <p:cNvSpPr txBox="1">
            <a:spLocks noGrp="1"/>
          </p:cNvSpPr>
          <p:nvPr>
            <p:ph type="title"/>
          </p:nvPr>
        </p:nvSpPr>
        <p:spPr>
          <a:xfrm>
            <a:off x="3178301" y="80518"/>
            <a:ext cx="5321935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Front-end VS Back-end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241125" y="3946989"/>
            <a:ext cx="2510100" cy="1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080" lvl="0" indent="317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Interprétation du codes HTML/CSS/JS par le navigateur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89225" y="1451300"/>
            <a:ext cx="9945786" cy="3829685"/>
          </a:xfrm>
          <a:custGeom>
            <a:avLst/>
            <a:gdLst/>
            <a:ahLst/>
            <a:cxnLst/>
            <a:rect l="l" t="t" r="r" b="b"/>
            <a:pathLst>
              <a:path w="9726930" h="3829685" extrusionOk="0">
                <a:moveTo>
                  <a:pt x="0" y="3829177"/>
                </a:moveTo>
                <a:lnTo>
                  <a:pt x="9726930" y="3829177"/>
                </a:lnTo>
                <a:lnTo>
                  <a:pt x="9726930" y="0"/>
                </a:lnTo>
                <a:lnTo>
                  <a:pt x="0" y="0"/>
                </a:lnTo>
                <a:lnTo>
                  <a:pt x="0" y="3829177"/>
                </a:lnTo>
                <a:close/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/>
          <p:nvPr/>
        </p:nvSpPr>
        <p:spPr>
          <a:xfrm>
            <a:off x="2547520" y="3466957"/>
            <a:ext cx="5817542" cy="87630"/>
          </a:xfrm>
          <a:custGeom>
            <a:avLst/>
            <a:gdLst/>
            <a:ahLst/>
            <a:cxnLst/>
            <a:rect l="l" t="t" r="r" b="b"/>
            <a:pathLst>
              <a:path w="5906134" h="87630" extrusionOk="0">
                <a:moveTo>
                  <a:pt x="85809" y="28523"/>
                </a:moveTo>
                <a:lnTo>
                  <a:pt x="85727" y="42418"/>
                </a:lnTo>
                <a:lnTo>
                  <a:pt x="85640" y="57097"/>
                </a:lnTo>
                <a:lnTo>
                  <a:pt x="5905373" y="87630"/>
                </a:lnTo>
                <a:lnTo>
                  <a:pt x="5905627" y="59055"/>
                </a:lnTo>
                <a:lnTo>
                  <a:pt x="85809" y="28523"/>
                </a:lnTo>
                <a:close/>
              </a:path>
              <a:path w="5906134" h="87630" extrusionOk="0">
                <a:moveTo>
                  <a:pt x="85979" y="0"/>
                </a:moveTo>
                <a:lnTo>
                  <a:pt x="0" y="42418"/>
                </a:lnTo>
                <a:lnTo>
                  <a:pt x="85471" y="85725"/>
                </a:lnTo>
                <a:lnTo>
                  <a:pt x="85629" y="59055"/>
                </a:lnTo>
                <a:lnTo>
                  <a:pt x="85640" y="57097"/>
                </a:lnTo>
                <a:lnTo>
                  <a:pt x="71373" y="57097"/>
                </a:lnTo>
                <a:lnTo>
                  <a:pt x="71500" y="28523"/>
                </a:lnTo>
                <a:lnTo>
                  <a:pt x="85809" y="28523"/>
                </a:lnTo>
                <a:lnTo>
                  <a:pt x="85979" y="0"/>
                </a:lnTo>
                <a:close/>
              </a:path>
              <a:path w="5906134" h="87630" extrusionOk="0">
                <a:moveTo>
                  <a:pt x="85809" y="28523"/>
                </a:moveTo>
                <a:lnTo>
                  <a:pt x="71500" y="28523"/>
                </a:lnTo>
                <a:lnTo>
                  <a:pt x="71373" y="57097"/>
                </a:lnTo>
                <a:lnTo>
                  <a:pt x="85640" y="57097"/>
                </a:lnTo>
                <a:lnTo>
                  <a:pt x="85727" y="42418"/>
                </a:lnTo>
                <a:lnTo>
                  <a:pt x="85809" y="28523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5" name="Google Shape;315;p18"/>
          <p:cNvSpPr/>
          <p:nvPr/>
        </p:nvSpPr>
        <p:spPr>
          <a:xfrm>
            <a:off x="2667102" y="2809476"/>
            <a:ext cx="5742485" cy="87630"/>
          </a:xfrm>
          <a:custGeom>
            <a:avLst/>
            <a:gdLst/>
            <a:ahLst/>
            <a:cxnLst/>
            <a:rect l="l" t="t" r="r" b="b"/>
            <a:pathLst>
              <a:path w="5829934" h="87630" extrusionOk="0">
                <a:moveTo>
                  <a:pt x="5744464" y="1904"/>
                </a:moveTo>
                <a:lnTo>
                  <a:pt x="5743956" y="87629"/>
                </a:lnTo>
                <a:lnTo>
                  <a:pt x="5801875" y="59054"/>
                </a:lnTo>
                <a:lnTo>
                  <a:pt x="5758434" y="59054"/>
                </a:lnTo>
                <a:lnTo>
                  <a:pt x="5758688" y="30479"/>
                </a:lnTo>
                <a:lnTo>
                  <a:pt x="5800859" y="30479"/>
                </a:lnTo>
                <a:lnTo>
                  <a:pt x="5744464" y="1904"/>
                </a:lnTo>
                <a:close/>
              </a:path>
              <a:path w="5829934" h="87630" extrusionOk="0">
                <a:moveTo>
                  <a:pt x="126" y="0"/>
                </a:moveTo>
                <a:lnTo>
                  <a:pt x="0" y="28575"/>
                </a:lnTo>
                <a:lnTo>
                  <a:pt x="5758434" y="59054"/>
                </a:lnTo>
                <a:lnTo>
                  <a:pt x="5744125" y="59054"/>
                </a:lnTo>
                <a:lnTo>
                  <a:pt x="5744207" y="45212"/>
                </a:lnTo>
                <a:lnTo>
                  <a:pt x="5744294" y="30479"/>
                </a:lnTo>
                <a:lnTo>
                  <a:pt x="5758687" y="30479"/>
                </a:lnTo>
                <a:lnTo>
                  <a:pt x="126" y="0"/>
                </a:lnTo>
                <a:close/>
              </a:path>
              <a:path w="5829934" h="87630" extrusionOk="0">
                <a:moveTo>
                  <a:pt x="5800859" y="30479"/>
                </a:moveTo>
                <a:lnTo>
                  <a:pt x="5758688" y="30479"/>
                </a:lnTo>
                <a:lnTo>
                  <a:pt x="5758557" y="45212"/>
                </a:lnTo>
                <a:lnTo>
                  <a:pt x="5758434" y="59054"/>
                </a:lnTo>
                <a:lnTo>
                  <a:pt x="5801875" y="59054"/>
                </a:lnTo>
                <a:lnTo>
                  <a:pt x="5829935" y="45212"/>
                </a:lnTo>
                <a:lnTo>
                  <a:pt x="5800859" y="30479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16" name="Google Shape;31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621" y="2279269"/>
            <a:ext cx="1441098" cy="1545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6180" y="2375391"/>
            <a:ext cx="1679656" cy="1705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0604" y="2269472"/>
            <a:ext cx="2010758" cy="2041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8"/>
          <p:cNvSpPr txBox="1"/>
          <p:nvPr/>
        </p:nvSpPr>
        <p:spPr>
          <a:xfrm>
            <a:off x="2711007" y="2439144"/>
            <a:ext cx="2013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Envoi d'une requête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6214051" y="3497125"/>
            <a:ext cx="2286300" cy="1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-127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Renvoi d'une page web générée dynamiquement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4844225" y="3909806"/>
            <a:ext cx="13095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904914" y="1793933"/>
            <a:ext cx="17010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Internaute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8507997" y="4088368"/>
            <a:ext cx="1238400" cy="9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87020" marR="5080" lvl="0" indent="-2743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Serveur web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309605" y="1234625"/>
            <a:ext cx="12621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Front-end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" name="Google Shape;325;p18"/>
          <p:cNvGrpSpPr/>
          <p:nvPr/>
        </p:nvGrpSpPr>
        <p:grpSpPr>
          <a:xfrm>
            <a:off x="1417702" y="2645060"/>
            <a:ext cx="8034549" cy="992708"/>
            <a:chOff x="1312036" y="2319197"/>
            <a:chExt cx="8157731" cy="992708"/>
          </a:xfrm>
        </p:grpSpPr>
        <p:pic>
          <p:nvPicPr>
            <p:cNvPr id="326" name="Google Shape;326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882760" y="2831337"/>
              <a:ext cx="325767" cy="38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58605" y="2319197"/>
              <a:ext cx="391871" cy="3918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144127" y="2319197"/>
              <a:ext cx="325640" cy="4601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312036" y="2920060"/>
              <a:ext cx="391871" cy="3918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18"/>
          <p:cNvSpPr txBox="1">
            <a:spLocks noGrp="1"/>
          </p:cNvSpPr>
          <p:nvPr>
            <p:ph type="title"/>
          </p:nvPr>
        </p:nvSpPr>
        <p:spPr>
          <a:xfrm>
            <a:off x="3178301" y="80518"/>
            <a:ext cx="5321935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Front-end VS Back-end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 txBox="1"/>
          <p:nvPr/>
        </p:nvSpPr>
        <p:spPr>
          <a:xfrm>
            <a:off x="7941107" y="5157074"/>
            <a:ext cx="2191500" cy="1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Interprétation du code php par le serveur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98377" y="3567210"/>
            <a:ext cx="714491" cy="39161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8"/>
          <p:cNvSpPr txBox="1"/>
          <p:nvPr/>
        </p:nvSpPr>
        <p:spPr>
          <a:xfrm>
            <a:off x="8576669" y="1307701"/>
            <a:ext cx="11319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Back-end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4" name="Google Shape;334;p18"/>
          <p:cNvGrpSpPr/>
          <p:nvPr/>
        </p:nvGrpSpPr>
        <p:grpSpPr>
          <a:xfrm>
            <a:off x="9683141" y="1875220"/>
            <a:ext cx="1877672" cy="2533058"/>
            <a:chOff x="9704196" y="1549357"/>
            <a:chExt cx="1906460" cy="2533058"/>
          </a:xfrm>
        </p:grpSpPr>
        <p:sp>
          <p:nvSpPr>
            <p:cNvPr id="335" name="Google Shape;335;p18"/>
            <p:cNvSpPr/>
            <p:nvPr/>
          </p:nvSpPr>
          <p:spPr>
            <a:xfrm>
              <a:off x="9704197" y="2091689"/>
              <a:ext cx="742315" cy="1175385"/>
            </a:xfrm>
            <a:custGeom>
              <a:avLst/>
              <a:gdLst/>
              <a:ahLst/>
              <a:cxnLst/>
              <a:rect l="l" t="t" r="r" b="b"/>
              <a:pathLst>
                <a:path w="742315" h="1175385" extrusionOk="0">
                  <a:moveTo>
                    <a:pt x="708812" y="1147445"/>
                  </a:moveTo>
                  <a:lnTo>
                    <a:pt x="657479" y="1147445"/>
                  </a:lnTo>
                  <a:lnTo>
                    <a:pt x="643166" y="1147445"/>
                  </a:lnTo>
                  <a:lnTo>
                    <a:pt x="640969" y="1174877"/>
                  </a:lnTo>
                  <a:lnTo>
                    <a:pt x="708812" y="1147445"/>
                  </a:lnTo>
                  <a:close/>
                </a:path>
                <a:path w="742315" h="1175385" extrusionOk="0">
                  <a:moveTo>
                    <a:pt x="729869" y="1138936"/>
                  </a:moveTo>
                  <a:lnTo>
                    <a:pt x="647827" y="1089406"/>
                  </a:lnTo>
                  <a:lnTo>
                    <a:pt x="645541" y="1117854"/>
                  </a:lnTo>
                  <a:lnTo>
                    <a:pt x="86563" y="1072781"/>
                  </a:lnTo>
                  <a:lnTo>
                    <a:pt x="86664" y="1071626"/>
                  </a:lnTo>
                  <a:lnTo>
                    <a:pt x="88900" y="1044321"/>
                  </a:lnTo>
                  <a:lnTo>
                    <a:pt x="0" y="1080135"/>
                  </a:lnTo>
                  <a:lnTo>
                    <a:pt x="81915" y="1129792"/>
                  </a:lnTo>
                  <a:lnTo>
                    <a:pt x="84239" y="1101356"/>
                  </a:lnTo>
                  <a:lnTo>
                    <a:pt x="643255" y="1146302"/>
                  </a:lnTo>
                  <a:lnTo>
                    <a:pt x="657567" y="1146302"/>
                  </a:lnTo>
                  <a:lnTo>
                    <a:pt x="711644" y="1146302"/>
                  </a:lnTo>
                  <a:lnTo>
                    <a:pt x="729869" y="1138936"/>
                  </a:lnTo>
                  <a:close/>
                </a:path>
                <a:path w="742315" h="1175385" extrusionOk="0">
                  <a:moveTo>
                    <a:pt x="742188" y="0"/>
                  </a:moveTo>
                  <a:lnTo>
                    <a:pt x="652272" y="33274"/>
                  </a:lnTo>
                  <a:lnTo>
                    <a:pt x="673125" y="52832"/>
                  </a:lnTo>
                  <a:lnTo>
                    <a:pt x="71501" y="695667"/>
                  </a:lnTo>
                  <a:lnTo>
                    <a:pt x="50673" y="676148"/>
                  </a:lnTo>
                  <a:lnTo>
                    <a:pt x="23368" y="768096"/>
                  </a:lnTo>
                  <a:lnTo>
                    <a:pt x="113157" y="734695"/>
                  </a:lnTo>
                  <a:lnTo>
                    <a:pt x="103530" y="725678"/>
                  </a:lnTo>
                  <a:lnTo>
                    <a:pt x="92341" y="715213"/>
                  </a:lnTo>
                  <a:lnTo>
                    <a:pt x="693978" y="72364"/>
                  </a:lnTo>
                  <a:lnTo>
                    <a:pt x="714883" y="91948"/>
                  </a:lnTo>
                  <a:lnTo>
                    <a:pt x="729589" y="42418"/>
                  </a:lnTo>
                  <a:lnTo>
                    <a:pt x="742188" y="0"/>
                  </a:lnTo>
                  <a:close/>
                </a:path>
              </a:pathLst>
            </a:custGeom>
            <a:solidFill>
              <a:srgbClr val="44536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336" name="Google Shape;336;p1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0674596" y="1549357"/>
              <a:ext cx="753822" cy="11406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18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0492358" y="2676753"/>
              <a:ext cx="1118298" cy="10459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18"/>
            <p:cNvSpPr/>
            <p:nvPr/>
          </p:nvSpPr>
          <p:spPr>
            <a:xfrm>
              <a:off x="9704196" y="3679825"/>
              <a:ext cx="791210" cy="402590"/>
            </a:xfrm>
            <a:custGeom>
              <a:avLst/>
              <a:gdLst/>
              <a:ahLst/>
              <a:cxnLst/>
              <a:rect l="l" t="t" r="r" b="b"/>
              <a:pathLst>
                <a:path w="791209" h="402589" extrusionOk="0">
                  <a:moveTo>
                    <a:pt x="708159" y="375948"/>
                  </a:moveTo>
                  <a:lnTo>
                    <a:pt x="695198" y="401447"/>
                  </a:lnTo>
                  <a:lnTo>
                    <a:pt x="791082" y="402081"/>
                  </a:lnTo>
                  <a:lnTo>
                    <a:pt x="776521" y="382397"/>
                  </a:lnTo>
                  <a:lnTo>
                    <a:pt x="720851" y="382397"/>
                  </a:lnTo>
                  <a:lnTo>
                    <a:pt x="708159" y="375948"/>
                  </a:lnTo>
                  <a:close/>
                </a:path>
                <a:path w="791209" h="402589" extrusionOk="0">
                  <a:moveTo>
                    <a:pt x="721079" y="350529"/>
                  </a:moveTo>
                  <a:lnTo>
                    <a:pt x="708159" y="375948"/>
                  </a:lnTo>
                  <a:lnTo>
                    <a:pt x="720851" y="382397"/>
                  </a:lnTo>
                  <a:lnTo>
                    <a:pt x="733805" y="356997"/>
                  </a:lnTo>
                  <a:lnTo>
                    <a:pt x="721079" y="350529"/>
                  </a:lnTo>
                  <a:close/>
                </a:path>
                <a:path w="791209" h="402589" extrusionOk="0">
                  <a:moveTo>
                    <a:pt x="734059" y="324993"/>
                  </a:moveTo>
                  <a:lnTo>
                    <a:pt x="721079" y="350529"/>
                  </a:lnTo>
                  <a:lnTo>
                    <a:pt x="733805" y="356997"/>
                  </a:lnTo>
                  <a:lnTo>
                    <a:pt x="720851" y="382397"/>
                  </a:lnTo>
                  <a:lnTo>
                    <a:pt x="776521" y="382397"/>
                  </a:lnTo>
                  <a:lnTo>
                    <a:pt x="734059" y="324993"/>
                  </a:lnTo>
                  <a:close/>
                </a:path>
                <a:path w="791209" h="402589" extrusionOk="0">
                  <a:moveTo>
                    <a:pt x="82829" y="26152"/>
                  </a:moveTo>
                  <a:lnTo>
                    <a:pt x="69893" y="51686"/>
                  </a:lnTo>
                  <a:lnTo>
                    <a:pt x="708159" y="375948"/>
                  </a:lnTo>
                  <a:lnTo>
                    <a:pt x="721079" y="350529"/>
                  </a:lnTo>
                  <a:lnTo>
                    <a:pt x="82829" y="26152"/>
                  </a:lnTo>
                  <a:close/>
                </a:path>
                <a:path w="791209" h="402589" extrusionOk="0">
                  <a:moveTo>
                    <a:pt x="0" y="0"/>
                  </a:moveTo>
                  <a:lnTo>
                    <a:pt x="57023" y="77088"/>
                  </a:lnTo>
                  <a:lnTo>
                    <a:pt x="69893" y="51686"/>
                  </a:lnTo>
                  <a:lnTo>
                    <a:pt x="57150" y="45212"/>
                  </a:lnTo>
                  <a:lnTo>
                    <a:pt x="70103" y="19685"/>
                  </a:lnTo>
                  <a:lnTo>
                    <a:pt x="86106" y="19685"/>
                  </a:lnTo>
                  <a:lnTo>
                    <a:pt x="95757" y="635"/>
                  </a:lnTo>
                  <a:lnTo>
                    <a:pt x="0" y="0"/>
                  </a:lnTo>
                  <a:close/>
                </a:path>
                <a:path w="791209" h="402589" extrusionOk="0">
                  <a:moveTo>
                    <a:pt x="70103" y="19685"/>
                  </a:moveTo>
                  <a:lnTo>
                    <a:pt x="57150" y="45212"/>
                  </a:lnTo>
                  <a:lnTo>
                    <a:pt x="69893" y="51686"/>
                  </a:lnTo>
                  <a:lnTo>
                    <a:pt x="82829" y="26152"/>
                  </a:lnTo>
                  <a:lnTo>
                    <a:pt x="70103" y="19685"/>
                  </a:lnTo>
                  <a:close/>
                </a:path>
                <a:path w="791209" h="402589" extrusionOk="0">
                  <a:moveTo>
                    <a:pt x="86106" y="19685"/>
                  </a:moveTo>
                  <a:lnTo>
                    <a:pt x="70103" y="19685"/>
                  </a:lnTo>
                  <a:lnTo>
                    <a:pt x="82829" y="26152"/>
                  </a:lnTo>
                  <a:lnTo>
                    <a:pt x="86106" y="19685"/>
                  </a:lnTo>
                  <a:close/>
                </a:path>
              </a:pathLst>
            </a:custGeom>
            <a:solidFill>
              <a:srgbClr val="44536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39" name="Google Shape;339;p18"/>
          <p:cNvSpPr txBox="1"/>
          <p:nvPr/>
        </p:nvSpPr>
        <p:spPr>
          <a:xfrm>
            <a:off x="10564411" y="4252960"/>
            <a:ext cx="2487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….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0" name="Google Shape;340;p18"/>
          <p:cNvGrpSpPr/>
          <p:nvPr/>
        </p:nvGrpSpPr>
        <p:grpSpPr>
          <a:xfrm>
            <a:off x="177975" y="1285100"/>
            <a:ext cx="11515314" cy="3885810"/>
            <a:chOff x="310047" y="987562"/>
            <a:chExt cx="11691861" cy="3885810"/>
          </a:xfrm>
        </p:grpSpPr>
        <p:sp>
          <p:nvSpPr>
            <p:cNvPr id="341" name="Google Shape;341;p18"/>
            <p:cNvSpPr/>
            <p:nvPr/>
          </p:nvSpPr>
          <p:spPr>
            <a:xfrm>
              <a:off x="310047" y="987562"/>
              <a:ext cx="9945786" cy="3829685"/>
            </a:xfrm>
            <a:custGeom>
              <a:avLst/>
              <a:gdLst/>
              <a:ahLst/>
              <a:cxnLst/>
              <a:rect l="l" t="t" r="r" b="b"/>
              <a:pathLst>
                <a:path w="9726930" h="3829685" extrusionOk="0">
                  <a:moveTo>
                    <a:pt x="0" y="3829177"/>
                  </a:moveTo>
                  <a:lnTo>
                    <a:pt x="9726930" y="3829177"/>
                  </a:lnTo>
                  <a:lnTo>
                    <a:pt x="9726930" y="0"/>
                  </a:lnTo>
                  <a:lnTo>
                    <a:pt x="0" y="0"/>
                  </a:lnTo>
                  <a:lnTo>
                    <a:pt x="0" y="3829177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8490827" y="1043687"/>
              <a:ext cx="3511082" cy="3829685"/>
            </a:xfrm>
            <a:custGeom>
              <a:avLst/>
              <a:gdLst/>
              <a:ahLst/>
              <a:cxnLst/>
              <a:rect l="l" t="t" r="r" b="b"/>
              <a:pathLst>
                <a:path w="3629025" h="3829685" extrusionOk="0">
                  <a:moveTo>
                    <a:pt x="0" y="3829177"/>
                  </a:moveTo>
                  <a:lnTo>
                    <a:pt x="3628516" y="3829177"/>
                  </a:lnTo>
                  <a:lnTo>
                    <a:pt x="3628516" y="0"/>
                  </a:lnTo>
                  <a:lnTo>
                    <a:pt x="0" y="0"/>
                  </a:lnTo>
                  <a:lnTo>
                    <a:pt x="0" y="3829177"/>
                  </a:lnTo>
                  <a:close/>
                </a:path>
              </a:pathLst>
            </a:cu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/>
          <p:nvPr/>
        </p:nvSpPr>
        <p:spPr>
          <a:xfrm>
            <a:off x="2459101" y="3141091"/>
            <a:ext cx="5906135" cy="87630"/>
          </a:xfrm>
          <a:custGeom>
            <a:avLst/>
            <a:gdLst/>
            <a:ahLst/>
            <a:cxnLst/>
            <a:rect l="l" t="t" r="r" b="b"/>
            <a:pathLst>
              <a:path w="5906134" h="87630" extrusionOk="0">
                <a:moveTo>
                  <a:pt x="85809" y="28523"/>
                </a:moveTo>
                <a:lnTo>
                  <a:pt x="85727" y="42418"/>
                </a:lnTo>
                <a:lnTo>
                  <a:pt x="85640" y="57097"/>
                </a:lnTo>
                <a:lnTo>
                  <a:pt x="5905373" y="87630"/>
                </a:lnTo>
                <a:lnTo>
                  <a:pt x="5905627" y="59055"/>
                </a:lnTo>
                <a:lnTo>
                  <a:pt x="85809" y="28523"/>
                </a:lnTo>
                <a:close/>
              </a:path>
              <a:path w="5906134" h="87630" extrusionOk="0">
                <a:moveTo>
                  <a:pt x="85979" y="0"/>
                </a:moveTo>
                <a:lnTo>
                  <a:pt x="0" y="42418"/>
                </a:lnTo>
                <a:lnTo>
                  <a:pt x="85471" y="85725"/>
                </a:lnTo>
                <a:lnTo>
                  <a:pt x="85629" y="59055"/>
                </a:lnTo>
                <a:lnTo>
                  <a:pt x="85640" y="57097"/>
                </a:lnTo>
                <a:lnTo>
                  <a:pt x="71373" y="57097"/>
                </a:lnTo>
                <a:lnTo>
                  <a:pt x="71500" y="28523"/>
                </a:lnTo>
                <a:lnTo>
                  <a:pt x="85809" y="28523"/>
                </a:lnTo>
                <a:lnTo>
                  <a:pt x="85979" y="0"/>
                </a:lnTo>
                <a:close/>
              </a:path>
              <a:path w="5906134" h="87630" extrusionOk="0">
                <a:moveTo>
                  <a:pt x="85809" y="28523"/>
                </a:moveTo>
                <a:lnTo>
                  <a:pt x="71500" y="28523"/>
                </a:lnTo>
                <a:lnTo>
                  <a:pt x="71373" y="57097"/>
                </a:lnTo>
                <a:lnTo>
                  <a:pt x="85640" y="57097"/>
                </a:lnTo>
                <a:lnTo>
                  <a:pt x="85727" y="42418"/>
                </a:lnTo>
                <a:lnTo>
                  <a:pt x="85809" y="28523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8" name="Google Shape;348;p19"/>
          <p:cNvSpPr/>
          <p:nvPr/>
        </p:nvSpPr>
        <p:spPr>
          <a:xfrm>
            <a:off x="2580513" y="2483611"/>
            <a:ext cx="5829935" cy="87630"/>
          </a:xfrm>
          <a:custGeom>
            <a:avLst/>
            <a:gdLst/>
            <a:ahLst/>
            <a:cxnLst/>
            <a:rect l="l" t="t" r="r" b="b"/>
            <a:pathLst>
              <a:path w="5829934" h="87630" extrusionOk="0">
                <a:moveTo>
                  <a:pt x="5744464" y="1904"/>
                </a:moveTo>
                <a:lnTo>
                  <a:pt x="5743956" y="87629"/>
                </a:lnTo>
                <a:lnTo>
                  <a:pt x="5801875" y="59054"/>
                </a:lnTo>
                <a:lnTo>
                  <a:pt x="5758434" y="59054"/>
                </a:lnTo>
                <a:lnTo>
                  <a:pt x="5758688" y="30479"/>
                </a:lnTo>
                <a:lnTo>
                  <a:pt x="5800859" y="30479"/>
                </a:lnTo>
                <a:lnTo>
                  <a:pt x="5744464" y="1904"/>
                </a:lnTo>
                <a:close/>
              </a:path>
              <a:path w="5829934" h="87630" extrusionOk="0">
                <a:moveTo>
                  <a:pt x="126" y="0"/>
                </a:moveTo>
                <a:lnTo>
                  <a:pt x="0" y="28575"/>
                </a:lnTo>
                <a:lnTo>
                  <a:pt x="5758434" y="59054"/>
                </a:lnTo>
                <a:lnTo>
                  <a:pt x="5744125" y="59054"/>
                </a:lnTo>
                <a:lnTo>
                  <a:pt x="5744207" y="45212"/>
                </a:lnTo>
                <a:lnTo>
                  <a:pt x="5744294" y="30479"/>
                </a:lnTo>
                <a:lnTo>
                  <a:pt x="5758687" y="30479"/>
                </a:lnTo>
                <a:lnTo>
                  <a:pt x="126" y="0"/>
                </a:lnTo>
                <a:close/>
              </a:path>
              <a:path w="5829934" h="87630" extrusionOk="0">
                <a:moveTo>
                  <a:pt x="5800859" y="30479"/>
                </a:moveTo>
                <a:lnTo>
                  <a:pt x="5758688" y="30479"/>
                </a:lnTo>
                <a:lnTo>
                  <a:pt x="5758557" y="45212"/>
                </a:lnTo>
                <a:lnTo>
                  <a:pt x="5758434" y="59054"/>
                </a:lnTo>
                <a:lnTo>
                  <a:pt x="5801875" y="59054"/>
                </a:lnTo>
                <a:lnTo>
                  <a:pt x="5829935" y="45212"/>
                </a:lnTo>
                <a:lnTo>
                  <a:pt x="5800859" y="30479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49" name="Google Shape;34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452" y="1953404"/>
            <a:ext cx="1463148" cy="1545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9107" y="2049526"/>
            <a:ext cx="1705356" cy="1705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7458" y="1943607"/>
            <a:ext cx="2041525" cy="20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9"/>
          <p:cNvSpPr txBox="1"/>
          <p:nvPr/>
        </p:nvSpPr>
        <p:spPr>
          <a:xfrm>
            <a:off x="2625089" y="2113279"/>
            <a:ext cx="2044064" cy="31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Envoi d'une requête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6181725" y="3171266"/>
            <a:ext cx="2121535" cy="14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-127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Renvoi d'une page web générée dynamiquement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 txBox="1"/>
          <p:nvPr/>
        </p:nvSpPr>
        <p:spPr>
          <a:xfrm>
            <a:off x="4790947" y="3583940"/>
            <a:ext cx="1329690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 txBox="1"/>
          <p:nvPr/>
        </p:nvSpPr>
        <p:spPr>
          <a:xfrm>
            <a:off x="791362" y="1468069"/>
            <a:ext cx="1727200" cy="49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Internaute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8510778" y="3762502"/>
            <a:ext cx="1257300" cy="97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87020" marR="5080" lvl="0" indent="-2743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Serveur web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186944" y="908761"/>
            <a:ext cx="1281430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Front-end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19"/>
          <p:cNvGrpSpPr/>
          <p:nvPr/>
        </p:nvGrpSpPr>
        <p:grpSpPr>
          <a:xfrm>
            <a:off x="1312036" y="2319197"/>
            <a:ext cx="8157731" cy="1313764"/>
            <a:chOff x="1312036" y="2319197"/>
            <a:chExt cx="8157731" cy="1313764"/>
          </a:xfrm>
        </p:grpSpPr>
        <p:pic>
          <p:nvPicPr>
            <p:cNvPr id="359" name="Google Shape;359;p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882760" y="2831337"/>
              <a:ext cx="325767" cy="38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1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58605" y="2319197"/>
              <a:ext cx="391871" cy="3918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1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144127" y="2319197"/>
              <a:ext cx="325640" cy="4601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312036" y="2920060"/>
              <a:ext cx="391871" cy="3918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704071" y="3241344"/>
              <a:ext cx="725424" cy="3916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4" name="Google Shape;364;p19"/>
          <p:cNvSpPr txBox="1">
            <a:spLocks noGrp="1"/>
          </p:cNvSpPr>
          <p:nvPr>
            <p:ph type="title"/>
          </p:nvPr>
        </p:nvSpPr>
        <p:spPr>
          <a:xfrm>
            <a:off x="3178301" y="80518"/>
            <a:ext cx="5321935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Front-end VS Back-end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8580501" y="981837"/>
            <a:ext cx="1149350" cy="37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Back-end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" name="Google Shape;366;p19"/>
          <p:cNvGrpSpPr/>
          <p:nvPr/>
        </p:nvGrpSpPr>
        <p:grpSpPr>
          <a:xfrm>
            <a:off x="9704196" y="1549357"/>
            <a:ext cx="1906460" cy="2533058"/>
            <a:chOff x="9704196" y="1549357"/>
            <a:chExt cx="1906460" cy="2533058"/>
          </a:xfrm>
        </p:grpSpPr>
        <p:sp>
          <p:nvSpPr>
            <p:cNvPr id="367" name="Google Shape;367;p19"/>
            <p:cNvSpPr/>
            <p:nvPr/>
          </p:nvSpPr>
          <p:spPr>
            <a:xfrm>
              <a:off x="9704197" y="2091689"/>
              <a:ext cx="742315" cy="1175385"/>
            </a:xfrm>
            <a:custGeom>
              <a:avLst/>
              <a:gdLst/>
              <a:ahLst/>
              <a:cxnLst/>
              <a:rect l="l" t="t" r="r" b="b"/>
              <a:pathLst>
                <a:path w="742315" h="1175385" extrusionOk="0">
                  <a:moveTo>
                    <a:pt x="708812" y="1147445"/>
                  </a:moveTo>
                  <a:lnTo>
                    <a:pt x="657479" y="1147445"/>
                  </a:lnTo>
                  <a:lnTo>
                    <a:pt x="643166" y="1147445"/>
                  </a:lnTo>
                  <a:lnTo>
                    <a:pt x="640969" y="1174877"/>
                  </a:lnTo>
                  <a:lnTo>
                    <a:pt x="708812" y="1147445"/>
                  </a:lnTo>
                  <a:close/>
                </a:path>
                <a:path w="742315" h="1175385" extrusionOk="0">
                  <a:moveTo>
                    <a:pt x="729869" y="1138936"/>
                  </a:moveTo>
                  <a:lnTo>
                    <a:pt x="647827" y="1089406"/>
                  </a:lnTo>
                  <a:lnTo>
                    <a:pt x="645541" y="1117854"/>
                  </a:lnTo>
                  <a:lnTo>
                    <a:pt x="86563" y="1072781"/>
                  </a:lnTo>
                  <a:lnTo>
                    <a:pt x="86664" y="1071626"/>
                  </a:lnTo>
                  <a:lnTo>
                    <a:pt x="88900" y="1044321"/>
                  </a:lnTo>
                  <a:lnTo>
                    <a:pt x="0" y="1080135"/>
                  </a:lnTo>
                  <a:lnTo>
                    <a:pt x="81915" y="1129792"/>
                  </a:lnTo>
                  <a:lnTo>
                    <a:pt x="84239" y="1101356"/>
                  </a:lnTo>
                  <a:lnTo>
                    <a:pt x="643255" y="1146302"/>
                  </a:lnTo>
                  <a:lnTo>
                    <a:pt x="657567" y="1146302"/>
                  </a:lnTo>
                  <a:lnTo>
                    <a:pt x="711644" y="1146302"/>
                  </a:lnTo>
                  <a:lnTo>
                    <a:pt x="729869" y="1138936"/>
                  </a:lnTo>
                  <a:close/>
                </a:path>
                <a:path w="742315" h="1175385" extrusionOk="0">
                  <a:moveTo>
                    <a:pt x="742188" y="0"/>
                  </a:moveTo>
                  <a:lnTo>
                    <a:pt x="652272" y="33274"/>
                  </a:lnTo>
                  <a:lnTo>
                    <a:pt x="673125" y="52832"/>
                  </a:lnTo>
                  <a:lnTo>
                    <a:pt x="71501" y="695667"/>
                  </a:lnTo>
                  <a:lnTo>
                    <a:pt x="50673" y="676148"/>
                  </a:lnTo>
                  <a:lnTo>
                    <a:pt x="23368" y="768096"/>
                  </a:lnTo>
                  <a:lnTo>
                    <a:pt x="113157" y="734695"/>
                  </a:lnTo>
                  <a:lnTo>
                    <a:pt x="103530" y="725678"/>
                  </a:lnTo>
                  <a:lnTo>
                    <a:pt x="92341" y="715213"/>
                  </a:lnTo>
                  <a:lnTo>
                    <a:pt x="693978" y="72364"/>
                  </a:lnTo>
                  <a:lnTo>
                    <a:pt x="714883" y="91948"/>
                  </a:lnTo>
                  <a:lnTo>
                    <a:pt x="729589" y="42418"/>
                  </a:lnTo>
                  <a:lnTo>
                    <a:pt x="742188" y="0"/>
                  </a:lnTo>
                  <a:close/>
                </a:path>
              </a:pathLst>
            </a:custGeom>
            <a:solidFill>
              <a:srgbClr val="44536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368" name="Google Shape;368;p1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0674596" y="1549357"/>
              <a:ext cx="753822" cy="11406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9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0492358" y="2676753"/>
              <a:ext cx="1118298" cy="10459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19"/>
            <p:cNvSpPr/>
            <p:nvPr/>
          </p:nvSpPr>
          <p:spPr>
            <a:xfrm>
              <a:off x="9704196" y="3679825"/>
              <a:ext cx="791210" cy="402590"/>
            </a:xfrm>
            <a:custGeom>
              <a:avLst/>
              <a:gdLst/>
              <a:ahLst/>
              <a:cxnLst/>
              <a:rect l="l" t="t" r="r" b="b"/>
              <a:pathLst>
                <a:path w="791209" h="402589" extrusionOk="0">
                  <a:moveTo>
                    <a:pt x="708159" y="375948"/>
                  </a:moveTo>
                  <a:lnTo>
                    <a:pt x="695198" y="401447"/>
                  </a:lnTo>
                  <a:lnTo>
                    <a:pt x="791082" y="402081"/>
                  </a:lnTo>
                  <a:lnTo>
                    <a:pt x="776521" y="382397"/>
                  </a:lnTo>
                  <a:lnTo>
                    <a:pt x="720851" y="382397"/>
                  </a:lnTo>
                  <a:lnTo>
                    <a:pt x="708159" y="375948"/>
                  </a:lnTo>
                  <a:close/>
                </a:path>
                <a:path w="791209" h="402589" extrusionOk="0">
                  <a:moveTo>
                    <a:pt x="721079" y="350529"/>
                  </a:moveTo>
                  <a:lnTo>
                    <a:pt x="708159" y="375948"/>
                  </a:lnTo>
                  <a:lnTo>
                    <a:pt x="720851" y="382397"/>
                  </a:lnTo>
                  <a:lnTo>
                    <a:pt x="733805" y="356997"/>
                  </a:lnTo>
                  <a:lnTo>
                    <a:pt x="721079" y="350529"/>
                  </a:lnTo>
                  <a:close/>
                </a:path>
                <a:path w="791209" h="402589" extrusionOk="0">
                  <a:moveTo>
                    <a:pt x="734059" y="324993"/>
                  </a:moveTo>
                  <a:lnTo>
                    <a:pt x="721079" y="350529"/>
                  </a:lnTo>
                  <a:lnTo>
                    <a:pt x="733805" y="356997"/>
                  </a:lnTo>
                  <a:lnTo>
                    <a:pt x="720851" y="382397"/>
                  </a:lnTo>
                  <a:lnTo>
                    <a:pt x="776521" y="382397"/>
                  </a:lnTo>
                  <a:lnTo>
                    <a:pt x="734059" y="324993"/>
                  </a:lnTo>
                  <a:close/>
                </a:path>
                <a:path w="791209" h="402589" extrusionOk="0">
                  <a:moveTo>
                    <a:pt x="82829" y="26152"/>
                  </a:moveTo>
                  <a:lnTo>
                    <a:pt x="69893" y="51686"/>
                  </a:lnTo>
                  <a:lnTo>
                    <a:pt x="708159" y="375948"/>
                  </a:lnTo>
                  <a:lnTo>
                    <a:pt x="721079" y="350529"/>
                  </a:lnTo>
                  <a:lnTo>
                    <a:pt x="82829" y="26152"/>
                  </a:lnTo>
                  <a:close/>
                </a:path>
                <a:path w="791209" h="402589" extrusionOk="0">
                  <a:moveTo>
                    <a:pt x="0" y="0"/>
                  </a:moveTo>
                  <a:lnTo>
                    <a:pt x="57023" y="77088"/>
                  </a:lnTo>
                  <a:lnTo>
                    <a:pt x="69893" y="51686"/>
                  </a:lnTo>
                  <a:lnTo>
                    <a:pt x="57150" y="45212"/>
                  </a:lnTo>
                  <a:lnTo>
                    <a:pt x="70103" y="19685"/>
                  </a:lnTo>
                  <a:lnTo>
                    <a:pt x="86106" y="19685"/>
                  </a:lnTo>
                  <a:lnTo>
                    <a:pt x="95757" y="635"/>
                  </a:lnTo>
                  <a:lnTo>
                    <a:pt x="0" y="0"/>
                  </a:lnTo>
                  <a:close/>
                </a:path>
                <a:path w="791209" h="402589" extrusionOk="0">
                  <a:moveTo>
                    <a:pt x="70103" y="19685"/>
                  </a:moveTo>
                  <a:lnTo>
                    <a:pt x="57150" y="45212"/>
                  </a:lnTo>
                  <a:lnTo>
                    <a:pt x="69893" y="51686"/>
                  </a:lnTo>
                  <a:lnTo>
                    <a:pt x="82829" y="26152"/>
                  </a:lnTo>
                  <a:lnTo>
                    <a:pt x="70103" y="19685"/>
                  </a:lnTo>
                  <a:close/>
                </a:path>
                <a:path w="791209" h="402589" extrusionOk="0">
                  <a:moveTo>
                    <a:pt x="86106" y="19685"/>
                  </a:moveTo>
                  <a:lnTo>
                    <a:pt x="70103" y="19685"/>
                  </a:lnTo>
                  <a:lnTo>
                    <a:pt x="82829" y="26152"/>
                  </a:lnTo>
                  <a:lnTo>
                    <a:pt x="86106" y="19685"/>
                  </a:lnTo>
                  <a:close/>
                </a:path>
              </a:pathLst>
            </a:custGeom>
            <a:solidFill>
              <a:srgbClr val="44536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71" name="Google Shape;371;p19"/>
          <p:cNvSpPr txBox="1"/>
          <p:nvPr/>
        </p:nvSpPr>
        <p:spPr>
          <a:xfrm>
            <a:off x="10598657" y="3927094"/>
            <a:ext cx="252729" cy="31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….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15850" y="5850596"/>
            <a:ext cx="11727866" cy="166753"/>
          </a:xfrm>
          <a:custGeom>
            <a:avLst/>
            <a:gdLst/>
            <a:ahLst/>
            <a:cxnLst/>
            <a:rect l="l" t="t" r="r" b="b"/>
            <a:pathLst>
              <a:path w="11967210" h="116204" extrusionOk="0">
                <a:moveTo>
                  <a:pt x="85614" y="30454"/>
                </a:moveTo>
                <a:lnTo>
                  <a:pt x="0" y="73545"/>
                </a:lnTo>
                <a:lnTo>
                  <a:pt x="85835" y="116179"/>
                </a:lnTo>
                <a:lnTo>
                  <a:pt x="85761" y="87642"/>
                </a:lnTo>
                <a:lnTo>
                  <a:pt x="71495" y="87642"/>
                </a:lnTo>
                <a:lnTo>
                  <a:pt x="71422" y="59067"/>
                </a:lnTo>
                <a:lnTo>
                  <a:pt x="85688" y="59067"/>
                </a:lnTo>
                <a:lnTo>
                  <a:pt x="85614" y="30454"/>
                </a:lnTo>
                <a:close/>
              </a:path>
              <a:path w="11967210" h="116204" extrusionOk="0">
                <a:moveTo>
                  <a:pt x="11880960" y="28573"/>
                </a:moveTo>
                <a:lnTo>
                  <a:pt x="71422" y="59067"/>
                </a:lnTo>
                <a:lnTo>
                  <a:pt x="71495" y="87642"/>
                </a:lnTo>
                <a:lnTo>
                  <a:pt x="85761" y="87642"/>
                </a:lnTo>
                <a:lnTo>
                  <a:pt x="85688" y="59067"/>
                </a:lnTo>
                <a:lnTo>
                  <a:pt x="11137918" y="59067"/>
                </a:lnTo>
                <a:lnTo>
                  <a:pt x="11881044" y="57148"/>
                </a:lnTo>
                <a:lnTo>
                  <a:pt x="11880960" y="28573"/>
                </a:lnTo>
                <a:close/>
              </a:path>
              <a:path w="11967210" h="116204" extrusionOk="0">
                <a:moveTo>
                  <a:pt x="11137918" y="59067"/>
                </a:moveTo>
                <a:lnTo>
                  <a:pt x="85688" y="59067"/>
                </a:lnTo>
                <a:lnTo>
                  <a:pt x="85761" y="87642"/>
                </a:lnTo>
                <a:lnTo>
                  <a:pt x="71495" y="87642"/>
                </a:lnTo>
                <a:lnTo>
                  <a:pt x="11137918" y="59067"/>
                </a:lnTo>
                <a:close/>
              </a:path>
              <a:path w="11967210" h="116204" extrusionOk="0">
                <a:moveTo>
                  <a:pt x="11880875" y="0"/>
                </a:moveTo>
                <a:lnTo>
                  <a:pt x="11880960" y="28573"/>
                </a:lnTo>
                <a:lnTo>
                  <a:pt x="11881044" y="57148"/>
                </a:lnTo>
                <a:lnTo>
                  <a:pt x="11881129" y="85725"/>
                </a:lnTo>
                <a:lnTo>
                  <a:pt x="11937911" y="57148"/>
                </a:lnTo>
                <a:lnTo>
                  <a:pt x="11895353" y="57148"/>
                </a:lnTo>
                <a:lnTo>
                  <a:pt x="11895234" y="30454"/>
                </a:lnTo>
                <a:lnTo>
                  <a:pt x="11895226" y="28573"/>
                </a:lnTo>
                <a:lnTo>
                  <a:pt x="11938397" y="28573"/>
                </a:lnTo>
                <a:lnTo>
                  <a:pt x="11880875" y="0"/>
                </a:lnTo>
                <a:close/>
              </a:path>
              <a:path w="11967210" h="116204" extrusionOk="0">
                <a:moveTo>
                  <a:pt x="11938397" y="28573"/>
                </a:moveTo>
                <a:lnTo>
                  <a:pt x="11895226" y="28573"/>
                </a:lnTo>
                <a:lnTo>
                  <a:pt x="11895234" y="30454"/>
                </a:lnTo>
                <a:lnTo>
                  <a:pt x="11895353" y="57148"/>
                </a:lnTo>
                <a:lnTo>
                  <a:pt x="11937911" y="57148"/>
                </a:lnTo>
                <a:lnTo>
                  <a:pt x="11966727" y="42646"/>
                </a:lnTo>
                <a:lnTo>
                  <a:pt x="11938397" y="28573"/>
                </a:lnTo>
                <a:close/>
              </a:path>
            </a:pathLst>
          </a:custGeom>
          <a:solidFill>
            <a:srgbClr val="97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3" name="Google Shape;373;p19"/>
          <p:cNvSpPr txBox="1"/>
          <p:nvPr/>
        </p:nvSpPr>
        <p:spPr>
          <a:xfrm>
            <a:off x="3742690" y="4831207"/>
            <a:ext cx="6417945" cy="163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20497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Interprétation du code php par le serveur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2212340" lvl="0" indent="0" algn="ctr" rtl="0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Full-stack (Front-end + Back-end)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" name="Google Shape;374;p19"/>
          <p:cNvGrpSpPr/>
          <p:nvPr/>
        </p:nvGrpSpPr>
        <p:grpSpPr>
          <a:xfrm>
            <a:off x="178725" y="987550"/>
            <a:ext cx="11561411" cy="3885817"/>
            <a:chOff x="178724" y="987554"/>
            <a:chExt cx="11941140" cy="3885817"/>
          </a:xfrm>
        </p:grpSpPr>
        <p:sp>
          <p:nvSpPr>
            <p:cNvPr id="375" name="Google Shape;375;p19"/>
            <p:cNvSpPr/>
            <p:nvPr/>
          </p:nvSpPr>
          <p:spPr>
            <a:xfrm>
              <a:off x="178724" y="987554"/>
              <a:ext cx="10164642" cy="3829685"/>
            </a:xfrm>
            <a:custGeom>
              <a:avLst/>
              <a:gdLst/>
              <a:ahLst/>
              <a:cxnLst/>
              <a:rect l="l" t="t" r="r" b="b"/>
              <a:pathLst>
                <a:path w="9726930" h="3829685" extrusionOk="0">
                  <a:moveTo>
                    <a:pt x="0" y="3829177"/>
                  </a:moveTo>
                  <a:lnTo>
                    <a:pt x="9726930" y="3829177"/>
                  </a:lnTo>
                  <a:lnTo>
                    <a:pt x="9726930" y="0"/>
                  </a:lnTo>
                  <a:lnTo>
                    <a:pt x="0" y="0"/>
                  </a:lnTo>
                  <a:lnTo>
                    <a:pt x="0" y="3829177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8490839" y="1043686"/>
              <a:ext cx="3629025" cy="3829685"/>
            </a:xfrm>
            <a:custGeom>
              <a:avLst/>
              <a:gdLst/>
              <a:ahLst/>
              <a:cxnLst/>
              <a:rect l="l" t="t" r="r" b="b"/>
              <a:pathLst>
                <a:path w="3629025" h="3829685" extrusionOk="0">
                  <a:moveTo>
                    <a:pt x="0" y="3829177"/>
                  </a:moveTo>
                  <a:lnTo>
                    <a:pt x="3628516" y="3829177"/>
                  </a:lnTo>
                  <a:lnTo>
                    <a:pt x="3628516" y="0"/>
                  </a:lnTo>
                  <a:lnTo>
                    <a:pt x="0" y="0"/>
                  </a:lnTo>
                  <a:lnTo>
                    <a:pt x="0" y="3829177"/>
                  </a:lnTo>
                  <a:close/>
                </a:path>
              </a:pathLst>
            </a:cu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0"/>
          <p:cNvSpPr txBox="1">
            <a:spLocks noGrp="1"/>
          </p:cNvSpPr>
          <p:nvPr>
            <p:ph type="title"/>
          </p:nvPr>
        </p:nvSpPr>
        <p:spPr>
          <a:xfrm>
            <a:off x="3341878" y="2381504"/>
            <a:ext cx="5361940" cy="74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Généralités sur HTML</a:t>
            </a:r>
            <a:endParaRPr sz="4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83" name="Google Shape;383;p20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1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389" name="Google Shape;389;p21"/>
          <p:cNvSpPr txBox="1"/>
          <p:nvPr/>
        </p:nvSpPr>
        <p:spPr>
          <a:xfrm>
            <a:off x="5020817" y="2245232"/>
            <a:ext cx="1852295" cy="67183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68275" rIns="0" bIns="0" anchor="t" anchorCtr="0">
            <a:spAutoFit/>
          </a:bodyPr>
          <a:lstStyle/>
          <a:p>
            <a:pPr marL="3346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Page web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2683636" y="3808221"/>
            <a:ext cx="1852295" cy="67183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68900" rIns="0" bIns="0" anchor="t" anchorCtr="0">
            <a:spAutoFit/>
          </a:bodyPr>
          <a:lstStyle/>
          <a:p>
            <a:pPr marL="3848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Structure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5027548" y="3808221"/>
            <a:ext cx="1852295" cy="67183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68900" rIns="0" bIns="0" anchor="t" anchorCtr="0">
            <a:spAutoFit/>
          </a:bodyPr>
          <a:lstStyle/>
          <a:p>
            <a:pPr marL="2825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Apparence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7313548" y="3808221"/>
            <a:ext cx="2149475" cy="67183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68900" rIns="0" bIns="0" anchor="t" anchorCtr="0">
            <a:spAutoFit/>
          </a:bodyPr>
          <a:lstStyle/>
          <a:p>
            <a:pPr marL="1949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Comportement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1228" y="4773181"/>
            <a:ext cx="667272" cy="944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6838" y="4741734"/>
            <a:ext cx="658069" cy="932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71112" y="4783645"/>
            <a:ext cx="681078" cy="959637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/>
          <p:nvPr/>
        </p:nvSpPr>
        <p:spPr>
          <a:xfrm>
            <a:off x="3609721" y="2907918"/>
            <a:ext cx="4779010" cy="909955"/>
          </a:xfrm>
          <a:custGeom>
            <a:avLst/>
            <a:gdLst/>
            <a:ahLst/>
            <a:cxnLst/>
            <a:rect l="l" t="t" r="r" b="b"/>
            <a:pathLst>
              <a:path w="4779009" h="909954" extrusionOk="0">
                <a:moveTo>
                  <a:pt x="4778629" y="900303"/>
                </a:moveTo>
                <a:lnTo>
                  <a:pt x="4766500" y="887476"/>
                </a:lnTo>
                <a:lnTo>
                  <a:pt x="4720082" y="838327"/>
                </a:lnTo>
                <a:lnTo>
                  <a:pt x="4710265" y="865200"/>
                </a:lnTo>
                <a:lnTo>
                  <a:pt x="2340229" y="0"/>
                </a:lnTo>
                <a:lnTo>
                  <a:pt x="2336965" y="8826"/>
                </a:lnTo>
                <a:lnTo>
                  <a:pt x="2333625" y="127"/>
                </a:lnTo>
                <a:lnTo>
                  <a:pt x="67843" y="864298"/>
                </a:lnTo>
                <a:lnTo>
                  <a:pt x="57658" y="837565"/>
                </a:lnTo>
                <a:lnTo>
                  <a:pt x="0" y="900303"/>
                </a:lnTo>
                <a:lnTo>
                  <a:pt x="84836" y="908812"/>
                </a:lnTo>
                <a:lnTo>
                  <a:pt x="76352" y="886587"/>
                </a:lnTo>
                <a:lnTo>
                  <a:pt x="74625" y="882053"/>
                </a:lnTo>
                <a:lnTo>
                  <a:pt x="2327503" y="22860"/>
                </a:lnTo>
                <a:lnTo>
                  <a:pt x="2333650" y="823722"/>
                </a:lnTo>
                <a:lnTo>
                  <a:pt x="2333650" y="824128"/>
                </a:lnTo>
                <a:lnTo>
                  <a:pt x="2305050" y="824357"/>
                </a:lnTo>
                <a:lnTo>
                  <a:pt x="2343785" y="900303"/>
                </a:lnTo>
                <a:lnTo>
                  <a:pt x="2374849" y="836803"/>
                </a:lnTo>
                <a:lnTo>
                  <a:pt x="2380932" y="824357"/>
                </a:lnTo>
                <a:lnTo>
                  <a:pt x="2381046" y="824128"/>
                </a:lnTo>
                <a:lnTo>
                  <a:pt x="2381123" y="823963"/>
                </a:lnTo>
                <a:lnTo>
                  <a:pt x="2381250" y="823722"/>
                </a:lnTo>
                <a:lnTo>
                  <a:pt x="2352700" y="823963"/>
                </a:lnTo>
                <a:lnTo>
                  <a:pt x="2346553" y="22644"/>
                </a:lnTo>
                <a:lnTo>
                  <a:pt x="4703711" y="883132"/>
                </a:lnTo>
                <a:lnTo>
                  <a:pt x="4693920" y="909955"/>
                </a:lnTo>
                <a:lnTo>
                  <a:pt x="4778629" y="900303"/>
                </a:ln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7" name="Google Shape;397;p21"/>
          <p:cNvSpPr txBox="1"/>
          <p:nvPr/>
        </p:nvSpPr>
        <p:spPr>
          <a:xfrm>
            <a:off x="2036445" y="520064"/>
            <a:ext cx="8119109" cy="130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t" anchorCtr="0">
            <a:spAutoFit/>
          </a:bodyPr>
          <a:lstStyle/>
          <a:p>
            <a:pPr marL="2216150" marR="5080" lvl="0" indent="-2204085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Organisation de la partie front-end d'une page web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99" name="Google Shape;399;p21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5020817" y="2245232"/>
            <a:ext cx="1852295" cy="67183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68275" rIns="0" bIns="0" anchor="t" anchorCtr="0">
            <a:spAutoFit/>
          </a:bodyPr>
          <a:lstStyle/>
          <a:p>
            <a:pPr marL="3346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Page web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2683636" y="3808221"/>
            <a:ext cx="1852295" cy="67183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68900" rIns="0" bIns="0" anchor="t" anchorCtr="0">
            <a:spAutoFit/>
          </a:bodyPr>
          <a:lstStyle/>
          <a:p>
            <a:pPr marL="3848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Structure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5027548" y="3808221"/>
            <a:ext cx="1852295" cy="67183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68900" rIns="0" bIns="0" anchor="t" anchorCtr="0">
            <a:spAutoFit/>
          </a:bodyPr>
          <a:lstStyle/>
          <a:p>
            <a:pPr marL="2825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Apparence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313548" y="3808221"/>
            <a:ext cx="2149475" cy="67183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68900" rIns="0" bIns="0" anchor="t" anchorCtr="0">
            <a:spAutoFit/>
          </a:bodyPr>
          <a:lstStyle/>
          <a:p>
            <a:pPr marL="1949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Comportement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6838" y="4741734"/>
            <a:ext cx="658069" cy="932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1112" y="4783645"/>
            <a:ext cx="681078" cy="959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1" name="Google Shape;411;p22"/>
          <p:cNvGrpSpPr/>
          <p:nvPr/>
        </p:nvGrpSpPr>
        <p:grpSpPr>
          <a:xfrm>
            <a:off x="2421763" y="2907918"/>
            <a:ext cx="5966968" cy="2920086"/>
            <a:chOff x="2421763" y="2907918"/>
            <a:chExt cx="5966968" cy="2920086"/>
          </a:xfrm>
        </p:grpSpPr>
        <p:pic>
          <p:nvPicPr>
            <p:cNvPr id="412" name="Google Shape;412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271228" y="4773180"/>
              <a:ext cx="667272" cy="9440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22"/>
            <p:cNvSpPr/>
            <p:nvPr/>
          </p:nvSpPr>
          <p:spPr>
            <a:xfrm>
              <a:off x="3609721" y="2907918"/>
              <a:ext cx="4779010" cy="909955"/>
            </a:xfrm>
            <a:custGeom>
              <a:avLst/>
              <a:gdLst/>
              <a:ahLst/>
              <a:cxnLst/>
              <a:rect l="l" t="t" r="r" b="b"/>
              <a:pathLst>
                <a:path w="4779009" h="909954" extrusionOk="0">
                  <a:moveTo>
                    <a:pt x="4778629" y="900303"/>
                  </a:moveTo>
                  <a:lnTo>
                    <a:pt x="4766500" y="887476"/>
                  </a:lnTo>
                  <a:lnTo>
                    <a:pt x="4720082" y="838327"/>
                  </a:lnTo>
                  <a:lnTo>
                    <a:pt x="4710265" y="865200"/>
                  </a:lnTo>
                  <a:lnTo>
                    <a:pt x="2340229" y="0"/>
                  </a:lnTo>
                  <a:lnTo>
                    <a:pt x="2336965" y="8826"/>
                  </a:lnTo>
                  <a:lnTo>
                    <a:pt x="2333625" y="127"/>
                  </a:lnTo>
                  <a:lnTo>
                    <a:pt x="67843" y="864298"/>
                  </a:lnTo>
                  <a:lnTo>
                    <a:pt x="57658" y="837565"/>
                  </a:lnTo>
                  <a:lnTo>
                    <a:pt x="0" y="900303"/>
                  </a:lnTo>
                  <a:lnTo>
                    <a:pt x="84836" y="908812"/>
                  </a:lnTo>
                  <a:lnTo>
                    <a:pt x="76352" y="886587"/>
                  </a:lnTo>
                  <a:lnTo>
                    <a:pt x="74625" y="882053"/>
                  </a:lnTo>
                  <a:lnTo>
                    <a:pt x="2327503" y="22860"/>
                  </a:lnTo>
                  <a:lnTo>
                    <a:pt x="2333650" y="823722"/>
                  </a:lnTo>
                  <a:lnTo>
                    <a:pt x="2333650" y="824128"/>
                  </a:lnTo>
                  <a:lnTo>
                    <a:pt x="2305050" y="824357"/>
                  </a:lnTo>
                  <a:lnTo>
                    <a:pt x="2343785" y="900303"/>
                  </a:lnTo>
                  <a:lnTo>
                    <a:pt x="2374849" y="836803"/>
                  </a:lnTo>
                  <a:lnTo>
                    <a:pt x="2380932" y="824357"/>
                  </a:lnTo>
                  <a:lnTo>
                    <a:pt x="2381046" y="824128"/>
                  </a:lnTo>
                  <a:lnTo>
                    <a:pt x="2381123" y="823963"/>
                  </a:lnTo>
                  <a:lnTo>
                    <a:pt x="2381250" y="823722"/>
                  </a:lnTo>
                  <a:lnTo>
                    <a:pt x="2352700" y="823963"/>
                  </a:lnTo>
                  <a:lnTo>
                    <a:pt x="2346553" y="22644"/>
                  </a:lnTo>
                  <a:lnTo>
                    <a:pt x="4703711" y="883132"/>
                  </a:lnTo>
                  <a:lnTo>
                    <a:pt x="4693920" y="909955"/>
                  </a:lnTo>
                  <a:lnTo>
                    <a:pt x="4778629" y="900303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2421763" y="3310864"/>
              <a:ext cx="2408555" cy="2517140"/>
            </a:xfrm>
            <a:custGeom>
              <a:avLst/>
              <a:gdLst/>
              <a:ahLst/>
              <a:cxnLst/>
              <a:rect l="l" t="t" r="r" b="b"/>
              <a:pathLst>
                <a:path w="2408554" h="2517140" extrusionOk="0">
                  <a:moveTo>
                    <a:pt x="0" y="2516759"/>
                  </a:moveTo>
                  <a:lnTo>
                    <a:pt x="2408047" y="2516759"/>
                  </a:lnTo>
                  <a:lnTo>
                    <a:pt x="2408047" y="0"/>
                  </a:lnTo>
                  <a:lnTo>
                    <a:pt x="0" y="0"/>
                  </a:lnTo>
                  <a:lnTo>
                    <a:pt x="0" y="2516759"/>
                  </a:lnTo>
                  <a:close/>
                </a:path>
              </a:pathLst>
            </a:custGeom>
            <a:noFill/>
            <a:ln w="38100" cap="flat" cmpd="sng">
              <a:solidFill>
                <a:srgbClr val="97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15" name="Google Shape;415;p22"/>
          <p:cNvSpPr txBox="1"/>
          <p:nvPr/>
        </p:nvSpPr>
        <p:spPr>
          <a:xfrm>
            <a:off x="2036445" y="520064"/>
            <a:ext cx="8119109" cy="130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t" anchorCtr="0">
            <a:spAutoFit/>
          </a:bodyPr>
          <a:lstStyle/>
          <a:p>
            <a:pPr marL="2216150" marR="5080" lvl="0" indent="-2204085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Organisation de la partie front-end d'une page web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417" name="Google Shape;417;p22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3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3"/>
          <p:cNvSpPr txBox="1">
            <a:spLocks noGrp="1"/>
          </p:cNvSpPr>
          <p:nvPr>
            <p:ph type="title"/>
          </p:nvPr>
        </p:nvSpPr>
        <p:spPr>
          <a:xfrm>
            <a:off x="4924805" y="821512"/>
            <a:ext cx="234442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Définition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269240" y="1616710"/>
            <a:ext cx="11091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355600" marR="5080" lvl="0" indent="-3302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▪"/>
            </a:pPr>
            <a:r>
              <a:rPr lang="en-US" sz="26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HTML (HyperText Markup Language)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est un langage de balisage qui sert à représenter les pages web. </a:t>
            </a: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Ce n'est pas un langage de programmation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29565" algn="l" rtl="0">
              <a:lnSpc>
                <a:spcPct val="100535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Version actuelle : HTML 5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355600" marR="2102485" lvl="0" indent="-330200" algn="l" rtl="0">
              <a:lnSpc>
                <a:spcPct val="107857"/>
              </a:lnSpc>
              <a:spcBef>
                <a:spcPts val="215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HTML mets en forme les documents hypertextes (ensemble d'informations liées entre elles par des hyperliens)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29565" algn="l" rtl="0">
              <a:lnSpc>
                <a:spcPct val="100535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Calibri"/>
              <a:buChar char="▪"/>
            </a:pPr>
            <a:r>
              <a:rPr lang="en-US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Une page web = document (en extension .html) contenant du code HTML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355600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= balises + texte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5374" y="4534068"/>
            <a:ext cx="1702151" cy="1702151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3"/>
          <p:cNvSpPr txBox="1"/>
          <p:nvPr/>
        </p:nvSpPr>
        <p:spPr>
          <a:xfrm>
            <a:off x="7639304" y="5516676"/>
            <a:ext cx="78168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bonjour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2419650" y="4735351"/>
            <a:ext cx="2900100" cy="1625100"/>
          </a:xfrm>
          <a:prstGeom prst="rect">
            <a:avLst/>
          </a:prstGeom>
          <a:solidFill>
            <a:srgbClr val="E7E6E6"/>
          </a:solidFill>
          <a:ln w="952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375" rIns="0" bIns="0" anchor="t" anchorCtr="0">
            <a:spAutoFit/>
          </a:bodyPr>
          <a:lstStyle/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48640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005839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&lt;b&gt; bonjour &lt;/b&gt;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48640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&lt;/body&gt;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5614542" y="5396610"/>
            <a:ext cx="1296035" cy="85725"/>
          </a:xfrm>
          <a:custGeom>
            <a:avLst/>
            <a:gdLst/>
            <a:ahLst/>
            <a:cxnLst/>
            <a:rect l="l" t="t" r="r" b="b"/>
            <a:pathLst>
              <a:path w="1296034" h="85725" extrusionOk="0">
                <a:moveTo>
                  <a:pt x="1210564" y="0"/>
                </a:moveTo>
                <a:lnTo>
                  <a:pt x="1210056" y="85725"/>
                </a:lnTo>
                <a:lnTo>
                  <a:pt x="1267718" y="57276"/>
                </a:lnTo>
                <a:lnTo>
                  <a:pt x="1224534" y="57276"/>
                </a:lnTo>
                <a:lnTo>
                  <a:pt x="1224661" y="28701"/>
                </a:lnTo>
                <a:lnTo>
                  <a:pt x="1267210" y="28701"/>
                </a:lnTo>
                <a:lnTo>
                  <a:pt x="1210564" y="0"/>
                </a:lnTo>
                <a:close/>
              </a:path>
              <a:path w="1296034" h="85725" extrusionOk="0">
                <a:moveTo>
                  <a:pt x="127" y="21843"/>
                </a:moveTo>
                <a:lnTo>
                  <a:pt x="96" y="28701"/>
                </a:lnTo>
                <a:lnTo>
                  <a:pt x="0" y="50418"/>
                </a:lnTo>
                <a:lnTo>
                  <a:pt x="1224533" y="57276"/>
                </a:lnTo>
                <a:lnTo>
                  <a:pt x="1210224" y="57276"/>
                </a:lnTo>
                <a:lnTo>
                  <a:pt x="1210307" y="43306"/>
                </a:lnTo>
                <a:lnTo>
                  <a:pt x="1210393" y="28701"/>
                </a:lnTo>
                <a:lnTo>
                  <a:pt x="1224660" y="28701"/>
                </a:lnTo>
                <a:lnTo>
                  <a:pt x="127" y="21843"/>
                </a:lnTo>
                <a:close/>
              </a:path>
              <a:path w="1296034" h="85725" extrusionOk="0">
                <a:moveTo>
                  <a:pt x="1267210" y="28701"/>
                </a:moveTo>
                <a:lnTo>
                  <a:pt x="1224661" y="28701"/>
                </a:lnTo>
                <a:lnTo>
                  <a:pt x="1224534" y="57276"/>
                </a:lnTo>
                <a:lnTo>
                  <a:pt x="1267718" y="57276"/>
                </a:lnTo>
                <a:lnTo>
                  <a:pt x="1296035" y="43306"/>
                </a:lnTo>
                <a:lnTo>
                  <a:pt x="1267210" y="28701"/>
                </a:lnTo>
                <a:close/>
              </a:path>
            </a:pathLst>
          </a:custGeom>
          <a:solidFill>
            <a:srgbClr val="97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429" name="Google Shape;42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4038" y="5307457"/>
            <a:ext cx="272796" cy="27279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31" name="Google Shape;431;p23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4"/>
          <p:cNvSpPr txBox="1"/>
          <p:nvPr/>
        </p:nvSpPr>
        <p:spPr>
          <a:xfrm>
            <a:off x="3267836" y="6576771"/>
            <a:ext cx="18161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488681" y="6579514"/>
            <a:ext cx="147510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ISEN OUEST 2024/2025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655" y="1057662"/>
            <a:ext cx="6871836" cy="5314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5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269240" y="626624"/>
            <a:ext cx="11429365" cy="2594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8275" rIns="0" bIns="0" anchor="t" anchorCtr="0">
            <a:spAutoFit/>
          </a:bodyPr>
          <a:lstStyle/>
          <a:p>
            <a:pPr marL="226059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Où écrire le code HTML ?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2900" algn="l" rtl="0">
              <a:lnSpc>
                <a:spcPct val="107857"/>
              </a:lnSpc>
              <a:spcBef>
                <a:spcPts val="135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Il est recommandé d'utiliser un IDE (integrated development environment) = environnement de développement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265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Classement des IDE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5"/>
          <p:cNvSpPr txBox="1"/>
          <p:nvPr/>
        </p:nvSpPr>
        <p:spPr>
          <a:xfrm>
            <a:off x="540207" y="5979363"/>
            <a:ext cx="10717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Source  : </a:t>
            </a:r>
            <a:r>
              <a:rPr lang="en-US" sz="1600" u="sng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</a:rPr>
              <a:t>https://survey.stackoverflow.co/2023/#section-most-popular-technologies-integrated-development-environment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2885" y="3443973"/>
            <a:ext cx="7666227" cy="24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5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48" name="Google Shape;448;p25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454" name="Google Shape;454;p26"/>
          <p:cNvSpPr txBox="1"/>
          <p:nvPr/>
        </p:nvSpPr>
        <p:spPr>
          <a:xfrm>
            <a:off x="3918965" y="288416"/>
            <a:ext cx="4354195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Visual Studio Code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 txBox="1"/>
          <p:nvPr/>
        </p:nvSpPr>
        <p:spPr>
          <a:xfrm>
            <a:off x="269250" y="1318000"/>
            <a:ext cx="7450800" cy="42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355600" marR="409575" lvl="0" indent="-31051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▪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Editeur de code développé le 29/04/2015 par Microsoft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355600" marR="63500" lvl="0" indent="-31051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▪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Open source (</a:t>
            </a:r>
            <a:r>
              <a:rPr lang="en-US" sz="2300" u="sng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https://github.com/Microsoft/vscode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) + gratuit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09880" algn="l" rtl="0">
              <a:lnSpc>
                <a:spcPct val="100399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▪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Programmé en TypeScript, JavaScript et CSS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10515" algn="l" rtl="0">
              <a:lnSpc>
                <a:spcPct val="108000"/>
              </a:lnSpc>
              <a:spcBef>
                <a:spcPts val="190"/>
              </a:spcBef>
              <a:spcAft>
                <a:spcPts val="0"/>
              </a:spcAft>
              <a:buSzPts val="1300"/>
              <a:buFont typeface="Calibri"/>
              <a:buChar char="▪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Disponible en plusieurs systèmes d'exploitation : Windows, Linux et Mac OS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09880" algn="l" rtl="0">
              <a:lnSpc>
                <a:spcPct val="100399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▪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Différents packages et extensions disponible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0988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▪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Outils de débogage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0988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▪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Mises à jours fréquentes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0988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▪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Auto-complétion puissante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29565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Plusieurs extensions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14130" y="2120277"/>
            <a:ext cx="785329" cy="78218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 txBox="1"/>
          <p:nvPr/>
        </p:nvSpPr>
        <p:spPr>
          <a:xfrm>
            <a:off x="7926069" y="3075178"/>
            <a:ext cx="301942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6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59" name="Google Shape;459;p26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7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66" name="Google Shape;466;p27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467" name="Google Shape;467;p27"/>
          <p:cNvSpPr txBox="1">
            <a:spLocks noGrp="1"/>
          </p:cNvSpPr>
          <p:nvPr>
            <p:ph type="title"/>
          </p:nvPr>
        </p:nvSpPr>
        <p:spPr>
          <a:xfrm>
            <a:off x="2871597" y="520064"/>
            <a:ext cx="6448425" cy="130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t" anchorCtr="0">
            <a:spAutoFit/>
          </a:bodyPr>
          <a:lstStyle/>
          <a:p>
            <a:pPr marL="1204595" marR="5080" lvl="0" indent="-119253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Choix des noms de fichiers : bonnes pratiques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7"/>
          <p:cNvSpPr txBox="1"/>
          <p:nvPr/>
        </p:nvSpPr>
        <p:spPr>
          <a:xfrm>
            <a:off x="269240" y="2150110"/>
            <a:ext cx="11354435" cy="390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L'extension doit être appropriée avec le type de fichier (fichier.html)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Éviter les espaces. Utilisez plutôt "_" ou "-"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13928"/>
              </a:lnSpc>
              <a:spcBef>
                <a:spcPts val="269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Ne pas utiliser les caractères spéciaux (?, %, #, /, :, ;, •,) et internationaux (å,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3695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ع, …)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Utiliser que des minuscules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268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Adopter des noms courts et significatifs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476" name="Google Shape;476;p28"/>
          <p:cNvSpPr txBox="1">
            <a:spLocks noGrp="1"/>
          </p:cNvSpPr>
          <p:nvPr>
            <p:ph type="title"/>
          </p:nvPr>
        </p:nvSpPr>
        <p:spPr>
          <a:xfrm>
            <a:off x="2903601" y="520064"/>
            <a:ext cx="6379845" cy="130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t" anchorCtr="0">
            <a:spAutoFit/>
          </a:bodyPr>
          <a:lstStyle/>
          <a:p>
            <a:pPr marL="742950" marR="5080" lvl="0" indent="-730885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Ce que le navigateur ignore dans un fichier HTML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8"/>
          <p:cNvSpPr txBox="1"/>
          <p:nvPr/>
        </p:nvSpPr>
        <p:spPr>
          <a:xfrm>
            <a:off x="269240" y="2073910"/>
            <a:ext cx="543877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Les espaces vides et les tabulations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8"/>
          <p:cNvSpPr txBox="1"/>
          <p:nvPr/>
        </p:nvSpPr>
        <p:spPr>
          <a:xfrm>
            <a:off x="726440" y="2543302"/>
            <a:ext cx="10604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•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 txBox="1"/>
          <p:nvPr/>
        </p:nvSpPr>
        <p:spPr>
          <a:xfrm>
            <a:off x="1024420" y="2517279"/>
            <a:ext cx="2856230" cy="359410"/>
          </a:xfrm>
          <a:prstGeom prst="rect">
            <a:avLst/>
          </a:prstGeom>
          <a:noFill/>
          <a:ln w="952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" lvl="0" indent="0" algn="l" rtl="0">
              <a:lnSpc>
                <a:spcPct val="10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isen,	brest	nantes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8"/>
          <p:cNvSpPr txBox="1"/>
          <p:nvPr/>
        </p:nvSpPr>
        <p:spPr>
          <a:xfrm>
            <a:off x="4287139" y="2466797"/>
            <a:ext cx="986155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devient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8"/>
          <p:cNvSpPr txBox="1"/>
          <p:nvPr/>
        </p:nvSpPr>
        <p:spPr>
          <a:xfrm>
            <a:off x="5565647" y="2517279"/>
            <a:ext cx="2856230" cy="359410"/>
          </a:xfrm>
          <a:prstGeom prst="rect">
            <a:avLst/>
          </a:prstGeom>
          <a:noFill/>
          <a:ln w="952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2720" lvl="0" indent="0" algn="l" rtl="0">
              <a:lnSpc>
                <a:spcPct val="10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isen, brest, nantes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8"/>
          <p:cNvSpPr txBox="1"/>
          <p:nvPr/>
        </p:nvSpPr>
        <p:spPr>
          <a:xfrm>
            <a:off x="269240" y="3116706"/>
            <a:ext cx="4941570" cy="198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Les retours à la ligne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Les éléments HTML non connus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Les commentaires 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9"/>
          <p:cNvSpPr txBox="1">
            <a:spLocks noGrp="1"/>
          </p:cNvSpPr>
          <p:nvPr>
            <p:ph type="title"/>
          </p:nvPr>
        </p:nvSpPr>
        <p:spPr>
          <a:xfrm>
            <a:off x="4548378" y="821512"/>
            <a:ext cx="309626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Balises HTML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 txBox="1"/>
          <p:nvPr/>
        </p:nvSpPr>
        <p:spPr>
          <a:xfrm>
            <a:off x="269240" y="1616710"/>
            <a:ext cx="9784715" cy="155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Une balise est un nom d'un élément de la page web (souvent son abréviation)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1964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Une balise est un mot clé entre "</a:t>
            </a: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" et "</a:t>
            </a: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Généralement, une balise de début (ouvrante) et de fin (fermante)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9"/>
          <p:cNvSpPr txBox="1"/>
          <p:nvPr/>
        </p:nvSpPr>
        <p:spPr>
          <a:xfrm>
            <a:off x="1996439" y="4675504"/>
            <a:ext cx="2303780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645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&lt;nomelement&gt;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9"/>
          <p:cNvSpPr txBox="1"/>
          <p:nvPr/>
        </p:nvSpPr>
        <p:spPr>
          <a:xfrm>
            <a:off x="4287011" y="4675504"/>
            <a:ext cx="1755775" cy="434340"/>
          </a:xfrm>
          <a:prstGeom prst="rect">
            <a:avLst/>
          </a:prstGeom>
          <a:solidFill>
            <a:srgbClr val="A3C2F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5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contenu ici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9"/>
          <p:cNvSpPr txBox="1"/>
          <p:nvPr/>
        </p:nvSpPr>
        <p:spPr>
          <a:xfrm>
            <a:off x="6042659" y="4675504"/>
            <a:ext cx="2359660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&lt;/nomelement&gt;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9"/>
          <p:cNvSpPr txBox="1"/>
          <p:nvPr/>
        </p:nvSpPr>
        <p:spPr>
          <a:xfrm>
            <a:off x="269240" y="5159121"/>
            <a:ext cx="557657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Exemple pour écrire un paragraphe: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9"/>
          <p:cNvSpPr txBox="1"/>
          <p:nvPr/>
        </p:nvSpPr>
        <p:spPr>
          <a:xfrm>
            <a:off x="4692396" y="5954115"/>
            <a:ext cx="552450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&lt;p&gt;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9"/>
          <p:cNvSpPr txBox="1"/>
          <p:nvPr/>
        </p:nvSpPr>
        <p:spPr>
          <a:xfrm>
            <a:off x="5231891" y="5954115"/>
            <a:ext cx="1754505" cy="434340"/>
          </a:xfrm>
          <a:prstGeom prst="rect">
            <a:avLst/>
          </a:prstGeom>
          <a:solidFill>
            <a:srgbClr val="A3C2F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4455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contenu ici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9"/>
          <p:cNvSpPr txBox="1"/>
          <p:nvPr/>
        </p:nvSpPr>
        <p:spPr>
          <a:xfrm>
            <a:off x="6986016" y="5954115"/>
            <a:ext cx="689610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&lt;/p&gt;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9"/>
          <p:cNvSpPr/>
          <p:nvPr/>
        </p:nvSpPr>
        <p:spPr>
          <a:xfrm>
            <a:off x="1810511" y="4212590"/>
            <a:ext cx="582930" cy="451484"/>
          </a:xfrm>
          <a:custGeom>
            <a:avLst/>
            <a:gdLst/>
            <a:ahLst/>
            <a:cxnLst/>
            <a:rect l="l" t="t" r="r" b="b"/>
            <a:pathLst>
              <a:path w="582930" h="451485" extrusionOk="0">
                <a:moveTo>
                  <a:pt x="582930" y="451485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8" name="Google Shape;498;p29"/>
          <p:cNvSpPr txBox="1"/>
          <p:nvPr/>
        </p:nvSpPr>
        <p:spPr>
          <a:xfrm>
            <a:off x="562152" y="3818001"/>
            <a:ext cx="194119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Balise ouvrante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/>
          <p:nvPr/>
        </p:nvSpPr>
        <p:spPr>
          <a:xfrm>
            <a:off x="4984115" y="4412107"/>
            <a:ext cx="2540" cy="252095"/>
          </a:xfrm>
          <a:custGeom>
            <a:avLst/>
            <a:gdLst/>
            <a:ahLst/>
            <a:cxnLst/>
            <a:rect l="l" t="t" r="r" b="b"/>
            <a:pathLst>
              <a:path w="2539" h="252095" extrusionOk="0">
                <a:moveTo>
                  <a:pt x="0" y="251968"/>
                </a:moveTo>
                <a:lnTo>
                  <a:pt x="2159" y="0"/>
                </a:lnTo>
              </a:path>
            </a:pathLst>
          </a:custGeom>
          <a:noFill/>
          <a:ln w="2857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00" name="Google Shape;500;p29"/>
          <p:cNvSpPr/>
          <p:nvPr/>
        </p:nvSpPr>
        <p:spPr>
          <a:xfrm>
            <a:off x="7224141" y="4289297"/>
            <a:ext cx="815340" cy="375285"/>
          </a:xfrm>
          <a:custGeom>
            <a:avLst/>
            <a:gdLst/>
            <a:ahLst/>
            <a:cxnLst/>
            <a:rect l="l" t="t" r="r" b="b"/>
            <a:pathLst>
              <a:path w="815340" h="375285" extrusionOk="0">
                <a:moveTo>
                  <a:pt x="0" y="374776"/>
                </a:moveTo>
                <a:lnTo>
                  <a:pt x="815085" y="0"/>
                </a:lnTo>
              </a:path>
            </a:pathLst>
          </a:custGeom>
          <a:noFill/>
          <a:ln w="2857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01" name="Google Shape;501;p29"/>
          <p:cNvSpPr txBox="1"/>
          <p:nvPr/>
        </p:nvSpPr>
        <p:spPr>
          <a:xfrm>
            <a:off x="3798189" y="3665601"/>
            <a:ext cx="2917825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3225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Contenu (texte ou autres éléments HTML)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503" name="Google Shape;503;p29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504" name="Google Shape;504;p29"/>
          <p:cNvSpPr txBox="1"/>
          <p:nvPr/>
        </p:nvSpPr>
        <p:spPr>
          <a:xfrm>
            <a:off x="8046211" y="3665601"/>
            <a:ext cx="2500630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2635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Balise fermante (commençant par /)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0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>
            <a:spLocks noGrp="1"/>
          </p:cNvSpPr>
          <p:nvPr>
            <p:ph type="title"/>
          </p:nvPr>
        </p:nvSpPr>
        <p:spPr>
          <a:xfrm>
            <a:off x="4548378" y="821512"/>
            <a:ext cx="309626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Balises HTML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0"/>
          <p:cNvSpPr txBox="1"/>
          <p:nvPr/>
        </p:nvSpPr>
        <p:spPr>
          <a:xfrm>
            <a:off x="2648711" y="4603877"/>
            <a:ext cx="2222500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&lt;nomelement&gt;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0"/>
          <p:cNvSpPr txBox="1"/>
          <p:nvPr/>
        </p:nvSpPr>
        <p:spPr>
          <a:xfrm>
            <a:off x="612140" y="5087492"/>
            <a:ext cx="613664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69265" lvl="0" indent="-4565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0512"/>
              </a:buClr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Exemple pour faire un retour à la ligne: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0"/>
          <p:cNvSpPr/>
          <p:nvPr/>
        </p:nvSpPr>
        <p:spPr>
          <a:xfrm>
            <a:off x="1810511" y="4212590"/>
            <a:ext cx="582930" cy="451484"/>
          </a:xfrm>
          <a:custGeom>
            <a:avLst/>
            <a:gdLst/>
            <a:ahLst/>
            <a:cxnLst/>
            <a:rect l="l" t="t" r="r" b="b"/>
            <a:pathLst>
              <a:path w="582930" h="451485" extrusionOk="0">
                <a:moveTo>
                  <a:pt x="582930" y="451485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14" name="Google Shape;514;p30"/>
          <p:cNvSpPr txBox="1"/>
          <p:nvPr/>
        </p:nvSpPr>
        <p:spPr>
          <a:xfrm>
            <a:off x="269240" y="1616710"/>
            <a:ext cx="9786620" cy="259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Une balise est un nom d'un élément de la page web (souvent son abréviation)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1964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Une balise est un mot clé entre "</a:t>
            </a: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" et "</a:t>
            </a: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875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Généralement, une balise de début (ouvrante) et de fin (fermante)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Certaines balises sont seules (vides, elles n'ont pas de contenus).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05435" lvl="0" indent="0" algn="l" rtl="0">
              <a:lnSpc>
                <a:spcPct val="100000"/>
              </a:lnSpc>
              <a:spcBef>
                <a:spcPts val="27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Balise ouvrante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0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516" name="Google Shape;516;p30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517" name="Google Shape;517;p30"/>
          <p:cNvSpPr txBox="1"/>
          <p:nvPr/>
        </p:nvSpPr>
        <p:spPr>
          <a:xfrm>
            <a:off x="3914775" y="5796750"/>
            <a:ext cx="675640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&lt;br&gt;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1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524" name="Google Shape;524;p31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525" name="Google Shape;525;p31"/>
          <p:cNvSpPr txBox="1">
            <a:spLocks noGrp="1"/>
          </p:cNvSpPr>
          <p:nvPr>
            <p:ph type="title"/>
          </p:nvPr>
        </p:nvSpPr>
        <p:spPr>
          <a:xfrm>
            <a:off x="4385309" y="821512"/>
            <a:ext cx="342265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Commentaires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 txBox="1"/>
          <p:nvPr/>
        </p:nvSpPr>
        <p:spPr>
          <a:xfrm>
            <a:off x="269240" y="1616710"/>
            <a:ext cx="10043160" cy="370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Les commentaires en HTML sont entre </a:t>
            </a:r>
            <a:r>
              <a:rPr lang="en-US" sz="28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&lt;!--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et </a:t>
            </a:r>
            <a:r>
              <a:rPr lang="en-US" sz="28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. Autrement dit, le contenu entre </a:t>
            </a:r>
            <a:r>
              <a:rPr lang="en-US" sz="28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&lt;!--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et </a:t>
            </a:r>
            <a:r>
              <a:rPr lang="en-US" sz="28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--&gt;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ne s'affiche pas par le navigateur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312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8060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&lt;!-- Commentaire dans une ligne --&gt;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2806065" marR="4083684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&lt;!-- Commentaire multi-line--&gt;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2"/>
          <p:cNvSpPr txBox="1">
            <a:spLocks noGrp="1"/>
          </p:cNvSpPr>
          <p:nvPr>
            <p:ph type="title"/>
          </p:nvPr>
        </p:nvSpPr>
        <p:spPr>
          <a:xfrm>
            <a:off x="5045202" y="364616"/>
            <a:ext cx="2103120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Attributs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2039111" y="2688463"/>
            <a:ext cx="180340" cy="427355"/>
          </a:xfrm>
          <a:custGeom>
            <a:avLst/>
            <a:gdLst/>
            <a:ahLst/>
            <a:cxnLst/>
            <a:rect l="l" t="t" r="r" b="b"/>
            <a:pathLst>
              <a:path w="180339" h="427355" extrusionOk="0">
                <a:moveTo>
                  <a:pt x="180086" y="427100"/>
                </a:moveTo>
                <a:lnTo>
                  <a:pt x="0" y="0"/>
                </a:lnTo>
              </a:path>
            </a:pathLst>
          </a:custGeom>
          <a:noFill/>
          <a:ln w="28550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4" name="Google Shape;534;p32"/>
          <p:cNvSpPr txBox="1"/>
          <p:nvPr/>
        </p:nvSpPr>
        <p:spPr>
          <a:xfrm>
            <a:off x="790752" y="2293746"/>
            <a:ext cx="194119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Balise ouvrante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7118794" y="2873819"/>
            <a:ext cx="0" cy="211454"/>
          </a:xfrm>
          <a:custGeom>
            <a:avLst/>
            <a:gdLst/>
            <a:ahLst/>
            <a:cxnLst/>
            <a:rect l="l" t="t" r="r" b="b"/>
            <a:pathLst>
              <a:path w="120000" h="211455" extrusionOk="0">
                <a:moveTo>
                  <a:pt x="0" y="0"/>
                </a:moveTo>
                <a:lnTo>
                  <a:pt x="0" y="211264"/>
                </a:lnTo>
              </a:path>
            </a:pathLst>
          </a:custGeom>
          <a:noFill/>
          <a:ln w="3072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6" name="Google Shape;536;p32"/>
          <p:cNvSpPr/>
          <p:nvPr/>
        </p:nvSpPr>
        <p:spPr>
          <a:xfrm>
            <a:off x="10043541" y="2915030"/>
            <a:ext cx="508000" cy="225425"/>
          </a:xfrm>
          <a:custGeom>
            <a:avLst/>
            <a:gdLst/>
            <a:ahLst/>
            <a:cxnLst/>
            <a:rect l="l" t="t" r="r" b="b"/>
            <a:pathLst>
              <a:path w="508000" h="225425" extrusionOk="0">
                <a:moveTo>
                  <a:pt x="0" y="225044"/>
                </a:moveTo>
                <a:lnTo>
                  <a:pt x="507618" y="0"/>
                </a:lnTo>
              </a:path>
            </a:pathLst>
          </a:custGeom>
          <a:noFill/>
          <a:ln w="2857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7" name="Google Shape;537;p32"/>
          <p:cNvSpPr txBox="1"/>
          <p:nvPr/>
        </p:nvSpPr>
        <p:spPr>
          <a:xfrm>
            <a:off x="269240" y="1006551"/>
            <a:ext cx="8379600" cy="12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23215" algn="l" rtl="0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Un élément peut avoir aucun ou plusieurs attributs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23215" algn="l" rtl="0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Un attribut clarifie ou modifie l'élément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23215" algn="l" rtl="0">
              <a:lnSpc>
                <a:spcPct val="105535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2"/>
          <p:cNvSpPr txBox="1"/>
          <p:nvPr/>
        </p:nvSpPr>
        <p:spPr>
          <a:xfrm>
            <a:off x="5318799" y="2113425"/>
            <a:ext cx="36000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Contenu (text ou autres éléments HTML)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2"/>
          <p:cNvSpPr txBox="1"/>
          <p:nvPr/>
        </p:nvSpPr>
        <p:spPr>
          <a:xfrm>
            <a:off x="9341866" y="2141346"/>
            <a:ext cx="2500630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2635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Balise fermante (commençant par /)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2"/>
          <p:cNvSpPr/>
          <p:nvPr/>
        </p:nvSpPr>
        <p:spPr>
          <a:xfrm>
            <a:off x="1090294" y="3085083"/>
            <a:ext cx="5415280" cy="434340"/>
          </a:xfrm>
          <a:custGeom>
            <a:avLst/>
            <a:gdLst/>
            <a:ahLst/>
            <a:cxnLst/>
            <a:rect l="l" t="t" r="r" b="b"/>
            <a:pathLst>
              <a:path w="5415280" h="434339" extrusionOk="0">
                <a:moveTo>
                  <a:pt x="5414772" y="0"/>
                </a:moveTo>
                <a:lnTo>
                  <a:pt x="0" y="0"/>
                </a:lnTo>
                <a:lnTo>
                  <a:pt x="0" y="434339"/>
                </a:lnTo>
                <a:lnTo>
                  <a:pt x="5414772" y="434339"/>
                </a:lnTo>
                <a:lnTo>
                  <a:pt x="5414772" y="0"/>
                </a:lnTo>
                <a:close/>
              </a:path>
            </a:pathLst>
          </a:cu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1" name="Google Shape;541;p32"/>
          <p:cNvSpPr txBox="1"/>
          <p:nvPr/>
        </p:nvSpPr>
        <p:spPr>
          <a:xfrm>
            <a:off x="1090294" y="3057905"/>
            <a:ext cx="541782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&lt;nomelement nomattribut="valeur"&gt;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2"/>
          <p:cNvSpPr txBox="1"/>
          <p:nvPr/>
        </p:nvSpPr>
        <p:spPr>
          <a:xfrm>
            <a:off x="6505067" y="3085083"/>
            <a:ext cx="1758950" cy="434340"/>
          </a:xfrm>
          <a:prstGeom prst="rect">
            <a:avLst/>
          </a:prstGeom>
          <a:solidFill>
            <a:srgbClr val="A3C2F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890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contenu ici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2"/>
          <p:cNvSpPr txBox="1"/>
          <p:nvPr/>
        </p:nvSpPr>
        <p:spPr>
          <a:xfrm>
            <a:off x="8263763" y="3085083"/>
            <a:ext cx="2359660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&lt;/nomelement&gt;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2"/>
          <p:cNvSpPr/>
          <p:nvPr/>
        </p:nvSpPr>
        <p:spPr>
          <a:xfrm>
            <a:off x="3192272" y="3459607"/>
            <a:ext cx="3093085" cy="349885"/>
          </a:xfrm>
          <a:custGeom>
            <a:avLst/>
            <a:gdLst/>
            <a:ahLst/>
            <a:cxnLst/>
            <a:rect l="l" t="t" r="r" b="b"/>
            <a:pathLst>
              <a:path w="3093085" h="349885" extrusionOk="0">
                <a:moveTo>
                  <a:pt x="3093085" y="0"/>
                </a:moveTo>
                <a:lnTo>
                  <a:pt x="3090789" y="68097"/>
                </a:lnTo>
                <a:lnTo>
                  <a:pt x="3084528" y="123682"/>
                </a:lnTo>
                <a:lnTo>
                  <a:pt x="3075243" y="161145"/>
                </a:lnTo>
                <a:lnTo>
                  <a:pt x="3063875" y="174878"/>
                </a:lnTo>
                <a:lnTo>
                  <a:pt x="1575689" y="174878"/>
                </a:lnTo>
                <a:lnTo>
                  <a:pt x="1564320" y="188630"/>
                </a:lnTo>
                <a:lnTo>
                  <a:pt x="1555035" y="226123"/>
                </a:lnTo>
                <a:lnTo>
                  <a:pt x="1548774" y="281713"/>
                </a:lnTo>
                <a:lnTo>
                  <a:pt x="1546478" y="349757"/>
                </a:lnTo>
                <a:lnTo>
                  <a:pt x="1544202" y="281713"/>
                </a:lnTo>
                <a:lnTo>
                  <a:pt x="1537985" y="226123"/>
                </a:lnTo>
                <a:lnTo>
                  <a:pt x="1528744" y="188630"/>
                </a:lnTo>
                <a:lnTo>
                  <a:pt x="1517395" y="174878"/>
                </a:lnTo>
                <a:lnTo>
                  <a:pt x="29209" y="174878"/>
                </a:lnTo>
                <a:lnTo>
                  <a:pt x="17841" y="161145"/>
                </a:lnTo>
                <a:lnTo>
                  <a:pt x="8556" y="123682"/>
                </a:lnTo>
                <a:lnTo>
                  <a:pt x="2295" y="68097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5" name="Google Shape;545;p32"/>
          <p:cNvSpPr txBox="1"/>
          <p:nvPr/>
        </p:nvSpPr>
        <p:spPr>
          <a:xfrm>
            <a:off x="4109720" y="3751275"/>
            <a:ext cx="1005840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Attribut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2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3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3"/>
          <p:cNvSpPr txBox="1">
            <a:spLocks noGrp="1"/>
          </p:cNvSpPr>
          <p:nvPr>
            <p:ph type="title"/>
          </p:nvPr>
        </p:nvSpPr>
        <p:spPr>
          <a:xfrm>
            <a:off x="5045202" y="364616"/>
            <a:ext cx="2103120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Attributs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3"/>
          <p:cNvSpPr txBox="1"/>
          <p:nvPr/>
        </p:nvSpPr>
        <p:spPr>
          <a:xfrm>
            <a:off x="269240" y="3819271"/>
            <a:ext cx="177609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2039111" y="2688463"/>
            <a:ext cx="180340" cy="427355"/>
          </a:xfrm>
          <a:custGeom>
            <a:avLst/>
            <a:gdLst/>
            <a:ahLst/>
            <a:cxnLst/>
            <a:rect l="l" t="t" r="r" b="b"/>
            <a:pathLst>
              <a:path w="180339" h="427355" extrusionOk="0">
                <a:moveTo>
                  <a:pt x="180086" y="427100"/>
                </a:moveTo>
                <a:lnTo>
                  <a:pt x="0" y="0"/>
                </a:lnTo>
              </a:path>
            </a:pathLst>
          </a:custGeom>
          <a:noFill/>
          <a:ln w="28550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5" name="Google Shape;555;p33"/>
          <p:cNvSpPr txBox="1"/>
          <p:nvPr/>
        </p:nvSpPr>
        <p:spPr>
          <a:xfrm>
            <a:off x="790752" y="2293746"/>
            <a:ext cx="194119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Balise ouvrante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7118794" y="2873819"/>
            <a:ext cx="0" cy="211454"/>
          </a:xfrm>
          <a:custGeom>
            <a:avLst/>
            <a:gdLst/>
            <a:ahLst/>
            <a:cxnLst/>
            <a:rect l="l" t="t" r="r" b="b"/>
            <a:pathLst>
              <a:path w="120000" h="211455" extrusionOk="0">
                <a:moveTo>
                  <a:pt x="0" y="0"/>
                </a:moveTo>
                <a:lnTo>
                  <a:pt x="0" y="211264"/>
                </a:lnTo>
              </a:path>
            </a:pathLst>
          </a:custGeom>
          <a:noFill/>
          <a:ln w="3072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7" name="Google Shape;557;p33"/>
          <p:cNvSpPr/>
          <p:nvPr/>
        </p:nvSpPr>
        <p:spPr>
          <a:xfrm>
            <a:off x="10043541" y="2915030"/>
            <a:ext cx="508000" cy="225425"/>
          </a:xfrm>
          <a:custGeom>
            <a:avLst/>
            <a:gdLst/>
            <a:ahLst/>
            <a:cxnLst/>
            <a:rect l="l" t="t" r="r" b="b"/>
            <a:pathLst>
              <a:path w="508000" h="225425" extrusionOk="0">
                <a:moveTo>
                  <a:pt x="0" y="225044"/>
                </a:moveTo>
                <a:lnTo>
                  <a:pt x="507618" y="0"/>
                </a:lnTo>
              </a:path>
            </a:pathLst>
          </a:custGeom>
          <a:noFill/>
          <a:ln w="28575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8" name="Google Shape;558;p33"/>
          <p:cNvSpPr txBox="1"/>
          <p:nvPr/>
        </p:nvSpPr>
        <p:spPr>
          <a:xfrm>
            <a:off x="269240" y="1006551"/>
            <a:ext cx="8379600" cy="12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23215" algn="l" rtl="0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Un élément peut avoir aucun ou plusieurs attributs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23215" algn="l" rtl="0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Un attribut clarifie ou modifie l'élément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23215" algn="l" rtl="0">
              <a:lnSpc>
                <a:spcPct val="105535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3"/>
          <p:cNvSpPr txBox="1"/>
          <p:nvPr/>
        </p:nvSpPr>
        <p:spPr>
          <a:xfrm>
            <a:off x="5460256" y="2113425"/>
            <a:ext cx="33171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Contenu (text ou autreséléments HTML)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3"/>
          <p:cNvSpPr txBox="1"/>
          <p:nvPr/>
        </p:nvSpPr>
        <p:spPr>
          <a:xfrm>
            <a:off x="9341866" y="2141346"/>
            <a:ext cx="2500630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2635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Balise fermante (commençant par /)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3"/>
          <p:cNvSpPr/>
          <p:nvPr/>
        </p:nvSpPr>
        <p:spPr>
          <a:xfrm>
            <a:off x="1090294" y="3085083"/>
            <a:ext cx="5415280" cy="434340"/>
          </a:xfrm>
          <a:custGeom>
            <a:avLst/>
            <a:gdLst/>
            <a:ahLst/>
            <a:cxnLst/>
            <a:rect l="l" t="t" r="r" b="b"/>
            <a:pathLst>
              <a:path w="5415280" h="434339" extrusionOk="0">
                <a:moveTo>
                  <a:pt x="5414772" y="0"/>
                </a:moveTo>
                <a:lnTo>
                  <a:pt x="0" y="0"/>
                </a:lnTo>
                <a:lnTo>
                  <a:pt x="0" y="434339"/>
                </a:lnTo>
                <a:lnTo>
                  <a:pt x="5414772" y="434339"/>
                </a:lnTo>
                <a:lnTo>
                  <a:pt x="5414772" y="0"/>
                </a:lnTo>
                <a:close/>
              </a:path>
            </a:pathLst>
          </a:cu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62" name="Google Shape;562;p33"/>
          <p:cNvSpPr txBox="1"/>
          <p:nvPr/>
        </p:nvSpPr>
        <p:spPr>
          <a:xfrm>
            <a:off x="1090294" y="3057905"/>
            <a:ext cx="541782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&lt;nomelement nomattribut="valeur"&gt;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3"/>
          <p:cNvSpPr txBox="1"/>
          <p:nvPr/>
        </p:nvSpPr>
        <p:spPr>
          <a:xfrm>
            <a:off x="6505067" y="3085083"/>
            <a:ext cx="1758950" cy="434340"/>
          </a:xfrm>
          <a:prstGeom prst="rect">
            <a:avLst/>
          </a:prstGeom>
          <a:solidFill>
            <a:srgbClr val="A3C2F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890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contenu ici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3"/>
          <p:cNvSpPr txBox="1"/>
          <p:nvPr/>
        </p:nvSpPr>
        <p:spPr>
          <a:xfrm>
            <a:off x="8263763" y="3085083"/>
            <a:ext cx="2359660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&lt;/nomelement&gt;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3"/>
          <p:cNvSpPr/>
          <p:nvPr/>
        </p:nvSpPr>
        <p:spPr>
          <a:xfrm>
            <a:off x="3192272" y="3459607"/>
            <a:ext cx="3093085" cy="349885"/>
          </a:xfrm>
          <a:custGeom>
            <a:avLst/>
            <a:gdLst/>
            <a:ahLst/>
            <a:cxnLst/>
            <a:rect l="l" t="t" r="r" b="b"/>
            <a:pathLst>
              <a:path w="3093085" h="349885" extrusionOk="0">
                <a:moveTo>
                  <a:pt x="3093085" y="0"/>
                </a:moveTo>
                <a:lnTo>
                  <a:pt x="3090789" y="68097"/>
                </a:lnTo>
                <a:lnTo>
                  <a:pt x="3084528" y="123682"/>
                </a:lnTo>
                <a:lnTo>
                  <a:pt x="3075243" y="161145"/>
                </a:lnTo>
                <a:lnTo>
                  <a:pt x="3063875" y="174878"/>
                </a:lnTo>
                <a:lnTo>
                  <a:pt x="1575689" y="174878"/>
                </a:lnTo>
                <a:lnTo>
                  <a:pt x="1564320" y="188630"/>
                </a:lnTo>
                <a:lnTo>
                  <a:pt x="1555035" y="226123"/>
                </a:lnTo>
                <a:lnTo>
                  <a:pt x="1548774" y="281713"/>
                </a:lnTo>
                <a:lnTo>
                  <a:pt x="1546478" y="349757"/>
                </a:lnTo>
                <a:lnTo>
                  <a:pt x="1544202" y="281713"/>
                </a:lnTo>
                <a:lnTo>
                  <a:pt x="1537985" y="226123"/>
                </a:lnTo>
                <a:lnTo>
                  <a:pt x="1528744" y="188630"/>
                </a:lnTo>
                <a:lnTo>
                  <a:pt x="1517395" y="174878"/>
                </a:lnTo>
                <a:lnTo>
                  <a:pt x="29209" y="174878"/>
                </a:lnTo>
                <a:lnTo>
                  <a:pt x="17841" y="161145"/>
                </a:lnTo>
                <a:lnTo>
                  <a:pt x="8556" y="123682"/>
                </a:lnTo>
                <a:lnTo>
                  <a:pt x="2295" y="68097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66" name="Google Shape;566;p33"/>
          <p:cNvSpPr txBox="1"/>
          <p:nvPr/>
        </p:nvSpPr>
        <p:spPr>
          <a:xfrm>
            <a:off x="4109720" y="3751275"/>
            <a:ext cx="1005840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Attribut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3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568" name="Google Shape;568;p33"/>
          <p:cNvSpPr txBox="1"/>
          <p:nvPr/>
        </p:nvSpPr>
        <p:spPr>
          <a:xfrm>
            <a:off x="3842639" y="4301235"/>
            <a:ext cx="4592320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&lt;img </a:t>
            </a: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src="logo.png"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alt="text"&gt;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3"/>
          <p:cNvSpPr txBox="1"/>
          <p:nvPr/>
        </p:nvSpPr>
        <p:spPr>
          <a:xfrm>
            <a:off x="277469" y="5295087"/>
            <a:ext cx="10370100" cy="1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23215" algn="l" rtl="0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La valeur d'un attribut est dans certains cas fixe (booléen, texte, ...)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23850" algn="l" rtl="0">
              <a:lnSpc>
                <a:spcPct val="107857"/>
              </a:lnSpc>
              <a:spcBef>
                <a:spcPts val="22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Un élement peut être identifié par une classe ou un ID en utilisant les noms d'attributs : </a:t>
            </a: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class 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ou </a:t>
            </a:r>
            <a:r>
              <a:rPr lang="en-US" sz="25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3"/>
          <p:cNvSpPr txBox="1"/>
          <p:nvPr/>
        </p:nvSpPr>
        <p:spPr>
          <a:xfrm>
            <a:off x="4109339" y="4913884"/>
            <a:ext cx="2641600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&lt;td </a:t>
            </a: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rowspan="2"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3"/>
          <p:cNvSpPr txBox="1"/>
          <p:nvPr/>
        </p:nvSpPr>
        <p:spPr>
          <a:xfrm>
            <a:off x="6738239" y="4913884"/>
            <a:ext cx="1758950" cy="434340"/>
          </a:xfrm>
          <a:prstGeom prst="rect">
            <a:avLst/>
          </a:prstGeom>
          <a:solidFill>
            <a:srgbClr val="A3C2F4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0170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contenu ici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3"/>
          <p:cNvSpPr txBox="1"/>
          <p:nvPr/>
        </p:nvSpPr>
        <p:spPr>
          <a:xfrm>
            <a:off x="8496934" y="4913884"/>
            <a:ext cx="808355" cy="434340"/>
          </a:xfrm>
          <a:prstGeom prst="rect">
            <a:avLst/>
          </a:prstGeom>
          <a:solidFill>
            <a:srgbClr val="B6D6A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" lvl="0" indent="0" algn="l" rtl="0">
              <a:lnSpc>
                <a:spcPct val="115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&lt;/td&gt;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4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578" name="Google Shape;578;p34"/>
          <p:cNvSpPr txBox="1"/>
          <p:nvPr/>
        </p:nvSpPr>
        <p:spPr>
          <a:xfrm>
            <a:off x="1464944" y="821512"/>
            <a:ext cx="926020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Structure basique d'un document HTML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9" name="Google Shape;579;p34"/>
          <p:cNvGrpSpPr/>
          <p:nvPr/>
        </p:nvGrpSpPr>
        <p:grpSpPr>
          <a:xfrm>
            <a:off x="390321" y="1832978"/>
            <a:ext cx="4205605" cy="4265295"/>
            <a:chOff x="390321" y="1832978"/>
            <a:chExt cx="4205605" cy="4265295"/>
          </a:xfrm>
        </p:grpSpPr>
        <p:sp>
          <p:nvSpPr>
            <p:cNvPr id="580" name="Google Shape;580;p34"/>
            <p:cNvSpPr/>
            <p:nvPr/>
          </p:nvSpPr>
          <p:spPr>
            <a:xfrm>
              <a:off x="390321" y="1832978"/>
              <a:ext cx="4205605" cy="4265295"/>
            </a:xfrm>
            <a:custGeom>
              <a:avLst/>
              <a:gdLst/>
              <a:ahLst/>
              <a:cxnLst/>
              <a:rect l="l" t="t" r="r" b="b"/>
              <a:pathLst>
                <a:path w="4205605" h="4265295" extrusionOk="0">
                  <a:moveTo>
                    <a:pt x="0" y="4265041"/>
                  </a:moveTo>
                  <a:lnTo>
                    <a:pt x="4205351" y="4265041"/>
                  </a:lnTo>
                  <a:lnTo>
                    <a:pt x="4205351" y="0"/>
                  </a:lnTo>
                  <a:lnTo>
                    <a:pt x="0" y="0"/>
                  </a:lnTo>
                  <a:lnTo>
                    <a:pt x="0" y="426504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1" name="Google Shape;581;p34"/>
            <p:cNvSpPr/>
            <p:nvPr/>
          </p:nvSpPr>
          <p:spPr>
            <a:xfrm>
              <a:off x="481749" y="2239771"/>
              <a:ext cx="3331845" cy="2281555"/>
            </a:xfrm>
            <a:custGeom>
              <a:avLst/>
              <a:gdLst/>
              <a:ahLst/>
              <a:cxnLst/>
              <a:rect l="l" t="t" r="r" b="b"/>
              <a:pathLst>
                <a:path w="3331845" h="2281554" extrusionOk="0">
                  <a:moveTo>
                    <a:pt x="531876" y="1997964"/>
                  </a:moveTo>
                  <a:lnTo>
                    <a:pt x="0" y="1997964"/>
                  </a:lnTo>
                  <a:lnTo>
                    <a:pt x="0" y="2281428"/>
                  </a:lnTo>
                  <a:lnTo>
                    <a:pt x="531876" y="2281428"/>
                  </a:lnTo>
                  <a:lnTo>
                    <a:pt x="531876" y="1997964"/>
                  </a:lnTo>
                  <a:close/>
                </a:path>
                <a:path w="3331845" h="2281554" extrusionOk="0">
                  <a:moveTo>
                    <a:pt x="531876" y="999744"/>
                  </a:moveTo>
                  <a:lnTo>
                    <a:pt x="0" y="999744"/>
                  </a:lnTo>
                  <a:lnTo>
                    <a:pt x="0" y="1283208"/>
                  </a:lnTo>
                  <a:lnTo>
                    <a:pt x="531876" y="1283208"/>
                  </a:lnTo>
                  <a:lnTo>
                    <a:pt x="531876" y="999744"/>
                  </a:lnTo>
                  <a:close/>
                </a:path>
                <a:path w="3331845" h="2281554" extrusionOk="0">
                  <a:moveTo>
                    <a:pt x="1065263" y="1665732"/>
                  </a:moveTo>
                  <a:lnTo>
                    <a:pt x="0" y="1665732"/>
                  </a:lnTo>
                  <a:lnTo>
                    <a:pt x="0" y="1949196"/>
                  </a:lnTo>
                  <a:lnTo>
                    <a:pt x="1065263" y="1949196"/>
                  </a:lnTo>
                  <a:lnTo>
                    <a:pt x="1065263" y="1665732"/>
                  </a:lnTo>
                  <a:close/>
                </a:path>
                <a:path w="3331845" h="2281554" extrusionOk="0">
                  <a:moveTo>
                    <a:pt x="1065263" y="1331976"/>
                  </a:moveTo>
                  <a:lnTo>
                    <a:pt x="0" y="1331976"/>
                  </a:lnTo>
                  <a:lnTo>
                    <a:pt x="0" y="1615440"/>
                  </a:lnTo>
                  <a:lnTo>
                    <a:pt x="1065263" y="1615440"/>
                  </a:lnTo>
                  <a:lnTo>
                    <a:pt x="1065263" y="1331976"/>
                  </a:lnTo>
                  <a:close/>
                </a:path>
                <a:path w="3331845" h="2281554" extrusionOk="0">
                  <a:moveTo>
                    <a:pt x="2132038" y="665988"/>
                  </a:moveTo>
                  <a:lnTo>
                    <a:pt x="2132038" y="665988"/>
                  </a:lnTo>
                  <a:lnTo>
                    <a:pt x="0" y="665988"/>
                  </a:lnTo>
                  <a:lnTo>
                    <a:pt x="0" y="949452"/>
                  </a:lnTo>
                  <a:lnTo>
                    <a:pt x="2132038" y="949452"/>
                  </a:lnTo>
                  <a:lnTo>
                    <a:pt x="2132038" y="665988"/>
                  </a:lnTo>
                  <a:close/>
                </a:path>
                <a:path w="3331845" h="2281554" extrusionOk="0">
                  <a:moveTo>
                    <a:pt x="3331426" y="0"/>
                  </a:moveTo>
                  <a:lnTo>
                    <a:pt x="2665438" y="0"/>
                  </a:lnTo>
                  <a:lnTo>
                    <a:pt x="2398776" y="0"/>
                  </a:lnTo>
                  <a:lnTo>
                    <a:pt x="0" y="0"/>
                  </a:lnTo>
                  <a:lnTo>
                    <a:pt x="0" y="283464"/>
                  </a:lnTo>
                  <a:lnTo>
                    <a:pt x="2398738" y="283464"/>
                  </a:lnTo>
                  <a:lnTo>
                    <a:pt x="2665438" y="283464"/>
                  </a:lnTo>
                  <a:lnTo>
                    <a:pt x="3331426" y="283464"/>
                  </a:lnTo>
                  <a:lnTo>
                    <a:pt x="3331426" y="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82" name="Google Shape;582;p34"/>
          <p:cNvSpPr txBox="1"/>
          <p:nvPr/>
        </p:nvSpPr>
        <p:spPr>
          <a:xfrm>
            <a:off x="481749" y="2207767"/>
            <a:ext cx="3331845" cy="31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&lt;!DOCTYPE html&gt; &lt;!--pour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3" name="Google Shape;583;p34"/>
          <p:cNvSpPr txBox="1"/>
          <p:nvPr/>
        </p:nvSpPr>
        <p:spPr>
          <a:xfrm>
            <a:off x="481749" y="2573527"/>
            <a:ext cx="1065530" cy="28384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1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HTML5--&gt;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4" name="Google Shape;584;p34"/>
          <p:cNvSpPr txBox="1"/>
          <p:nvPr/>
        </p:nvSpPr>
        <p:spPr>
          <a:xfrm>
            <a:off x="469188" y="2874010"/>
            <a:ext cx="2156460" cy="31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&lt;html </a:t>
            </a:r>
            <a:r>
              <a:rPr lang="en-US" sz="19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9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"fr"</a:t>
            </a: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5" name="Google Shape;585;p34"/>
          <p:cNvSpPr txBox="1"/>
          <p:nvPr/>
        </p:nvSpPr>
        <p:spPr>
          <a:xfrm>
            <a:off x="1006995" y="3226777"/>
            <a:ext cx="808355" cy="32067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0" lvl="0" indent="0" algn="l" rtl="0">
              <a:lnSpc>
                <a:spcPct val="1171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6" name="Google Shape;586;p34"/>
          <p:cNvSpPr txBox="1"/>
          <p:nvPr/>
        </p:nvSpPr>
        <p:spPr>
          <a:xfrm>
            <a:off x="1006995" y="3547364"/>
            <a:ext cx="3495040" cy="33337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4425" rIns="0" bIns="0" anchor="t" anchorCtr="0">
            <a:spAutoFit/>
          </a:bodyPr>
          <a:lstStyle/>
          <a:p>
            <a:pPr marL="539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&lt;meta </a:t>
            </a:r>
            <a:r>
              <a:rPr lang="en-US" sz="19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9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7" name="Google Shape;587;p34"/>
          <p:cNvSpPr txBox="1"/>
          <p:nvPr/>
        </p:nvSpPr>
        <p:spPr>
          <a:xfrm>
            <a:off x="1006995" y="3880358"/>
            <a:ext cx="3495040" cy="30861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539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&lt;title&gt; </a:t>
            </a:r>
            <a:r>
              <a:rPr lang="en-US" sz="1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Titre </a:t>
            </a: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&lt;/title&gt;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8" name="Google Shape;588;p34"/>
          <p:cNvSpPr txBox="1"/>
          <p:nvPr/>
        </p:nvSpPr>
        <p:spPr>
          <a:xfrm>
            <a:off x="1006995" y="4237735"/>
            <a:ext cx="941069" cy="21717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50" lvl="0" indent="0" algn="l" rtl="0">
              <a:lnSpc>
                <a:spcPct val="89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89" name="Google Shape;589;p34"/>
          <p:cNvGraphicFramePr/>
          <p:nvPr/>
        </p:nvGraphicFramePr>
        <p:xfrm>
          <a:off x="472224" y="455707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{47C756BD-769A-4933-AF03-410CCDEDF079}</a:tableStyleId>
              </a:tblPr>
              <a:tblGrid>
                <a:gridCol w="51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75" marR="0" lvl="0" indent="0" algn="l" rtl="0">
                        <a:lnSpc>
                          <a:spcPct val="11394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>
                          <a:solidFill>
                            <a:srgbClr val="000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&lt;body&gt;</a:t>
                      </a:r>
                      <a:endParaRPr sz="1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492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Contenu de la page</a:t>
                      </a:r>
                      <a:endParaRPr sz="1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5075" marB="0">
                    <a:lnL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8F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875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>
                          <a:solidFill>
                            <a:srgbClr val="000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&lt;/body&gt;</a:t>
                      </a:r>
                      <a:endParaRPr sz="1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5725" marB="0">
                    <a:lnL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0" name="Google Shape;590;p34"/>
          <p:cNvSpPr txBox="1"/>
          <p:nvPr/>
        </p:nvSpPr>
        <p:spPr>
          <a:xfrm>
            <a:off x="481749" y="5560605"/>
            <a:ext cx="932815" cy="294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91" name="Google Shape;591;p34"/>
          <p:cNvGrpSpPr/>
          <p:nvPr/>
        </p:nvGrpSpPr>
        <p:grpSpPr>
          <a:xfrm>
            <a:off x="997470" y="2342260"/>
            <a:ext cx="9327121" cy="2885440"/>
            <a:chOff x="997470" y="2342260"/>
            <a:chExt cx="9327121" cy="2885440"/>
          </a:xfrm>
        </p:grpSpPr>
        <p:pic>
          <p:nvPicPr>
            <p:cNvPr id="592" name="Google Shape;592;p3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023356" y="3135121"/>
              <a:ext cx="4300728" cy="1072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3" name="Google Shape;593;p34"/>
            <p:cNvSpPr/>
            <p:nvPr/>
          </p:nvSpPr>
          <p:spPr>
            <a:xfrm>
              <a:off x="997470" y="3135172"/>
              <a:ext cx="7583805" cy="1329055"/>
            </a:xfrm>
            <a:custGeom>
              <a:avLst/>
              <a:gdLst/>
              <a:ahLst/>
              <a:cxnLst/>
              <a:rect l="l" t="t" r="r" b="b"/>
              <a:pathLst>
                <a:path w="7583805" h="1329054" extrusionOk="0">
                  <a:moveTo>
                    <a:pt x="0" y="1328877"/>
                  </a:moveTo>
                  <a:lnTo>
                    <a:pt x="3513582" y="1328877"/>
                  </a:lnTo>
                  <a:lnTo>
                    <a:pt x="3513582" y="82080"/>
                  </a:lnTo>
                  <a:lnTo>
                    <a:pt x="0" y="82080"/>
                  </a:lnTo>
                  <a:lnTo>
                    <a:pt x="0" y="1328877"/>
                  </a:lnTo>
                  <a:close/>
                </a:path>
                <a:path w="7583805" h="1329054" extrusionOk="0">
                  <a:moveTo>
                    <a:pt x="4947653" y="335102"/>
                  </a:moveTo>
                  <a:lnTo>
                    <a:pt x="7583792" y="335102"/>
                  </a:lnTo>
                  <a:lnTo>
                    <a:pt x="7583792" y="0"/>
                  </a:lnTo>
                  <a:lnTo>
                    <a:pt x="4947653" y="0"/>
                  </a:lnTo>
                  <a:lnTo>
                    <a:pt x="4947653" y="335102"/>
                  </a:lnTo>
                  <a:close/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4" name="Google Shape;594;p34"/>
            <p:cNvSpPr/>
            <p:nvPr/>
          </p:nvSpPr>
          <p:spPr>
            <a:xfrm>
              <a:off x="5947156" y="3973918"/>
              <a:ext cx="2456815" cy="591820"/>
            </a:xfrm>
            <a:custGeom>
              <a:avLst/>
              <a:gdLst/>
              <a:ahLst/>
              <a:cxnLst/>
              <a:rect l="l" t="t" r="r" b="b"/>
              <a:pathLst>
                <a:path w="2456815" h="591820" extrusionOk="0">
                  <a:moveTo>
                    <a:pt x="0" y="591604"/>
                  </a:moveTo>
                  <a:lnTo>
                    <a:pt x="2456688" y="591604"/>
                  </a:lnTo>
                  <a:lnTo>
                    <a:pt x="2456688" y="0"/>
                  </a:lnTo>
                  <a:lnTo>
                    <a:pt x="0" y="0"/>
                  </a:lnTo>
                  <a:lnTo>
                    <a:pt x="0" y="591604"/>
                  </a:lnTo>
                  <a:close/>
                </a:path>
              </a:pathLst>
            </a:custGeom>
            <a:noFill/>
            <a:ln w="19050" cap="flat" cmpd="sng">
              <a:solidFill>
                <a:srgbClr val="97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3775329" y="2342260"/>
              <a:ext cx="2172335" cy="2885440"/>
            </a:xfrm>
            <a:custGeom>
              <a:avLst/>
              <a:gdLst/>
              <a:ahLst/>
              <a:cxnLst/>
              <a:rect l="l" t="t" r="r" b="b"/>
              <a:pathLst>
                <a:path w="2172335" h="2885440" extrusionOk="0">
                  <a:moveTo>
                    <a:pt x="1361567" y="0"/>
                  </a:moveTo>
                  <a:lnTo>
                    <a:pt x="1279271" y="22352"/>
                  </a:lnTo>
                  <a:lnTo>
                    <a:pt x="1301508" y="47218"/>
                  </a:lnTo>
                  <a:lnTo>
                    <a:pt x="0" y="1209294"/>
                  </a:lnTo>
                  <a:lnTo>
                    <a:pt x="6350" y="1216406"/>
                  </a:lnTo>
                  <a:lnTo>
                    <a:pt x="1307871" y="54330"/>
                  </a:lnTo>
                  <a:lnTo>
                    <a:pt x="1330071" y="79121"/>
                  </a:lnTo>
                  <a:lnTo>
                    <a:pt x="1346136" y="38735"/>
                  </a:lnTo>
                  <a:lnTo>
                    <a:pt x="1361567" y="0"/>
                  </a:lnTo>
                  <a:close/>
                </a:path>
                <a:path w="2172335" h="2885440" extrusionOk="0">
                  <a:moveTo>
                    <a:pt x="2169795" y="960501"/>
                  </a:moveTo>
                  <a:lnTo>
                    <a:pt x="2084832" y="967232"/>
                  </a:lnTo>
                  <a:lnTo>
                    <a:pt x="2102027" y="995768"/>
                  </a:lnTo>
                  <a:lnTo>
                    <a:pt x="733298" y="1822450"/>
                  </a:lnTo>
                  <a:lnTo>
                    <a:pt x="738251" y="1830578"/>
                  </a:lnTo>
                  <a:lnTo>
                    <a:pt x="2106942" y="1003922"/>
                  </a:lnTo>
                  <a:lnTo>
                    <a:pt x="2124202" y="1032510"/>
                  </a:lnTo>
                  <a:lnTo>
                    <a:pt x="2151621" y="989203"/>
                  </a:lnTo>
                  <a:lnTo>
                    <a:pt x="2169795" y="960501"/>
                  </a:lnTo>
                  <a:close/>
                </a:path>
                <a:path w="2172335" h="2885440" extrusionOk="0">
                  <a:moveTo>
                    <a:pt x="2171827" y="1927479"/>
                  </a:moveTo>
                  <a:lnTo>
                    <a:pt x="2087245" y="1937639"/>
                  </a:lnTo>
                  <a:lnTo>
                    <a:pt x="2105571" y="1965477"/>
                  </a:lnTo>
                  <a:lnTo>
                    <a:pt x="722884" y="2877185"/>
                  </a:lnTo>
                  <a:lnTo>
                    <a:pt x="728091" y="2885198"/>
                  </a:lnTo>
                  <a:lnTo>
                    <a:pt x="2110816" y="1973453"/>
                  </a:lnTo>
                  <a:lnTo>
                    <a:pt x="2129155" y="2001266"/>
                  </a:lnTo>
                  <a:lnTo>
                    <a:pt x="2153894" y="1958467"/>
                  </a:lnTo>
                  <a:lnTo>
                    <a:pt x="2171827" y="1927479"/>
                  </a:lnTo>
                  <a:close/>
                </a:path>
              </a:pathLst>
            </a:custGeom>
            <a:solidFill>
              <a:srgbClr val="44536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7615046" y="3563962"/>
              <a:ext cx="2709545" cy="291465"/>
            </a:xfrm>
            <a:custGeom>
              <a:avLst/>
              <a:gdLst/>
              <a:ahLst/>
              <a:cxnLst/>
              <a:rect l="l" t="t" r="r" b="b"/>
              <a:pathLst>
                <a:path w="2709545" h="291464" extrusionOk="0">
                  <a:moveTo>
                    <a:pt x="2709037" y="0"/>
                  </a:moveTo>
                  <a:lnTo>
                    <a:pt x="0" y="0"/>
                  </a:lnTo>
                  <a:lnTo>
                    <a:pt x="0" y="290995"/>
                  </a:lnTo>
                  <a:lnTo>
                    <a:pt x="2709037" y="290995"/>
                  </a:lnTo>
                  <a:lnTo>
                    <a:pt x="2709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7615046" y="3563962"/>
              <a:ext cx="2709545" cy="291465"/>
            </a:xfrm>
            <a:custGeom>
              <a:avLst/>
              <a:gdLst/>
              <a:ahLst/>
              <a:cxnLst/>
              <a:rect l="l" t="t" r="r" b="b"/>
              <a:pathLst>
                <a:path w="2709545" h="291464" extrusionOk="0">
                  <a:moveTo>
                    <a:pt x="0" y="290995"/>
                  </a:moveTo>
                  <a:lnTo>
                    <a:pt x="2709037" y="290995"/>
                  </a:lnTo>
                  <a:lnTo>
                    <a:pt x="2709037" y="0"/>
                  </a:lnTo>
                  <a:lnTo>
                    <a:pt x="0" y="0"/>
                  </a:lnTo>
                  <a:lnTo>
                    <a:pt x="0" y="290995"/>
                  </a:lnTo>
                  <a:close/>
                </a:path>
              </a:pathLst>
            </a:custGeom>
            <a:noFill/>
            <a:ln w="9525" cap="flat" cmpd="sng">
              <a:solidFill>
                <a:srgbClr val="4453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98" name="Google Shape;598;p34"/>
          <p:cNvSpPr txBox="1"/>
          <p:nvPr/>
        </p:nvSpPr>
        <p:spPr>
          <a:xfrm>
            <a:off x="5184394" y="2085847"/>
            <a:ext cx="122745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Encodage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4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600" name="Google Shape;600;p34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5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5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607" name="Google Shape;607;p35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608" name="Google Shape;608;p35"/>
          <p:cNvSpPr txBox="1">
            <a:spLocks noGrp="1"/>
          </p:cNvSpPr>
          <p:nvPr>
            <p:ph type="title"/>
          </p:nvPr>
        </p:nvSpPr>
        <p:spPr>
          <a:xfrm>
            <a:off x="2324480" y="821512"/>
            <a:ext cx="754443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Validation d'un document HTML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5"/>
          <p:cNvSpPr txBox="1"/>
          <p:nvPr/>
        </p:nvSpPr>
        <p:spPr>
          <a:xfrm>
            <a:off x="282651" y="1908759"/>
            <a:ext cx="10126345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325" rIns="0" bIns="0" anchor="t" anchorCtr="0">
            <a:spAutoFit/>
          </a:bodyPr>
          <a:lstStyle/>
          <a:p>
            <a:pPr marL="355600" marR="5080" lvl="0" indent="-3429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 document HTML valide est un document qui respecte la syntaxe correcte de la version HTML utilisée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marR="870585" lvl="0" indent="-342900" algn="l" rtl="0">
              <a:lnSpc>
                <a:spcPct val="107857"/>
              </a:lnSpc>
              <a:spcBef>
                <a:spcPts val="302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 résultat d'un document HTML non valide peut être affiché, convenablement, dans un navigateur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2800"/>
              <a:buFont typeface="Calibri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marR="378460" lvl="0" indent="-3429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L'outil fiable pour vérifier la validation d'un document HTML est : </a:t>
            </a:r>
            <a:r>
              <a:rPr lang="en-US" sz="2800" u="sng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http://validator.w3.org/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6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615" name="Google Shape;615;p36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616" name="Google Shape;616;p36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617" name="Google Shape;617;p36"/>
          <p:cNvSpPr txBox="1"/>
          <p:nvPr/>
        </p:nvSpPr>
        <p:spPr>
          <a:xfrm>
            <a:off x="269240" y="626624"/>
            <a:ext cx="10028700" cy="22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8275" rIns="0" bIns="0" anchor="t" anchorCtr="0">
            <a:spAutoFit/>
          </a:bodyPr>
          <a:lstStyle/>
          <a:p>
            <a:pPr marL="352932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Caractères spéciaux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23850" algn="l" rtl="0">
              <a:lnSpc>
                <a:spcPct val="107857"/>
              </a:lnSpc>
              <a:spcBef>
                <a:spcPts val="1355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Certains caractères ne sont pas acceptés en HTML. Ils peuvent être remplacés par des entités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Syntaxe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6"/>
          <p:cNvSpPr txBox="1"/>
          <p:nvPr/>
        </p:nvSpPr>
        <p:spPr>
          <a:xfrm>
            <a:off x="1104839" y="2868474"/>
            <a:ext cx="2174100" cy="6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&amp;numero_entite;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556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&amp;nom_entite;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6"/>
          <p:cNvSpPr txBox="1"/>
          <p:nvPr/>
        </p:nvSpPr>
        <p:spPr>
          <a:xfrm>
            <a:off x="232340" y="3685992"/>
            <a:ext cx="52476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01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Liste complète des entités HTML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1900" u="sng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https://dev.w3.org/html5/html-author/charref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0" name="Google Shape;620;p36"/>
          <p:cNvGraphicFramePr/>
          <p:nvPr/>
        </p:nvGraphicFramePr>
        <p:xfrm>
          <a:off x="6240589" y="215220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{47C756BD-769A-4933-AF03-410CCDEDF079}</a:tableStyleId>
              </a:tblPr>
              <a:tblGrid>
                <a:gridCol w="110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75">
                <a:tc>
                  <a:txBody>
                    <a:bodyPr/>
                    <a:lstStyle/>
                    <a:p>
                      <a:pPr marL="1530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Caractère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17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Entité avec le nom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17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835" marR="698500" lvl="0" indent="0" algn="l" rtl="0">
                        <a:lnSpc>
                          <a:spcPct val="1151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Entité avec le numéro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50800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425">
                <a:tc>
                  <a:txBody>
                    <a:bodyPr/>
                    <a:lstStyle/>
                    <a:p>
                      <a:pPr marL="1530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&amp;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17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&amp;amp;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17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&amp;#38;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17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425">
                <a:tc>
                  <a:txBody>
                    <a:bodyPr/>
                    <a:lstStyle/>
                    <a:p>
                      <a:pPr marL="1530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"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17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&amp;quot;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17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&amp;#34;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17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425">
                <a:tc>
                  <a:txBody>
                    <a:bodyPr/>
                    <a:lstStyle/>
                    <a:p>
                      <a:pPr marL="1530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'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82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&amp;apos;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82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&amp;#39;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82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425">
                <a:tc>
                  <a:txBody>
                    <a:bodyPr/>
                    <a:lstStyle/>
                    <a:p>
                      <a:pPr marL="1530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€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82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&amp;euro;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82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&amp;#8364;</a:t>
                      </a:r>
                      <a:endParaRPr sz="1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83825" marB="0">
                    <a:lnL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7"/>
          <p:cNvSpPr txBox="1">
            <a:spLocks noGrp="1"/>
          </p:cNvSpPr>
          <p:nvPr>
            <p:ph type="title"/>
          </p:nvPr>
        </p:nvSpPr>
        <p:spPr>
          <a:xfrm>
            <a:off x="4175252" y="2530551"/>
            <a:ext cx="35750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Textes et liens</a:t>
            </a:r>
            <a:endParaRPr sz="4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7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627" name="Google Shape;627;p37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8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633" name="Google Shape;633;p38"/>
          <p:cNvSpPr txBox="1"/>
          <p:nvPr/>
        </p:nvSpPr>
        <p:spPr>
          <a:xfrm>
            <a:off x="4638294" y="821512"/>
            <a:ext cx="291782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Paragraphes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4" name="Google Shape;63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4840" y="1895348"/>
            <a:ext cx="1866899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38"/>
          <p:cNvSpPr txBox="1"/>
          <p:nvPr/>
        </p:nvSpPr>
        <p:spPr>
          <a:xfrm>
            <a:off x="3120389" y="3318649"/>
            <a:ext cx="3000375" cy="246316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6350" rIns="0" bIns="0" anchor="t" anchorCtr="0">
            <a:spAutoFit/>
          </a:bodyPr>
          <a:lstStyle/>
          <a:p>
            <a:pPr marL="91440" marR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&lt;p&gt;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Lorem ipsum dolor sit amet, consectetur adipiscing elit. Vivamus bibendum quam sapien, lacinia tempus odio fermentum eu. In dictum feugiat dictum.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&lt;/p&gt;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" marR="21018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&lt;p&gt;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Morbi imperdiet turpis vel urna cursus, viverra varius quam hendrerit. Maecenas tempus viverra nisl id mattis. Nam vel mattis justo.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&lt;/p&gt;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6" name="Google Shape;636;p38"/>
          <p:cNvGrpSpPr/>
          <p:nvPr/>
        </p:nvGrpSpPr>
        <p:grpSpPr>
          <a:xfrm>
            <a:off x="6898131" y="3700653"/>
            <a:ext cx="2657475" cy="1771650"/>
            <a:chOff x="6898131" y="3700653"/>
            <a:chExt cx="2657475" cy="1771650"/>
          </a:xfrm>
        </p:grpSpPr>
        <p:pic>
          <p:nvPicPr>
            <p:cNvPr id="637" name="Google Shape;637;p3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941057" y="3752977"/>
              <a:ext cx="2571750" cy="1666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8" name="Google Shape;638;p38"/>
            <p:cNvSpPr/>
            <p:nvPr/>
          </p:nvSpPr>
          <p:spPr>
            <a:xfrm>
              <a:off x="6898131" y="3700653"/>
              <a:ext cx="2657475" cy="1771650"/>
            </a:xfrm>
            <a:custGeom>
              <a:avLst/>
              <a:gdLst/>
              <a:ahLst/>
              <a:cxnLst/>
              <a:rect l="l" t="t" r="r" b="b"/>
              <a:pathLst>
                <a:path w="2657475" h="1771650" extrusionOk="0">
                  <a:moveTo>
                    <a:pt x="0" y="1771650"/>
                  </a:moveTo>
                  <a:lnTo>
                    <a:pt x="2657475" y="1771650"/>
                  </a:lnTo>
                  <a:lnTo>
                    <a:pt x="2657475" y="0"/>
                  </a:lnTo>
                  <a:lnTo>
                    <a:pt x="0" y="0"/>
                  </a:lnTo>
                  <a:lnTo>
                    <a:pt x="0" y="1771650"/>
                  </a:lnTo>
                  <a:close/>
                </a:path>
              </a:pathLst>
            </a:custGeom>
            <a:noFill/>
            <a:ln w="9525" cap="flat" cmpd="sng">
              <a:solidFill>
                <a:srgbClr val="97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39" name="Google Shape;639;p38"/>
          <p:cNvSpPr txBox="1"/>
          <p:nvPr/>
        </p:nvSpPr>
        <p:spPr>
          <a:xfrm>
            <a:off x="357022" y="6073241"/>
            <a:ext cx="627189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* Le texte utilisé dans cet exemple est généré aléatoirement via : </a:t>
            </a:r>
            <a:r>
              <a:rPr lang="en-US" sz="1100" u="sng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https://www.lipsum.com/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8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641" name="Google Shape;641;p38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642" name="Google Shape;642;p38"/>
          <p:cNvSpPr txBox="1"/>
          <p:nvPr/>
        </p:nvSpPr>
        <p:spPr>
          <a:xfrm>
            <a:off x="251561" y="1666113"/>
            <a:ext cx="1757680" cy="148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689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2105"/>
              </a:spcBef>
              <a:spcAft>
                <a:spcPts val="0"/>
              </a:spcAft>
              <a:buSzPts val="2600"/>
              <a:buFont typeface="Calibri"/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9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648" name="Google Shape;648;p39"/>
          <p:cNvSpPr txBox="1"/>
          <p:nvPr/>
        </p:nvSpPr>
        <p:spPr>
          <a:xfrm>
            <a:off x="3426714" y="821512"/>
            <a:ext cx="533908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Opérations sur le texte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9"/>
          <p:cNvSpPr txBox="1"/>
          <p:nvPr/>
        </p:nvSpPr>
        <p:spPr>
          <a:xfrm>
            <a:off x="275945" y="1666113"/>
            <a:ext cx="164655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9"/>
          <p:cNvSpPr txBox="1"/>
          <p:nvPr/>
        </p:nvSpPr>
        <p:spPr>
          <a:xfrm>
            <a:off x="4778502" y="1678051"/>
            <a:ext cx="173545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9"/>
          <p:cNvSpPr/>
          <p:nvPr/>
        </p:nvSpPr>
        <p:spPr>
          <a:xfrm>
            <a:off x="4404486" y="1608327"/>
            <a:ext cx="6985" cy="4741545"/>
          </a:xfrm>
          <a:custGeom>
            <a:avLst/>
            <a:gdLst/>
            <a:ahLst/>
            <a:cxnLst/>
            <a:rect l="l" t="t" r="r" b="b"/>
            <a:pathLst>
              <a:path w="6985" h="4741545" extrusionOk="0">
                <a:moveTo>
                  <a:pt x="6858" y="0"/>
                </a:moveTo>
                <a:lnTo>
                  <a:pt x="0" y="4741468"/>
                </a:lnTo>
              </a:path>
            </a:pathLst>
          </a:custGeom>
          <a:noFill/>
          <a:ln w="952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652" name="Google Shape;65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134" y="2468064"/>
            <a:ext cx="2802020" cy="33499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3" name="Google Shape;653;p39"/>
          <p:cNvGrpSpPr/>
          <p:nvPr/>
        </p:nvGrpSpPr>
        <p:grpSpPr>
          <a:xfrm>
            <a:off x="6023201" y="3070860"/>
            <a:ext cx="4605428" cy="1930908"/>
            <a:chOff x="6023201" y="3070860"/>
            <a:chExt cx="4605428" cy="1930908"/>
          </a:xfrm>
        </p:grpSpPr>
        <p:pic>
          <p:nvPicPr>
            <p:cNvPr id="654" name="Google Shape;654;p3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23201" y="3070860"/>
              <a:ext cx="4605428" cy="1930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39"/>
            <p:cNvSpPr/>
            <p:nvPr/>
          </p:nvSpPr>
          <p:spPr>
            <a:xfrm>
              <a:off x="8882760" y="3202432"/>
              <a:ext cx="1665605" cy="1332230"/>
            </a:xfrm>
            <a:custGeom>
              <a:avLst/>
              <a:gdLst/>
              <a:ahLst/>
              <a:cxnLst/>
              <a:rect l="l" t="t" r="r" b="b"/>
              <a:pathLst>
                <a:path w="1665604" h="1332229" extrusionOk="0">
                  <a:moveTo>
                    <a:pt x="1224661" y="135508"/>
                  </a:moveTo>
                  <a:lnTo>
                    <a:pt x="1254755" y="67131"/>
                  </a:lnTo>
                  <a:lnTo>
                    <a:pt x="1289224" y="39703"/>
                  </a:lnTo>
                  <a:lnTo>
                    <a:pt x="1333843" y="18509"/>
                  </a:lnTo>
                  <a:lnTo>
                    <a:pt x="1386512" y="4843"/>
                  </a:lnTo>
                  <a:lnTo>
                    <a:pt x="1445133" y="0"/>
                  </a:lnTo>
                  <a:lnTo>
                    <a:pt x="1503753" y="4843"/>
                  </a:lnTo>
                  <a:lnTo>
                    <a:pt x="1556422" y="18509"/>
                  </a:lnTo>
                  <a:lnTo>
                    <a:pt x="1601041" y="39703"/>
                  </a:lnTo>
                  <a:lnTo>
                    <a:pt x="1635510" y="67131"/>
                  </a:lnTo>
                  <a:lnTo>
                    <a:pt x="1657731" y="99498"/>
                  </a:lnTo>
                  <a:lnTo>
                    <a:pt x="1665605" y="135508"/>
                  </a:lnTo>
                  <a:lnTo>
                    <a:pt x="1657731" y="171573"/>
                  </a:lnTo>
                  <a:lnTo>
                    <a:pt x="1635510" y="203976"/>
                  </a:lnTo>
                  <a:lnTo>
                    <a:pt x="1601041" y="231425"/>
                  </a:lnTo>
                  <a:lnTo>
                    <a:pt x="1556422" y="252631"/>
                  </a:lnTo>
                  <a:lnTo>
                    <a:pt x="1503753" y="266301"/>
                  </a:lnTo>
                  <a:lnTo>
                    <a:pt x="1445133" y="271144"/>
                  </a:lnTo>
                  <a:lnTo>
                    <a:pt x="1386512" y="266301"/>
                  </a:lnTo>
                  <a:lnTo>
                    <a:pt x="1333843" y="252631"/>
                  </a:lnTo>
                  <a:lnTo>
                    <a:pt x="1289224" y="231425"/>
                  </a:lnTo>
                  <a:lnTo>
                    <a:pt x="1254755" y="203976"/>
                  </a:lnTo>
                  <a:lnTo>
                    <a:pt x="1232534" y="171573"/>
                  </a:lnTo>
                  <a:lnTo>
                    <a:pt x="1224661" y="135508"/>
                  </a:lnTo>
                  <a:close/>
                </a:path>
                <a:path w="1665604" h="1332229" extrusionOk="0">
                  <a:moveTo>
                    <a:pt x="0" y="491489"/>
                  </a:moveTo>
                  <a:lnTo>
                    <a:pt x="30094" y="423022"/>
                  </a:lnTo>
                  <a:lnTo>
                    <a:pt x="64563" y="395573"/>
                  </a:lnTo>
                  <a:lnTo>
                    <a:pt x="109182" y="374367"/>
                  </a:lnTo>
                  <a:lnTo>
                    <a:pt x="161851" y="360697"/>
                  </a:lnTo>
                  <a:lnTo>
                    <a:pt x="220472" y="355853"/>
                  </a:lnTo>
                  <a:lnTo>
                    <a:pt x="279092" y="360697"/>
                  </a:lnTo>
                  <a:lnTo>
                    <a:pt x="331761" y="374367"/>
                  </a:lnTo>
                  <a:lnTo>
                    <a:pt x="376380" y="395573"/>
                  </a:lnTo>
                  <a:lnTo>
                    <a:pt x="410849" y="423022"/>
                  </a:lnTo>
                  <a:lnTo>
                    <a:pt x="433070" y="455425"/>
                  </a:lnTo>
                  <a:lnTo>
                    <a:pt x="440944" y="491489"/>
                  </a:lnTo>
                  <a:lnTo>
                    <a:pt x="433070" y="527554"/>
                  </a:lnTo>
                  <a:lnTo>
                    <a:pt x="410849" y="559957"/>
                  </a:lnTo>
                  <a:lnTo>
                    <a:pt x="376380" y="587406"/>
                  </a:lnTo>
                  <a:lnTo>
                    <a:pt x="331761" y="608612"/>
                  </a:lnTo>
                  <a:lnTo>
                    <a:pt x="279092" y="622282"/>
                  </a:lnTo>
                  <a:lnTo>
                    <a:pt x="220472" y="627125"/>
                  </a:lnTo>
                  <a:lnTo>
                    <a:pt x="161851" y="622282"/>
                  </a:lnTo>
                  <a:lnTo>
                    <a:pt x="109182" y="608612"/>
                  </a:lnTo>
                  <a:lnTo>
                    <a:pt x="64563" y="587406"/>
                  </a:lnTo>
                  <a:lnTo>
                    <a:pt x="30094" y="559957"/>
                  </a:lnTo>
                  <a:lnTo>
                    <a:pt x="7873" y="527554"/>
                  </a:lnTo>
                  <a:lnTo>
                    <a:pt x="0" y="491489"/>
                  </a:lnTo>
                  <a:close/>
                </a:path>
                <a:path w="1665604" h="1332229" extrusionOk="0">
                  <a:moveTo>
                    <a:pt x="0" y="833881"/>
                  </a:moveTo>
                  <a:lnTo>
                    <a:pt x="24407" y="781077"/>
                  </a:lnTo>
                  <a:lnTo>
                    <a:pt x="90963" y="737965"/>
                  </a:lnTo>
                  <a:lnTo>
                    <a:pt x="136921" y="721405"/>
                  </a:lnTo>
                  <a:lnTo>
                    <a:pt x="189666" y="708902"/>
                  </a:lnTo>
                  <a:lnTo>
                    <a:pt x="247947" y="701000"/>
                  </a:lnTo>
                  <a:lnTo>
                    <a:pt x="310515" y="698245"/>
                  </a:lnTo>
                  <a:lnTo>
                    <a:pt x="373082" y="701000"/>
                  </a:lnTo>
                  <a:lnTo>
                    <a:pt x="431363" y="708902"/>
                  </a:lnTo>
                  <a:lnTo>
                    <a:pt x="484108" y="721405"/>
                  </a:lnTo>
                  <a:lnTo>
                    <a:pt x="530066" y="737965"/>
                  </a:lnTo>
                  <a:lnTo>
                    <a:pt x="567987" y="758037"/>
                  </a:lnTo>
                  <a:lnTo>
                    <a:pt x="614719" y="806540"/>
                  </a:lnTo>
                  <a:lnTo>
                    <a:pt x="621030" y="833881"/>
                  </a:lnTo>
                  <a:lnTo>
                    <a:pt x="614719" y="861181"/>
                  </a:lnTo>
                  <a:lnTo>
                    <a:pt x="567987" y="909630"/>
                  </a:lnTo>
                  <a:lnTo>
                    <a:pt x="530066" y="929687"/>
                  </a:lnTo>
                  <a:lnTo>
                    <a:pt x="484108" y="946238"/>
                  </a:lnTo>
                  <a:lnTo>
                    <a:pt x="431363" y="958736"/>
                  </a:lnTo>
                  <a:lnTo>
                    <a:pt x="373082" y="966636"/>
                  </a:lnTo>
                  <a:lnTo>
                    <a:pt x="310515" y="969390"/>
                  </a:lnTo>
                  <a:lnTo>
                    <a:pt x="247947" y="966636"/>
                  </a:lnTo>
                  <a:lnTo>
                    <a:pt x="189666" y="958736"/>
                  </a:lnTo>
                  <a:lnTo>
                    <a:pt x="136921" y="946238"/>
                  </a:lnTo>
                  <a:lnTo>
                    <a:pt x="90963" y="929687"/>
                  </a:lnTo>
                  <a:lnTo>
                    <a:pt x="53042" y="909630"/>
                  </a:lnTo>
                  <a:lnTo>
                    <a:pt x="6310" y="861181"/>
                  </a:lnTo>
                  <a:lnTo>
                    <a:pt x="0" y="833881"/>
                  </a:lnTo>
                  <a:close/>
                </a:path>
                <a:path w="1665604" h="1332229" extrusionOk="0">
                  <a:moveTo>
                    <a:pt x="440944" y="1196466"/>
                  </a:moveTo>
                  <a:lnTo>
                    <a:pt x="463765" y="1149182"/>
                  </a:lnTo>
                  <a:lnTo>
                    <a:pt x="526733" y="1109122"/>
                  </a:lnTo>
                  <a:lnTo>
                    <a:pt x="570696" y="1092766"/>
                  </a:lnTo>
                  <a:lnTo>
                    <a:pt x="621603" y="1079372"/>
                  </a:lnTo>
                  <a:lnTo>
                    <a:pt x="678425" y="1069329"/>
                  </a:lnTo>
                  <a:lnTo>
                    <a:pt x="740130" y="1063019"/>
                  </a:lnTo>
                  <a:lnTo>
                    <a:pt x="805688" y="1060830"/>
                  </a:lnTo>
                  <a:lnTo>
                    <a:pt x="871207" y="1063019"/>
                  </a:lnTo>
                  <a:lnTo>
                    <a:pt x="932883" y="1069329"/>
                  </a:lnTo>
                  <a:lnTo>
                    <a:pt x="989682" y="1079372"/>
                  </a:lnTo>
                  <a:lnTo>
                    <a:pt x="1040574" y="1092766"/>
                  </a:lnTo>
                  <a:lnTo>
                    <a:pt x="1084526" y="1109122"/>
                  </a:lnTo>
                  <a:lnTo>
                    <a:pt x="1120506" y="1128056"/>
                  </a:lnTo>
                  <a:lnTo>
                    <a:pt x="1164427" y="1172114"/>
                  </a:lnTo>
                  <a:lnTo>
                    <a:pt x="1170305" y="1196466"/>
                  </a:lnTo>
                  <a:lnTo>
                    <a:pt x="1164427" y="1220853"/>
                  </a:lnTo>
                  <a:lnTo>
                    <a:pt x="1120506" y="1264934"/>
                  </a:lnTo>
                  <a:lnTo>
                    <a:pt x="1084526" y="1283863"/>
                  </a:lnTo>
                  <a:lnTo>
                    <a:pt x="1040574" y="1300209"/>
                  </a:lnTo>
                  <a:lnTo>
                    <a:pt x="989682" y="1313589"/>
                  </a:lnTo>
                  <a:lnTo>
                    <a:pt x="932883" y="1323619"/>
                  </a:lnTo>
                  <a:lnTo>
                    <a:pt x="871207" y="1329918"/>
                  </a:lnTo>
                  <a:lnTo>
                    <a:pt x="805688" y="1332102"/>
                  </a:lnTo>
                  <a:lnTo>
                    <a:pt x="740130" y="1329918"/>
                  </a:lnTo>
                  <a:lnTo>
                    <a:pt x="678425" y="1323619"/>
                  </a:lnTo>
                  <a:lnTo>
                    <a:pt x="621603" y="1313589"/>
                  </a:lnTo>
                  <a:lnTo>
                    <a:pt x="570696" y="1300209"/>
                  </a:lnTo>
                  <a:lnTo>
                    <a:pt x="526733" y="1283863"/>
                  </a:lnTo>
                  <a:lnTo>
                    <a:pt x="490746" y="1264934"/>
                  </a:lnTo>
                  <a:lnTo>
                    <a:pt x="446821" y="1220853"/>
                  </a:lnTo>
                  <a:lnTo>
                    <a:pt x="440944" y="1196466"/>
                  </a:lnTo>
                  <a:close/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656" name="Google Shape;656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784" y="5875424"/>
            <a:ext cx="3122922" cy="399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47073" y="5740196"/>
            <a:ext cx="1535049" cy="677443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9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659" name="Google Shape;659;p39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0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665" name="Google Shape;665;p40"/>
          <p:cNvSpPr txBox="1"/>
          <p:nvPr/>
        </p:nvSpPr>
        <p:spPr>
          <a:xfrm>
            <a:off x="4043934" y="821512"/>
            <a:ext cx="410210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Texte préformaté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0"/>
          <p:cNvSpPr txBox="1"/>
          <p:nvPr/>
        </p:nvSpPr>
        <p:spPr>
          <a:xfrm>
            <a:off x="251561" y="1666113"/>
            <a:ext cx="1757680" cy="148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689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2105"/>
              </a:spcBef>
              <a:spcAft>
                <a:spcPts val="0"/>
              </a:spcAft>
              <a:buSzPts val="2600"/>
              <a:buFont typeface="Calibri"/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7" name="Google Shape;66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5567" y="1912239"/>
            <a:ext cx="1733550" cy="61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8" name="Google Shape;668;p40"/>
          <p:cNvGrpSpPr/>
          <p:nvPr/>
        </p:nvGrpSpPr>
        <p:grpSpPr>
          <a:xfrm>
            <a:off x="510349" y="3455546"/>
            <a:ext cx="11261725" cy="2584357"/>
            <a:chOff x="510349" y="3455546"/>
            <a:chExt cx="11261725" cy="2584357"/>
          </a:xfrm>
        </p:grpSpPr>
        <p:pic>
          <p:nvPicPr>
            <p:cNvPr id="669" name="Google Shape;669;p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09756" y="3455546"/>
              <a:ext cx="4347026" cy="25843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0" name="Google Shape;670;p4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90183" y="3915663"/>
              <a:ext cx="5256530" cy="1501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40"/>
            <p:cNvSpPr/>
            <p:nvPr/>
          </p:nvSpPr>
          <p:spPr>
            <a:xfrm>
              <a:off x="510349" y="4822951"/>
              <a:ext cx="11261725" cy="0"/>
            </a:xfrm>
            <a:custGeom>
              <a:avLst/>
              <a:gdLst/>
              <a:ahLst/>
              <a:cxnLst/>
              <a:rect l="l" t="t" r="r" b="b"/>
              <a:pathLst>
                <a:path w="11261725" h="120000" extrusionOk="0">
                  <a:moveTo>
                    <a:pt x="0" y="0"/>
                  </a:moveTo>
                  <a:lnTo>
                    <a:pt x="11261407" y="0"/>
                  </a:lnTo>
                </a:path>
              </a:pathLst>
            </a:custGeom>
            <a:noFill/>
            <a:ln w="9525" cap="flat" cmpd="sng">
              <a:solidFill>
                <a:srgbClr val="97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72" name="Google Shape;672;p40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673" name="Google Shape;673;p40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1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679" name="Google Shape;679;p41"/>
          <p:cNvSpPr txBox="1"/>
          <p:nvPr/>
        </p:nvSpPr>
        <p:spPr>
          <a:xfrm>
            <a:off x="4065270" y="821512"/>
            <a:ext cx="406272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Titres de sections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0" name="Google Shape;68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71933" y="1870716"/>
            <a:ext cx="4755282" cy="439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60804" y="2501264"/>
            <a:ext cx="1771649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41"/>
          <p:cNvSpPr txBox="1"/>
          <p:nvPr/>
        </p:nvSpPr>
        <p:spPr>
          <a:xfrm>
            <a:off x="275945" y="1666113"/>
            <a:ext cx="164655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1"/>
          <p:cNvSpPr txBox="1"/>
          <p:nvPr/>
        </p:nvSpPr>
        <p:spPr>
          <a:xfrm>
            <a:off x="4778502" y="1678051"/>
            <a:ext cx="173545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1"/>
          <p:cNvSpPr/>
          <p:nvPr/>
        </p:nvSpPr>
        <p:spPr>
          <a:xfrm>
            <a:off x="4404486" y="1608327"/>
            <a:ext cx="6985" cy="4741545"/>
          </a:xfrm>
          <a:custGeom>
            <a:avLst/>
            <a:gdLst/>
            <a:ahLst/>
            <a:cxnLst/>
            <a:rect l="l" t="t" r="r" b="b"/>
            <a:pathLst>
              <a:path w="6985" h="4741545" extrusionOk="0">
                <a:moveTo>
                  <a:pt x="6858" y="0"/>
                </a:moveTo>
                <a:lnTo>
                  <a:pt x="0" y="4741468"/>
                </a:lnTo>
              </a:path>
            </a:pathLst>
          </a:custGeom>
          <a:noFill/>
          <a:ln w="952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85" name="Google Shape;685;p41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86" name="Google Shape;686;p41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692" name="Google Shape;692;p42"/>
          <p:cNvSpPr txBox="1"/>
          <p:nvPr/>
        </p:nvSpPr>
        <p:spPr>
          <a:xfrm>
            <a:off x="3864102" y="821512"/>
            <a:ext cx="446532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Lignes horizontales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3" name="Google Shape;69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4810" y="1820545"/>
            <a:ext cx="16287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891" y="3683196"/>
            <a:ext cx="5331477" cy="1107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07252" y="3371596"/>
            <a:ext cx="5984748" cy="181394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2"/>
          <p:cNvSpPr txBox="1"/>
          <p:nvPr/>
        </p:nvSpPr>
        <p:spPr>
          <a:xfrm>
            <a:off x="251561" y="1666113"/>
            <a:ext cx="1757680" cy="148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689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2105"/>
              </a:spcBef>
              <a:spcAft>
                <a:spcPts val="0"/>
              </a:spcAft>
              <a:buSzPts val="2600"/>
              <a:buFont typeface="Calibri"/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2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698" name="Google Shape;698;p42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3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04" name="Google Shape;704;p43"/>
          <p:cNvSpPr txBox="1"/>
          <p:nvPr/>
        </p:nvSpPr>
        <p:spPr>
          <a:xfrm>
            <a:off x="4193285" y="821512"/>
            <a:ext cx="380301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Retour à la ligne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3"/>
          <p:cNvSpPr txBox="1"/>
          <p:nvPr/>
        </p:nvSpPr>
        <p:spPr>
          <a:xfrm>
            <a:off x="251561" y="1666113"/>
            <a:ext cx="1757680" cy="148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689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2105"/>
              </a:spcBef>
              <a:spcAft>
                <a:spcPts val="0"/>
              </a:spcAft>
              <a:buSzPts val="2600"/>
              <a:buFont typeface="Calibri"/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6" name="Google Shape;70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9600" y="2060320"/>
            <a:ext cx="8858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4139" y="3427729"/>
            <a:ext cx="67532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57190" y="3961371"/>
            <a:ext cx="2505075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43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710" name="Google Shape;710;p43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4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16" name="Google Shape;716;p44"/>
          <p:cNvSpPr txBox="1"/>
          <p:nvPr/>
        </p:nvSpPr>
        <p:spPr>
          <a:xfrm>
            <a:off x="3595878" y="821512"/>
            <a:ext cx="500316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Listes non-ordonnées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4"/>
          <p:cNvSpPr txBox="1"/>
          <p:nvPr/>
        </p:nvSpPr>
        <p:spPr>
          <a:xfrm>
            <a:off x="275945" y="1666113"/>
            <a:ext cx="164655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4"/>
          <p:cNvSpPr txBox="1"/>
          <p:nvPr/>
        </p:nvSpPr>
        <p:spPr>
          <a:xfrm>
            <a:off x="251561" y="3068574"/>
            <a:ext cx="175768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9" name="Google Shape;71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778" y="1899332"/>
            <a:ext cx="2072668" cy="1050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6501" y="3940327"/>
            <a:ext cx="22764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4266" y="4074744"/>
            <a:ext cx="1647825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4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723" name="Google Shape;723;p44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5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29" name="Google Shape;729;p45"/>
          <p:cNvSpPr txBox="1"/>
          <p:nvPr/>
        </p:nvSpPr>
        <p:spPr>
          <a:xfrm>
            <a:off x="4130802" y="821512"/>
            <a:ext cx="393192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Listes ordonnées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5"/>
          <p:cNvSpPr txBox="1"/>
          <p:nvPr/>
        </p:nvSpPr>
        <p:spPr>
          <a:xfrm>
            <a:off x="275945" y="1666113"/>
            <a:ext cx="164655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5"/>
          <p:cNvSpPr txBox="1"/>
          <p:nvPr/>
        </p:nvSpPr>
        <p:spPr>
          <a:xfrm>
            <a:off x="251561" y="3068574"/>
            <a:ext cx="175768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2" name="Google Shape;73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7672" y="1888667"/>
            <a:ext cx="1949451" cy="107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124" y="4205592"/>
            <a:ext cx="555307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06768" y="4148454"/>
            <a:ext cx="462915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45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736" name="Google Shape;736;p45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42" name="Google Shape;742;p46"/>
          <p:cNvSpPr txBox="1"/>
          <p:nvPr/>
        </p:nvSpPr>
        <p:spPr>
          <a:xfrm>
            <a:off x="3986021" y="821512"/>
            <a:ext cx="422211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Listes descriptives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6"/>
          <p:cNvSpPr txBox="1"/>
          <p:nvPr/>
        </p:nvSpPr>
        <p:spPr>
          <a:xfrm>
            <a:off x="275945" y="1666113"/>
            <a:ext cx="164655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6"/>
          <p:cNvSpPr txBox="1"/>
          <p:nvPr/>
        </p:nvSpPr>
        <p:spPr>
          <a:xfrm>
            <a:off x="251561" y="3403853"/>
            <a:ext cx="175768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5" name="Google Shape;74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7071" y="1852615"/>
            <a:ext cx="2907452" cy="189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4732" y="3941133"/>
            <a:ext cx="4158644" cy="254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4433" y="3979265"/>
            <a:ext cx="4681220" cy="227723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6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749" name="Google Shape;749;p46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7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55" name="Google Shape;755;p47"/>
          <p:cNvSpPr txBox="1"/>
          <p:nvPr/>
        </p:nvSpPr>
        <p:spPr>
          <a:xfrm>
            <a:off x="3923157" y="821512"/>
            <a:ext cx="486727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Eléments génériques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7"/>
          <p:cNvSpPr txBox="1"/>
          <p:nvPr/>
        </p:nvSpPr>
        <p:spPr>
          <a:xfrm>
            <a:off x="275945" y="1666113"/>
            <a:ext cx="164655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7"/>
          <p:cNvSpPr txBox="1"/>
          <p:nvPr/>
        </p:nvSpPr>
        <p:spPr>
          <a:xfrm>
            <a:off x="251561" y="3403853"/>
            <a:ext cx="175768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8" name="Google Shape;75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7511" y="1945423"/>
            <a:ext cx="1953403" cy="117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6158" y="4196207"/>
            <a:ext cx="39528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04032" y="4263713"/>
            <a:ext cx="4391720" cy="1133118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47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762" name="Google Shape;762;p47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8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68" name="Google Shape;768;p48"/>
          <p:cNvSpPr txBox="1"/>
          <p:nvPr/>
        </p:nvSpPr>
        <p:spPr>
          <a:xfrm>
            <a:off x="2899029" y="520064"/>
            <a:ext cx="6910705" cy="130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t" anchorCtr="0">
            <a:spAutoFit/>
          </a:bodyPr>
          <a:lstStyle/>
          <a:p>
            <a:pPr marL="1149350" marR="5080" lvl="0" indent="-1137285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Organisation de la page web : Alternatives à &lt;div&gt;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9" name="Google Shape;76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2568" y="3723352"/>
            <a:ext cx="2672815" cy="1234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6509" y="3058487"/>
            <a:ext cx="2286956" cy="43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1958" y="3126265"/>
            <a:ext cx="2687392" cy="1390601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48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773" name="Google Shape;773;p48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9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79" name="Google Shape;779;p49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780" name="Google Shape;780;p49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81" name="Google Shape;781;p49"/>
          <p:cNvSpPr txBox="1"/>
          <p:nvPr/>
        </p:nvSpPr>
        <p:spPr>
          <a:xfrm>
            <a:off x="269240" y="1567942"/>
            <a:ext cx="171513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Syntaxe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9"/>
          <p:cNvSpPr txBox="1"/>
          <p:nvPr/>
        </p:nvSpPr>
        <p:spPr>
          <a:xfrm>
            <a:off x="4468495" y="591669"/>
            <a:ext cx="4323080" cy="141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3200" rIns="0" bIns="0" anchor="t" anchorCtr="0">
            <a:spAutoFit/>
          </a:bodyPr>
          <a:lstStyle/>
          <a:p>
            <a:pPr marL="10388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Liens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&lt;a href="url"&gt;Contenu du lien&lt;/a&gt;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0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88" name="Google Shape;788;p50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789" name="Google Shape;789;p50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90" name="Google Shape;790;p50"/>
          <p:cNvSpPr txBox="1"/>
          <p:nvPr/>
        </p:nvSpPr>
        <p:spPr>
          <a:xfrm>
            <a:off x="269240" y="1567942"/>
            <a:ext cx="17151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232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Syntaxe 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0"/>
          <p:cNvSpPr txBox="1"/>
          <p:nvPr/>
        </p:nvSpPr>
        <p:spPr>
          <a:xfrm>
            <a:off x="4468495" y="591669"/>
            <a:ext cx="4323080" cy="141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3200" rIns="0" bIns="0" anchor="t" anchorCtr="0">
            <a:spAutoFit/>
          </a:bodyPr>
          <a:lstStyle/>
          <a:p>
            <a:pPr marL="10388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Liens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&lt;a href="url"&gt;Contenu du lien&lt;/a&gt;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0"/>
          <p:cNvSpPr txBox="1"/>
          <p:nvPr/>
        </p:nvSpPr>
        <p:spPr>
          <a:xfrm>
            <a:off x="269240" y="1987367"/>
            <a:ext cx="103086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175" rIns="0" bIns="0" anchor="t" anchorCtr="0">
            <a:spAutoFit/>
          </a:bodyPr>
          <a:lstStyle/>
          <a:p>
            <a:pPr marL="354965" lvl="0" indent="-3232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Lien vers une page dans le web 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295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https://isen-nantes.fr/recherche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"&gt;ISEN-Nantes-rech&lt;/a&gt;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1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798" name="Google Shape;798;p51"/>
          <p:cNvSpPr txBox="1"/>
          <p:nvPr/>
        </p:nvSpPr>
        <p:spPr>
          <a:xfrm>
            <a:off x="269240" y="1567942"/>
            <a:ext cx="17151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232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Syntaxe 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1"/>
          <p:cNvSpPr txBox="1"/>
          <p:nvPr/>
        </p:nvSpPr>
        <p:spPr>
          <a:xfrm>
            <a:off x="4468495" y="591669"/>
            <a:ext cx="4323080" cy="141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3200" rIns="0" bIns="0" anchor="t" anchorCtr="0">
            <a:spAutoFit/>
          </a:bodyPr>
          <a:lstStyle/>
          <a:p>
            <a:pPr marL="10388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Liens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&lt;a href="url"&gt;Contenu du lien&lt;/a&gt;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51"/>
          <p:cNvSpPr txBox="1"/>
          <p:nvPr/>
        </p:nvSpPr>
        <p:spPr>
          <a:xfrm>
            <a:off x="269240" y="1987367"/>
            <a:ext cx="11712000" cy="2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175" rIns="0" bIns="0" anchor="t" anchorCtr="0">
            <a:spAutoFit/>
          </a:bodyPr>
          <a:lstStyle/>
          <a:p>
            <a:pPr marL="354965" lvl="0" indent="-3232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Lien vers une page dans le web 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29565" algn="l" rtl="0">
              <a:lnSpc>
                <a:spcPct val="117083"/>
              </a:lnSpc>
              <a:spcBef>
                <a:spcPts val="484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https://isen-nantes.fr/recherche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"&gt;ISEN-Nantes-rech&lt;/a&gt;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29565" algn="l" rtl="0">
              <a:lnSpc>
                <a:spcPct val="112777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Lien relatif (URL relative au chemin courant) vers une page web dans le serveur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29565" algn="l" rtl="0">
              <a:lnSpc>
                <a:spcPct val="108958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342900" marR="5967730" lvl="2" indent="-330200" algn="r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o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Accès à </a:t>
            </a:r>
            <a:r>
              <a:rPr lang="en-US" sz="2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file1.html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depuis 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marR="5934075" lvl="0" indent="0" algn="r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folder/file1.html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"&gt;lien&lt;/a&gt;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1" name="Google Shape;801;p51"/>
          <p:cNvGrpSpPr/>
          <p:nvPr/>
        </p:nvGrpSpPr>
        <p:grpSpPr>
          <a:xfrm>
            <a:off x="7222108" y="3719195"/>
            <a:ext cx="1626743" cy="2088261"/>
            <a:chOff x="7222108" y="3719195"/>
            <a:chExt cx="1626743" cy="2088261"/>
          </a:xfrm>
        </p:grpSpPr>
        <p:pic>
          <p:nvPicPr>
            <p:cNvPr id="802" name="Google Shape;802;p5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10373" y="3719195"/>
              <a:ext cx="1411477" cy="20882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3" name="Google Shape;803;p51"/>
            <p:cNvSpPr/>
            <p:nvPr/>
          </p:nvSpPr>
          <p:spPr>
            <a:xfrm>
              <a:off x="7222108" y="5556821"/>
              <a:ext cx="1588135" cy="215265"/>
            </a:xfrm>
            <a:custGeom>
              <a:avLst/>
              <a:gdLst/>
              <a:ahLst/>
              <a:cxnLst/>
              <a:rect l="l" t="t" r="r" b="b"/>
              <a:pathLst>
                <a:path w="1588134" h="215264" extrusionOk="0">
                  <a:moveTo>
                    <a:pt x="0" y="215099"/>
                  </a:moveTo>
                  <a:lnTo>
                    <a:pt x="1587880" y="215099"/>
                  </a:lnTo>
                  <a:lnTo>
                    <a:pt x="1587880" y="0"/>
                  </a:lnTo>
                  <a:lnTo>
                    <a:pt x="0" y="0"/>
                  </a:lnTo>
                  <a:lnTo>
                    <a:pt x="0" y="215099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4" name="Google Shape;804;p51"/>
            <p:cNvSpPr/>
            <p:nvPr/>
          </p:nvSpPr>
          <p:spPr>
            <a:xfrm>
              <a:off x="7260716" y="4325023"/>
              <a:ext cx="1588135" cy="215265"/>
            </a:xfrm>
            <a:custGeom>
              <a:avLst/>
              <a:gdLst/>
              <a:ahLst/>
              <a:cxnLst/>
              <a:rect l="l" t="t" r="r" b="b"/>
              <a:pathLst>
                <a:path w="1588134" h="215264" extrusionOk="0">
                  <a:moveTo>
                    <a:pt x="0" y="215099"/>
                  </a:moveTo>
                  <a:lnTo>
                    <a:pt x="1587880" y="215099"/>
                  </a:lnTo>
                  <a:lnTo>
                    <a:pt x="1587880" y="0"/>
                  </a:lnTo>
                  <a:lnTo>
                    <a:pt x="0" y="0"/>
                  </a:lnTo>
                  <a:lnTo>
                    <a:pt x="0" y="215099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05" name="Google Shape;805;p51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806" name="Google Shape;806;p51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2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812" name="Google Shape;812;p52"/>
          <p:cNvSpPr txBox="1"/>
          <p:nvPr/>
        </p:nvSpPr>
        <p:spPr>
          <a:xfrm>
            <a:off x="269240" y="1567942"/>
            <a:ext cx="17151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Syntaxe 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52"/>
          <p:cNvSpPr txBox="1"/>
          <p:nvPr/>
        </p:nvSpPr>
        <p:spPr>
          <a:xfrm>
            <a:off x="4468495" y="591669"/>
            <a:ext cx="4323080" cy="141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3200" rIns="0" bIns="0" anchor="t" anchorCtr="0">
            <a:spAutoFit/>
          </a:bodyPr>
          <a:lstStyle/>
          <a:p>
            <a:pPr marL="10388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Liens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&lt;a href="url"&gt;Contenu du lien&lt;/a&gt;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2"/>
          <p:cNvSpPr txBox="1"/>
          <p:nvPr/>
        </p:nvSpPr>
        <p:spPr>
          <a:xfrm>
            <a:off x="269240" y="1987367"/>
            <a:ext cx="11712000" cy="3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175" rIns="0" bIns="0" anchor="t" anchorCtr="0">
            <a:spAutoFit/>
          </a:bodyPr>
          <a:lstStyle/>
          <a:p>
            <a:pPr marL="354965" lvl="0" indent="-3232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Lien vers une page dans le web 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29565" algn="l" rtl="0">
              <a:lnSpc>
                <a:spcPct val="117083"/>
              </a:lnSpc>
              <a:spcBef>
                <a:spcPts val="484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https://isen-nantes.fr/recherche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"&gt;ISEN-Nantes-rech&lt;/a&gt;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29565" algn="l" rtl="0">
              <a:lnSpc>
                <a:spcPct val="112777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Lien relatif (URL relative au chemin courant) vers une page web dans le serveur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29565" algn="l" rtl="0">
              <a:lnSpc>
                <a:spcPct val="108958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3020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o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Accès à file1.html depuis index.html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927100" lvl="0" indent="34290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folder/file1.html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"&gt;lien&lt;/a&gt;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30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o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Accès à </a:t>
            </a:r>
            <a:r>
              <a:rPr lang="en-US" sz="2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index.html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depuis 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file2.html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270000" lvl="0" indent="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"&gt;lien&lt;/a&gt;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5" name="Google Shape;815;p52"/>
          <p:cNvGrpSpPr/>
          <p:nvPr/>
        </p:nvGrpSpPr>
        <p:grpSpPr>
          <a:xfrm>
            <a:off x="7234173" y="3719195"/>
            <a:ext cx="1601978" cy="2088261"/>
            <a:chOff x="7234173" y="3719195"/>
            <a:chExt cx="1601978" cy="2088261"/>
          </a:xfrm>
        </p:grpSpPr>
        <p:pic>
          <p:nvPicPr>
            <p:cNvPr id="816" name="Google Shape;816;p5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10373" y="3719195"/>
              <a:ext cx="1411477" cy="20882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52"/>
            <p:cNvSpPr/>
            <p:nvPr/>
          </p:nvSpPr>
          <p:spPr>
            <a:xfrm>
              <a:off x="7248016" y="5564975"/>
              <a:ext cx="1588135" cy="215265"/>
            </a:xfrm>
            <a:custGeom>
              <a:avLst/>
              <a:gdLst/>
              <a:ahLst/>
              <a:cxnLst/>
              <a:rect l="l" t="t" r="r" b="b"/>
              <a:pathLst>
                <a:path w="1588134" h="215264" extrusionOk="0">
                  <a:moveTo>
                    <a:pt x="0" y="215099"/>
                  </a:moveTo>
                  <a:lnTo>
                    <a:pt x="1587880" y="215099"/>
                  </a:lnTo>
                  <a:lnTo>
                    <a:pt x="1587880" y="0"/>
                  </a:lnTo>
                  <a:lnTo>
                    <a:pt x="0" y="0"/>
                  </a:lnTo>
                  <a:lnTo>
                    <a:pt x="0" y="215099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8" name="Google Shape;818;p52"/>
            <p:cNvSpPr/>
            <p:nvPr/>
          </p:nvSpPr>
          <p:spPr>
            <a:xfrm>
              <a:off x="7234173" y="5247297"/>
              <a:ext cx="1588135" cy="215265"/>
            </a:xfrm>
            <a:custGeom>
              <a:avLst/>
              <a:gdLst/>
              <a:ahLst/>
              <a:cxnLst/>
              <a:rect l="l" t="t" r="r" b="b"/>
              <a:pathLst>
                <a:path w="1588134" h="215264" extrusionOk="0">
                  <a:moveTo>
                    <a:pt x="0" y="215099"/>
                  </a:moveTo>
                  <a:lnTo>
                    <a:pt x="1587880" y="215099"/>
                  </a:lnTo>
                  <a:lnTo>
                    <a:pt x="1587880" y="0"/>
                  </a:lnTo>
                  <a:lnTo>
                    <a:pt x="0" y="0"/>
                  </a:lnTo>
                  <a:lnTo>
                    <a:pt x="0" y="215099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19" name="Google Shape;819;p52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820" name="Google Shape;820;p52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3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826" name="Google Shape;826;p53"/>
          <p:cNvSpPr txBox="1"/>
          <p:nvPr/>
        </p:nvSpPr>
        <p:spPr>
          <a:xfrm>
            <a:off x="269240" y="1567942"/>
            <a:ext cx="17151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295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Syntaxe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3"/>
          <p:cNvSpPr txBox="1"/>
          <p:nvPr/>
        </p:nvSpPr>
        <p:spPr>
          <a:xfrm>
            <a:off x="4468495" y="591669"/>
            <a:ext cx="4323080" cy="141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3200" rIns="0" bIns="0" anchor="t" anchorCtr="0">
            <a:spAutoFit/>
          </a:bodyPr>
          <a:lstStyle/>
          <a:p>
            <a:pPr marL="10388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Liens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&lt;a href="url"&gt;Contenu du lien&lt;/a&gt;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53"/>
          <p:cNvSpPr txBox="1"/>
          <p:nvPr/>
        </p:nvSpPr>
        <p:spPr>
          <a:xfrm>
            <a:off x="269240" y="1987367"/>
            <a:ext cx="11712000" cy="3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175" rIns="0" bIns="0" anchor="t" anchorCtr="0">
            <a:spAutoFit/>
          </a:bodyPr>
          <a:lstStyle/>
          <a:p>
            <a:pPr marL="354965" lvl="0" indent="-3232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Lien vers une page dans le web 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29565" algn="l" rtl="0">
              <a:lnSpc>
                <a:spcPct val="117083"/>
              </a:lnSpc>
              <a:spcBef>
                <a:spcPts val="484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https://isen-nantes.fr/recherche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"&gt;ISEN-Nantes-rech&lt;/a&gt;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29565" algn="l" rtl="0">
              <a:lnSpc>
                <a:spcPct val="112777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Lien relatif (URL relative au chemin courant) vers une page web dans le serveur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29565" algn="l" rtl="0">
              <a:lnSpc>
                <a:spcPct val="108958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3020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o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Accès à file1.html depuis index.html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927100" lvl="0" indent="34290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folder/file1.html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"&gt;lien&lt;/a&gt;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30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o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Accès à index.html depuis file2.html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27000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"&gt;lien&lt;/a&gt;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30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o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Accès à </a:t>
            </a:r>
            <a:r>
              <a:rPr lang="en-US" sz="2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index.html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depuis 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file1.html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270000" lvl="0" indent="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../index.html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"&gt;lien&lt;/a&gt;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9" name="Google Shape;829;p53"/>
          <p:cNvGrpSpPr/>
          <p:nvPr/>
        </p:nvGrpSpPr>
        <p:grpSpPr>
          <a:xfrm>
            <a:off x="7248017" y="3719195"/>
            <a:ext cx="1588135" cy="2088261"/>
            <a:chOff x="7248017" y="3719195"/>
            <a:chExt cx="1588135" cy="2088261"/>
          </a:xfrm>
        </p:grpSpPr>
        <p:pic>
          <p:nvPicPr>
            <p:cNvPr id="830" name="Google Shape;830;p5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10374" y="3719195"/>
              <a:ext cx="1411477" cy="20882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53"/>
            <p:cNvSpPr/>
            <p:nvPr/>
          </p:nvSpPr>
          <p:spPr>
            <a:xfrm>
              <a:off x="7248017" y="5564975"/>
              <a:ext cx="1588135" cy="215265"/>
            </a:xfrm>
            <a:custGeom>
              <a:avLst/>
              <a:gdLst/>
              <a:ahLst/>
              <a:cxnLst/>
              <a:rect l="l" t="t" r="r" b="b"/>
              <a:pathLst>
                <a:path w="1588134" h="215264" extrusionOk="0">
                  <a:moveTo>
                    <a:pt x="0" y="215099"/>
                  </a:moveTo>
                  <a:lnTo>
                    <a:pt x="1587880" y="215099"/>
                  </a:lnTo>
                  <a:lnTo>
                    <a:pt x="1587880" y="0"/>
                  </a:lnTo>
                  <a:lnTo>
                    <a:pt x="0" y="0"/>
                  </a:lnTo>
                  <a:lnTo>
                    <a:pt x="0" y="215099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2" name="Google Shape;832;p53"/>
            <p:cNvSpPr/>
            <p:nvPr/>
          </p:nvSpPr>
          <p:spPr>
            <a:xfrm>
              <a:off x="7248017" y="4312831"/>
              <a:ext cx="1588135" cy="215265"/>
            </a:xfrm>
            <a:custGeom>
              <a:avLst/>
              <a:gdLst/>
              <a:ahLst/>
              <a:cxnLst/>
              <a:rect l="l" t="t" r="r" b="b"/>
              <a:pathLst>
                <a:path w="1588134" h="215264" extrusionOk="0">
                  <a:moveTo>
                    <a:pt x="0" y="215099"/>
                  </a:moveTo>
                  <a:lnTo>
                    <a:pt x="1587880" y="215099"/>
                  </a:lnTo>
                  <a:lnTo>
                    <a:pt x="1587880" y="0"/>
                  </a:lnTo>
                  <a:lnTo>
                    <a:pt x="0" y="0"/>
                  </a:lnTo>
                  <a:lnTo>
                    <a:pt x="0" y="215099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33" name="Google Shape;833;p53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834" name="Google Shape;834;p53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4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54"/>
          <p:cNvSpPr txBox="1">
            <a:spLocks noGrp="1"/>
          </p:cNvSpPr>
          <p:nvPr>
            <p:ph type="title"/>
          </p:nvPr>
        </p:nvSpPr>
        <p:spPr>
          <a:xfrm>
            <a:off x="5198109" y="340817"/>
            <a:ext cx="120523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Liens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4"/>
          <p:cNvSpPr txBox="1"/>
          <p:nvPr/>
        </p:nvSpPr>
        <p:spPr>
          <a:xfrm>
            <a:off x="231140" y="1290904"/>
            <a:ext cx="17151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232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Syntaxe 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4"/>
          <p:cNvSpPr txBox="1"/>
          <p:nvPr/>
        </p:nvSpPr>
        <p:spPr>
          <a:xfrm>
            <a:off x="4430395" y="1341501"/>
            <a:ext cx="432308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&lt;a href="url"&gt;Contenu du lien&lt;/a&gt;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4"/>
          <p:cNvSpPr txBox="1"/>
          <p:nvPr/>
        </p:nvSpPr>
        <p:spPr>
          <a:xfrm>
            <a:off x="193039" y="1710589"/>
            <a:ext cx="11750100" cy="46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800" rIns="0" bIns="0" anchor="t" anchorCtr="0">
            <a:spAutoFit/>
          </a:bodyPr>
          <a:lstStyle/>
          <a:p>
            <a:pPr marL="393065" lvl="0" indent="-3232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Lien vers une page dans le web 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850264" lvl="1" indent="-329564" algn="l" rtl="0">
              <a:lnSpc>
                <a:spcPct val="117083"/>
              </a:lnSpc>
              <a:spcBef>
                <a:spcPts val="484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https://isen-nantes.fr/recherche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"&gt;ISEN-Nantes-rech&lt;/a&gt;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393065" lvl="0" indent="-329565" algn="l" rtl="0">
              <a:lnSpc>
                <a:spcPct val="112592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▪"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Lien relatif (URL relative au chemin courant) vers une page web dans le serveur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850264" lvl="1" indent="-329564" algn="l" rtl="0">
              <a:lnSpc>
                <a:spcPct val="108958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308100" lvl="2" indent="-330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o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Accès à file1.html depuis index.html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965200" lvl="0" indent="3429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folder/file1.html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"&gt;lien&lt;/a&gt;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308100" lvl="2" indent="-330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o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Accès à index.html depuis file2.html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308100" lvl="0" indent="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"&gt;lien&lt;/a&gt;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308100" lvl="2" indent="-33020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o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Accès à index.html depuis file1.html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130810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../index.html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"&gt;lien&lt;/a&gt;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393065" lvl="0" indent="-367665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▪"/>
            </a:pP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Lien root-relatif (URL relative à partir de la racine) vers une page web dans le serveur :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850264" lvl="1" indent="-329564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/code_cours/folder/file1.html</a:t>
            </a:r>
            <a:r>
              <a:rPr lang="en-US" sz="22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"&gt;linked content&lt;/a&gt;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4" name="Google Shape;844;p54"/>
          <p:cNvGrpSpPr/>
          <p:nvPr/>
        </p:nvGrpSpPr>
        <p:grpSpPr>
          <a:xfrm>
            <a:off x="9854056" y="3495294"/>
            <a:ext cx="1588135" cy="2088260"/>
            <a:chOff x="9854056" y="3495294"/>
            <a:chExt cx="1588135" cy="2088260"/>
          </a:xfrm>
        </p:grpSpPr>
        <p:pic>
          <p:nvPicPr>
            <p:cNvPr id="845" name="Google Shape;845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42321" y="3495294"/>
              <a:ext cx="1411477" cy="20882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6" name="Google Shape;846;p54"/>
            <p:cNvSpPr/>
            <p:nvPr/>
          </p:nvSpPr>
          <p:spPr>
            <a:xfrm>
              <a:off x="9854056" y="4103535"/>
              <a:ext cx="1588135" cy="215265"/>
            </a:xfrm>
            <a:custGeom>
              <a:avLst/>
              <a:gdLst/>
              <a:ahLst/>
              <a:cxnLst/>
              <a:rect l="l" t="t" r="r" b="b"/>
              <a:pathLst>
                <a:path w="1588134" h="215264" extrusionOk="0">
                  <a:moveTo>
                    <a:pt x="0" y="215099"/>
                  </a:moveTo>
                  <a:lnTo>
                    <a:pt x="1587880" y="215099"/>
                  </a:lnTo>
                  <a:lnTo>
                    <a:pt x="1587880" y="0"/>
                  </a:lnTo>
                  <a:lnTo>
                    <a:pt x="0" y="0"/>
                  </a:lnTo>
                  <a:lnTo>
                    <a:pt x="0" y="215099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47" name="Google Shape;847;p54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848" name="Google Shape;848;p54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5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854" name="Google Shape;854;p55"/>
          <p:cNvSpPr txBox="1"/>
          <p:nvPr/>
        </p:nvSpPr>
        <p:spPr>
          <a:xfrm>
            <a:off x="269240" y="703480"/>
            <a:ext cx="8114665" cy="287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1425" rIns="0" bIns="0" anchor="t" anchorCtr="0">
            <a:spAutoFit/>
          </a:bodyPr>
          <a:lstStyle/>
          <a:p>
            <a:pPr marL="5238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Liens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Lien vers un élément dans le même document 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Étape 1 : Identification de la destination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&lt;h2 </a:t>
            </a: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id="id2"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&gt;texte&lt;/h2&gt;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Étape 2 : Lien vers la destination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</a:t>
            </a: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href="#id2"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&gt;lien&lt;/a&gt;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5" name="Google Shape;855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9380" y="2304669"/>
            <a:ext cx="2016632" cy="298361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55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857" name="Google Shape;857;p55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6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6"/>
          <p:cNvSpPr txBox="1">
            <a:spLocks noGrp="1"/>
          </p:cNvSpPr>
          <p:nvPr>
            <p:ph type="title"/>
          </p:nvPr>
        </p:nvSpPr>
        <p:spPr>
          <a:xfrm>
            <a:off x="5495035" y="821512"/>
            <a:ext cx="120523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Liens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6"/>
          <p:cNvSpPr txBox="1"/>
          <p:nvPr/>
        </p:nvSpPr>
        <p:spPr>
          <a:xfrm>
            <a:off x="269240" y="1496214"/>
            <a:ext cx="8114665" cy="4605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8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Lien vers un élément dans le même document 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Étape 1 : Identification de la destination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&lt;h2 </a:t>
            </a: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id="id2"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&gt;texte&lt;/h2&gt;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Étape 2 : Lien vers la destination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</a:t>
            </a: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href="#id2"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&gt;lien&lt;/a&gt;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2" indent="0" algn="l" rtl="0">
              <a:lnSpc>
                <a:spcPct val="100000"/>
              </a:lnSpc>
              <a:spcBef>
                <a:spcPts val="1810"/>
              </a:spcBef>
              <a:spcAft>
                <a:spcPts val="0"/>
              </a:spcAft>
              <a:buSzPts val="2000"/>
              <a:buFont typeface="Courier New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Lien vers un élément dans un autre document 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Étape 1 : Identification de la destination dans file2.html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&lt;h2 </a:t>
            </a: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id="id2"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&gt;H&lt;/h2&gt;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Étape 2 : Lien vers la destination depuis index.html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Exemple : 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</a:t>
            </a: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href="file2.html#id2"</a:t>
            </a:r>
            <a:r>
              <a:rPr lang="en-US" sz="20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&gt;lien&lt;/a&gt;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5" name="Google Shape;86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9380" y="2304669"/>
            <a:ext cx="2016632" cy="298361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56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867" name="Google Shape;867;p56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7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57"/>
          <p:cNvSpPr txBox="1">
            <a:spLocks noGrp="1"/>
          </p:cNvSpPr>
          <p:nvPr>
            <p:ph type="title"/>
          </p:nvPr>
        </p:nvSpPr>
        <p:spPr>
          <a:xfrm>
            <a:off x="5495035" y="821512"/>
            <a:ext cx="120523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Liens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7"/>
          <p:cNvSpPr txBox="1"/>
          <p:nvPr/>
        </p:nvSpPr>
        <p:spPr>
          <a:xfrm>
            <a:off x="269240" y="1496214"/>
            <a:ext cx="1153541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8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Ouverture d'un lien dans un nouvel onglet dans le navigateur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Syntaxe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href="url" target="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_blank</a:t>
            </a: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"&gt;lien&lt;/a&gt;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Lien vers un mail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Syntaxe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4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mailto:name@example.com</a:t>
            </a: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"&gt;Mail&lt;/a&gt;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Lien vers un téléphone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Syntaxe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&lt;a href="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tel:+01-800-555-1212</a:t>
            </a: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"&gt;Tel&lt;/a&gt;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2900" algn="l" rtl="0">
              <a:lnSpc>
                <a:spcPct val="137857"/>
              </a:lnSpc>
              <a:spcBef>
                <a:spcPts val="5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Les liens sont souvent utilisés pour créer des menus à l'intérieur de la balise sémantique &lt;nav&gt;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5" name="Google Shape;875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4009" y="5437174"/>
            <a:ext cx="20383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7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877" name="Google Shape;877;p57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8"/>
          <p:cNvSpPr txBox="1">
            <a:spLocks noGrp="1"/>
          </p:cNvSpPr>
          <p:nvPr>
            <p:ph type="title"/>
          </p:nvPr>
        </p:nvSpPr>
        <p:spPr>
          <a:xfrm>
            <a:off x="4175252" y="2530551"/>
            <a:ext cx="298196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Formulaires</a:t>
            </a:r>
            <a:endParaRPr sz="4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58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884" name="Google Shape;884;p58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9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890" name="Google Shape;890;p59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891" name="Google Shape;891;p59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892" name="Google Shape;892;p59"/>
          <p:cNvSpPr txBox="1"/>
          <p:nvPr/>
        </p:nvSpPr>
        <p:spPr>
          <a:xfrm>
            <a:off x="294843" y="1666443"/>
            <a:ext cx="2994025" cy="422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	générale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59"/>
          <p:cNvSpPr txBox="1"/>
          <p:nvPr/>
        </p:nvSpPr>
        <p:spPr>
          <a:xfrm>
            <a:off x="3850640" y="821512"/>
            <a:ext cx="7029450" cy="117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8642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Formulaires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&lt;form action="..." method="..."&gt; </a:t>
            </a:r>
            <a:r>
              <a:rPr lang="en-US" sz="1600" i="1">
                <a:latin typeface="Consolas"/>
                <a:ea typeface="Consolas"/>
                <a:cs typeface="Consolas"/>
                <a:sym typeface="Consolas"/>
              </a:rPr>
              <a:t>Eléments de formulaire </a:t>
            </a: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60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899" name="Google Shape;899;p60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900" name="Google Shape;900;p60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901" name="Google Shape;901;p60"/>
          <p:cNvSpPr txBox="1"/>
          <p:nvPr/>
        </p:nvSpPr>
        <p:spPr>
          <a:xfrm>
            <a:off x="275945" y="1666113"/>
            <a:ext cx="29934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générale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60"/>
          <p:cNvSpPr txBox="1"/>
          <p:nvPr/>
        </p:nvSpPr>
        <p:spPr>
          <a:xfrm>
            <a:off x="708761" y="2062352"/>
            <a:ext cx="101739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marR="508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○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L'attribut	action 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le contenu de cet attribut est l'URL du programme qui traitera les informations soumises par le formulaire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60"/>
          <p:cNvSpPr txBox="1"/>
          <p:nvPr/>
        </p:nvSpPr>
        <p:spPr>
          <a:xfrm>
            <a:off x="3850640" y="821512"/>
            <a:ext cx="7029450" cy="117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8642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Formulaires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&lt;form action="..." method="..."&gt; </a:t>
            </a:r>
            <a:r>
              <a:rPr lang="en-US" sz="1600" i="1">
                <a:latin typeface="Consolas"/>
                <a:ea typeface="Consolas"/>
                <a:cs typeface="Consolas"/>
                <a:sym typeface="Consolas"/>
              </a:rPr>
              <a:t>Eléments de formulaire </a:t>
            </a: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8" name="Google Shape;908;p61"/>
          <p:cNvGrpSpPr/>
          <p:nvPr/>
        </p:nvGrpSpPr>
        <p:grpSpPr>
          <a:xfrm>
            <a:off x="5311140" y="5047348"/>
            <a:ext cx="1657350" cy="1381988"/>
            <a:chOff x="5311140" y="5047348"/>
            <a:chExt cx="1657350" cy="1381988"/>
          </a:xfrm>
        </p:grpSpPr>
        <p:pic>
          <p:nvPicPr>
            <p:cNvPr id="909" name="Google Shape;909;p6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11140" y="5047348"/>
              <a:ext cx="1657350" cy="12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61"/>
            <p:cNvSpPr/>
            <p:nvPr/>
          </p:nvSpPr>
          <p:spPr>
            <a:xfrm>
              <a:off x="5840095" y="6245821"/>
              <a:ext cx="571500" cy="183515"/>
            </a:xfrm>
            <a:custGeom>
              <a:avLst/>
              <a:gdLst/>
              <a:ahLst/>
              <a:cxnLst/>
              <a:rect l="l" t="t" r="r" b="b"/>
              <a:pathLst>
                <a:path w="571500" h="183514" extrusionOk="0">
                  <a:moveTo>
                    <a:pt x="74528" y="32048"/>
                  </a:moveTo>
                  <a:lnTo>
                    <a:pt x="71906" y="41218"/>
                  </a:lnTo>
                  <a:lnTo>
                    <a:pt x="568325" y="182905"/>
                  </a:lnTo>
                  <a:lnTo>
                    <a:pt x="570991" y="173748"/>
                  </a:lnTo>
                  <a:lnTo>
                    <a:pt x="74528" y="32048"/>
                  </a:lnTo>
                  <a:close/>
                </a:path>
                <a:path w="571500" h="183514" extrusionOk="0">
                  <a:moveTo>
                    <a:pt x="83692" y="0"/>
                  </a:moveTo>
                  <a:lnTo>
                    <a:pt x="0" y="15722"/>
                  </a:lnTo>
                  <a:lnTo>
                    <a:pt x="62737" y="73278"/>
                  </a:lnTo>
                  <a:lnTo>
                    <a:pt x="71906" y="41218"/>
                  </a:lnTo>
                  <a:lnTo>
                    <a:pt x="59689" y="37731"/>
                  </a:lnTo>
                  <a:lnTo>
                    <a:pt x="62356" y="28574"/>
                  </a:lnTo>
                  <a:lnTo>
                    <a:pt x="75521" y="28574"/>
                  </a:lnTo>
                  <a:lnTo>
                    <a:pt x="83692" y="0"/>
                  </a:lnTo>
                  <a:close/>
                </a:path>
                <a:path w="571500" h="183514" extrusionOk="0">
                  <a:moveTo>
                    <a:pt x="62356" y="28574"/>
                  </a:moveTo>
                  <a:lnTo>
                    <a:pt x="59689" y="37731"/>
                  </a:lnTo>
                  <a:lnTo>
                    <a:pt x="71906" y="41218"/>
                  </a:lnTo>
                  <a:lnTo>
                    <a:pt x="74528" y="32048"/>
                  </a:lnTo>
                  <a:lnTo>
                    <a:pt x="62356" y="28574"/>
                  </a:lnTo>
                  <a:close/>
                </a:path>
                <a:path w="571500" h="183514" extrusionOk="0">
                  <a:moveTo>
                    <a:pt x="75521" y="28574"/>
                  </a:moveTo>
                  <a:lnTo>
                    <a:pt x="62356" y="28574"/>
                  </a:lnTo>
                  <a:lnTo>
                    <a:pt x="74528" y="32048"/>
                  </a:lnTo>
                  <a:lnTo>
                    <a:pt x="75521" y="28574"/>
                  </a:lnTo>
                  <a:close/>
                </a:path>
              </a:pathLst>
            </a:custGeom>
            <a:solidFill>
              <a:srgbClr val="97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911" name="Google Shape;911;p61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912" name="Google Shape;912;p61"/>
          <p:cNvSpPr txBox="1"/>
          <p:nvPr/>
        </p:nvSpPr>
        <p:spPr>
          <a:xfrm>
            <a:off x="275945" y="1666113"/>
            <a:ext cx="29934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générale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61"/>
          <p:cNvSpPr txBox="1"/>
          <p:nvPr/>
        </p:nvSpPr>
        <p:spPr>
          <a:xfrm>
            <a:off x="708761" y="2062352"/>
            <a:ext cx="11035665" cy="228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marR="866775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○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L'attribut	action 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le contenu de cet attribut est l'URL du programme qui traitera les informations soumises par le formulaire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05765" marR="522605" lvl="0" indent="-3689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L'attribut method 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le contenu de cet attribut est la méthode HTTP qui sera utilisée pour envoyer les données au serveur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862964" marR="5080" lvl="1" indent="-368934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SzPts val="2200"/>
              <a:buFont typeface="Arial"/>
              <a:buChar char="■"/>
            </a:pP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GET :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les données du formulaires sont ajoutées à l'URL de l'attribut action avec '?' comme séparateur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61"/>
          <p:cNvSpPr txBox="1"/>
          <p:nvPr/>
        </p:nvSpPr>
        <p:spPr>
          <a:xfrm>
            <a:off x="251561" y="4989067"/>
            <a:ext cx="3596640" cy="135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193675" lvl="0" indent="0" algn="l" rtl="0">
              <a:lnSpc>
                <a:spcPct val="100000"/>
              </a:lnSpc>
              <a:spcBef>
                <a:spcPts val="19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&lt;form action="page1.html" method="</a:t>
            </a:r>
            <a:r>
              <a:rPr lang="en-US" sz="1700" b="1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936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…...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936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&lt;/form&gt;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61"/>
          <p:cNvSpPr txBox="1"/>
          <p:nvPr/>
        </p:nvSpPr>
        <p:spPr>
          <a:xfrm>
            <a:off x="3850640" y="821512"/>
            <a:ext cx="7029450" cy="117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8642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Formulaires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&lt;form action="..." method="..."&gt; </a:t>
            </a:r>
            <a:r>
              <a:rPr lang="en-US" sz="1600" i="1">
                <a:latin typeface="Consolas"/>
                <a:ea typeface="Consolas"/>
                <a:cs typeface="Consolas"/>
                <a:sym typeface="Consolas"/>
              </a:rPr>
              <a:t>Eléments de formulaire </a:t>
            </a: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6" name="Google Shape;916;p61"/>
          <p:cNvSpPr txBox="1"/>
          <p:nvPr/>
        </p:nvSpPr>
        <p:spPr>
          <a:xfrm>
            <a:off x="8002905" y="5564225"/>
            <a:ext cx="3268345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page1.html/?fname=pr1&amp;lname=n1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7" name="Google Shape;917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1709" y="5370664"/>
            <a:ext cx="591604" cy="591604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61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919" name="Google Shape;919;p61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62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925" name="Google Shape;925;p62"/>
          <p:cNvSpPr txBox="1"/>
          <p:nvPr/>
        </p:nvSpPr>
        <p:spPr>
          <a:xfrm>
            <a:off x="275945" y="1666113"/>
            <a:ext cx="29934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générale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62"/>
          <p:cNvSpPr txBox="1"/>
          <p:nvPr/>
        </p:nvSpPr>
        <p:spPr>
          <a:xfrm>
            <a:off x="708761" y="2062352"/>
            <a:ext cx="10988040" cy="295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marR="81915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○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L'attribut	action 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le contenu de cet attribut est l'URL du programme qui traitera les informations soumises par le formulaire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05765" marR="474980" lvl="0" indent="-3689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L'attribut method 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le contenu de cet attribut est la méthode HTTP qui sera utilisée pour envoyer les données au serveur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862964" marR="5080" lvl="1" indent="-368934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SzPts val="2200"/>
              <a:buFont typeface="Arial"/>
              <a:buChar char="■"/>
            </a:pP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GET :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les données du formulaires sont ajoutées à l'URI de l'attribut action avec '?' comme séparateur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862964" marR="118745" lvl="1" indent="-3689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■"/>
            </a:pP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POST :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les données du formulaires sont incluses dans le corps du formulaire et envoyées vers le server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62"/>
          <p:cNvSpPr txBox="1"/>
          <p:nvPr/>
        </p:nvSpPr>
        <p:spPr>
          <a:xfrm>
            <a:off x="3850640" y="821512"/>
            <a:ext cx="7029450" cy="117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8642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Formulaires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2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&lt;form action="..." method="..."&gt; </a:t>
            </a:r>
            <a:r>
              <a:rPr lang="en-US" sz="1600" i="1">
                <a:latin typeface="Consolas"/>
                <a:ea typeface="Consolas"/>
                <a:cs typeface="Consolas"/>
                <a:sym typeface="Consolas"/>
              </a:rPr>
              <a:t>Eléments de formulaire </a:t>
            </a: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8" name="Google Shape;928;p62"/>
          <p:cNvSpPr txBox="1"/>
          <p:nvPr/>
        </p:nvSpPr>
        <p:spPr>
          <a:xfrm>
            <a:off x="275945" y="4989067"/>
            <a:ext cx="3704590" cy="135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169545" lvl="0" indent="0" algn="l" rtl="0">
              <a:lnSpc>
                <a:spcPct val="100000"/>
              </a:lnSpc>
              <a:spcBef>
                <a:spcPts val="19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&lt;form action="page1.html" method="</a:t>
            </a:r>
            <a:r>
              <a:rPr lang="en-US" sz="1700" b="1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6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…...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6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&lt;/form&gt;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62"/>
          <p:cNvSpPr/>
          <p:nvPr/>
        </p:nvSpPr>
        <p:spPr>
          <a:xfrm>
            <a:off x="9893300" y="5419725"/>
            <a:ext cx="977265" cy="373380"/>
          </a:xfrm>
          <a:custGeom>
            <a:avLst/>
            <a:gdLst/>
            <a:ahLst/>
            <a:cxnLst/>
            <a:rect l="l" t="t" r="r" b="b"/>
            <a:pathLst>
              <a:path w="977265" h="373379" extrusionOk="0">
                <a:moveTo>
                  <a:pt x="0" y="186626"/>
                </a:moveTo>
                <a:lnTo>
                  <a:pt x="17448" y="137017"/>
                </a:lnTo>
                <a:lnTo>
                  <a:pt x="66689" y="92437"/>
                </a:lnTo>
                <a:lnTo>
                  <a:pt x="101776" y="72589"/>
                </a:lnTo>
                <a:lnTo>
                  <a:pt x="143065" y="54665"/>
                </a:lnTo>
                <a:lnTo>
                  <a:pt x="189974" y="38889"/>
                </a:lnTo>
                <a:lnTo>
                  <a:pt x="241920" y="25482"/>
                </a:lnTo>
                <a:lnTo>
                  <a:pt x="298323" y="14667"/>
                </a:lnTo>
                <a:lnTo>
                  <a:pt x="358598" y="6667"/>
                </a:lnTo>
                <a:lnTo>
                  <a:pt x="422165" y="1703"/>
                </a:lnTo>
                <a:lnTo>
                  <a:pt x="488442" y="0"/>
                </a:lnTo>
                <a:lnTo>
                  <a:pt x="554715" y="1703"/>
                </a:lnTo>
                <a:lnTo>
                  <a:pt x="618275" y="6667"/>
                </a:lnTo>
                <a:lnTo>
                  <a:pt x="678541" y="14667"/>
                </a:lnTo>
                <a:lnTo>
                  <a:pt x="734930" y="25482"/>
                </a:lnTo>
                <a:lnTo>
                  <a:pt x="786861" y="38889"/>
                </a:lnTo>
                <a:lnTo>
                  <a:pt x="833754" y="54665"/>
                </a:lnTo>
                <a:lnTo>
                  <a:pt x="875028" y="72589"/>
                </a:lnTo>
                <a:lnTo>
                  <a:pt x="910100" y="92437"/>
                </a:lnTo>
                <a:lnTo>
                  <a:pt x="959318" y="137017"/>
                </a:lnTo>
                <a:lnTo>
                  <a:pt x="976756" y="186626"/>
                </a:lnTo>
                <a:lnTo>
                  <a:pt x="972300" y="211947"/>
                </a:lnTo>
                <a:lnTo>
                  <a:pt x="938391" y="259261"/>
                </a:lnTo>
                <a:lnTo>
                  <a:pt x="875028" y="300654"/>
                </a:lnTo>
                <a:lnTo>
                  <a:pt x="833754" y="318574"/>
                </a:lnTo>
                <a:lnTo>
                  <a:pt x="786861" y="334347"/>
                </a:lnTo>
                <a:lnTo>
                  <a:pt x="734930" y="347751"/>
                </a:lnTo>
                <a:lnTo>
                  <a:pt x="678541" y="358564"/>
                </a:lnTo>
                <a:lnTo>
                  <a:pt x="618275" y="366562"/>
                </a:lnTo>
                <a:lnTo>
                  <a:pt x="554715" y="371524"/>
                </a:lnTo>
                <a:lnTo>
                  <a:pt x="488442" y="373227"/>
                </a:lnTo>
                <a:lnTo>
                  <a:pt x="422165" y="371524"/>
                </a:lnTo>
                <a:lnTo>
                  <a:pt x="358598" y="366562"/>
                </a:lnTo>
                <a:lnTo>
                  <a:pt x="298323" y="358564"/>
                </a:lnTo>
                <a:lnTo>
                  <a:pt x="241920" y="347751"/>
                </a:lnTo>
                <a:lnTo>
                  <a:pt x="189974" y="334347"/>
                </a:lnTo>
                <a:lnTo>
                  <a:pt x="143065" y="318574"/>
                </a:lnTo>
                <a:lnTo>
                  <a:pt x="101776" y="300654"/>
                </a:lnTo>
                <a:lnTo>
                  <a:pt x="66689" y="280809"/>
                </a:lnTo>
                <a:lnTo>
                  <a:pt x="17448" y="236233"/>
                </a:lnTo>
                <a:lnTo>
                  <a:pt x="0" y="186626"/>
                </a:ln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930" name="Google Shape;930;p62"/>
          <p:cNvGrpSpPr/>
          <p:nvPr/>
        </p:nvGrpSpPr>
        <p:grpSpPr>
          <a:xfrm>
            <a:off x="5311140" y="5047348"/>
            <a:ext cx="1657350" cy="1381988"/>
            <a:chOff x="5311140" y="5047348"/>
            <a:chExt cx="1657350" cy="1381988"/>
          </a:xfrm>
        </p:grpSpPr>
        <p:pic>
          <p:nvPicPr>
            <p:cNvPr id="931" name="Google Shape;931;p6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11140" y="5047348"/>
              <a:ext cx="1657350" cy="12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62"/>
            <p:cNvSpPr/>
            <p:nvPr/>
          </p:nvSpPr>
          <p:spPr>
            <a:xfrm>
              <a:off x="5840095" y="6245821"/>
              <a:ext cx="571500" cy="183515"/>
            </a:xfrm>
            <a:custGeom>
              <a:avLst/>
              <a:gdLst/>
              <a:ahLst/>
              <a:cxnLst/>
              <a:rect l="l" t="t" r="r" b="b"/>
              <a:pathLst>
                <a:path w="571500" h="183514" extrusionOk="0">
                  <a:moveTo>
                    <a:pt x="74528" y="32048"/>
                  </a:moveTo>
                  <a:lnTo>
                    <a:pt x="71906" y="41218"/>
                  </a:lnTo>
                  <a:lnTo>
                    <a:pt x="568325" y="182905"/>
                  </a:lnTo>
                  <a:lnTo>
                    <a:pt x="570991" y="173748"/>
                  </a:lnTo>
                  <a:lnTo>
                    <a:pt x="74528" y="32048"/>
                  </a:lnTo>
                  <a:close/>
                </a:path>
                <a:path w="571500" h="183514" extrusionOk="0">
                  <a:moveTo>
                    <a:pt x="83692" y="0"/>
                  </a:moveTo>
                  <a:lnTo>
                    <a:pt x="0" y="15722"/>
                  </a:lnTo>
                  <a:lnTo>
                    <a:pt x="62737" y="73278"/>
                  </a:lnTo>
                  <a:lnTo>
                    <a:pt x="71906" y="41218"/>
                  </a:lnTo>
                  <a:lnTo>
                    <a:pt x="59689" y="37731"/>
                  </a:lnTo>
                  <a:lnTo>
                    <a:pt x="62356" y="28574"/>
                  </a:lnTo>
                  <a:lnTo>
                    <a:pt x="75521" y="28574"/>
                  </a:lnTo>
                  <a:lnTo>
                    <a:pt x="83692" y="0"/>
                  </a:lnTo>
                  <a:close/>
                </a:path>
                <a:path w="571500" h="183514" extrusionOk="0">
                  <a:moveTo>
                    <a:pt x="62356" y="28574"/>
                  </a:moveTo>
                  <a:lnTo>
                    <a:pt x="59689" y="37731"/>
                  </a:lnTo>
                  <a:lnTo>
                    <a:pt x="71906" y="41218"/>
                  </a:lnTo>
                  <a:lnTo>
                    <a:pt x="74528" y="32048"/>
                  </a:lnTo>
                  <a:lnTo>
                    <a:pt x="62356" y="28574"/>
                  </a:lnTo>
                  <a:close/>
                </a:path>
                <a:path w="571500" h="183514" extrusionOk="0">
                  <a:moveTo>
                    <a:pt x="75521" y="28574"/>
                  </a:moveTo>
                  <a:lnTo>
                    <a:pt x="62356" y="28574"/>
                  </a:lnTo>
                  <a:lnTo>
                    <a:pt x="74528" y="32048"/>
                  </a:lnTo>
                  <a:lnTo>
                    <a:pt x="75521" y="28574"/>
                  </a:lnTo>
                  <a:close/>
                </a:path>
              </a:pathLst>
            </a:custGeom>
            <a:solidFill>
              <a:srgbClr val="97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933" name="Google Shape;933;p62"/>
          <p:cNvSpPr txBox="1"/>
          <p:nvPr/>
        </p:nvSpPr>
        <p:spPr>
          <a:xfrm>
            <a:off x="8740520" y="5470652"/>
            <a:ext cx="1139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page1.html/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4" name="Google Shape;934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9198" y="5277548"/>
            <a:ext cx="591604" cy="591604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62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936" name="Google Shape;936;p62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3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942" name="Google Shape;942;p63"/>
          <p:cNvSpPr txBox="1"/>
          <p:nvPr/>
        </p:nvSpPr>
        <p:spPr>
          <a:xfrm>
            <a:off x="3027045" y="821512"/>
            <a:ext cx="665670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Formulaires - zone de texte -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63"/>
          <p:cNvSpPr txBox="1"/>
          <p:nvPr/>
        </p:nvSpPr>
        <p:spPr>
          <a:xfrm>
            <a:off x="275945" y="1666113"/>
            <a:ext cx="164655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4" name="Google Shape;944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1823" y="2145010"/>
            <a:ext cx="2088659" cy="491457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63"/>
          <p:cNvSpPr txBox="1"/>
          <p:nvPr/>
        </p:nvSpPr>
        <p:spPr>
          <a:xfrm>
            <a:off x="251561" y="2733294"/>
            <a:ext cx="4062729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621030" marR="321310" lvl="0" indent="-198120" algn="l" rtl="0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&lt;form action="page1.html" method="get"&gt; Prénom:&lt;br&gt;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6210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&lt;input type="text" name="fname"&gt;</a:t>
            </a:r>
            <a:r>
              <a:rPr lang="en-US" sz="14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&lt;br&gt;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6210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Nom:&lt;br&gt;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6210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&lt;input type="text" name="lname"&gt;</a:t>
            </a:r>
            <a:r>
              <a:rPr lang="en-US" sz="14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&lt;br&gt;&lt;br&gt;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6210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&lt;input type="submit" value="Valider"&gt;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2290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&lt;/form&gt;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6" name="Google Shape;946;p63"/>
          <p:cNvGrpSpPr/>
          <p:nvPr/>
        </p:nvGrpSpPr>
        <p:grpSpPr>
          <a:xfrm>
            <a:off x="3206369" y="3240151"/>
            <a:ext cx="4113657" cy="2429255"/>
            <a:chOff x="3206369" y="3240151"/>
            <a:chExt cx="4113657" cy="2429255"/>
          </a:xfrm>
        </p:grpSpPr>
        <p:sp>
          <p:nvSpPr>
            <p:cNvPr id="947" name="Google Shape;947;p63"/>
            <p:cNvSpPr/>
            <p:nvPr/>
          </p:nvSpPr>
          <p:spPr>
            <a:xfrm>
              <a:off x="3206369" y="4039361"/>
              <a:ext cx="3760470" cy="1630045"/>
            </a:xfrm>
            <a:custGeom>
              <a:avLst/>
              <a:gdLst/>
              <a:ahLst/>
              <a:cxnLst/>
              <a:rect l="l" t="t" r="r" b="b"/>
              <a:pathLst>
                <a:path w="3760470" h="1630045" extrusionOk="0">
                  <a:moveTo>
                    <a:pt x="3760343" y="1618513"/>
                  </a:moveTo>
                  <a:lnTo>
                    <a:pt x="3744391" y="1602181"/>
                  </a:lnTo>
                  <a:lnTo>
                    <a:pt x="3700780" y="1557515"/>
                  </a:lnTo>
                  <a:lnTo>
                    <a:pt x="3689832" y="1588998"/>
                  </a:lnTo>
                  <a:lnTo>
                    <a:pt x="1577848" y="855510"/>
                  </a:lnTo>
                  <a:lnTo>
                    <a:pt x="4572" y="0"/>
                  </a:lnTo>
                  <a:lnTo>
                    <a:pt x="0" y="8382"/>
                  </a:lnTo>
                  <a:lnTo>
                    <a:pt x="1522590" y="836320"/>
                  </a:lnTo>
                  <a:lnTo>
                    <a:pt x="196977" y="375920"/>
                  </a:lnTo>
                  <a:lnTo>
                    <a:pt x="193802" y="384937"/>
                  </a:lnTo>
                  <a:lnTo>
                    <a:pt x="1574038" y="864298"/>
                  </a:lnTo>
                  <a:lnTo>
                    <a:pt x="2876969" y="1572768"/>
                  </a:lnTo>
                  <a:lnTo>
                    <a:pt x="2861056" y="1602028"/>
                  </a:lnTo>
                  <a:lnTo>
                    <a:pt x="2946146" y="1604962"/>
                  </a:lnTo>
                  <a:lnTo>
                    <a:pt x="2927947" y="1578813"/>
                  </a:lnTo>
                  <a:lnTo>
                    <a:pt x="2897505" y="1535049"/>
                  </a:lnTo>
                  <a:lnTo>
                    <a:pt x="2881528" y="1564398"/>
                  </a:lnTo>
                  <a:lnTo>
                    <a:pt x="1629295" y="883488"/>
                  </a:lnTo>
                  <a:lnTo>
                    <a:pt x="3686708" y="1598002"/>
                  </a:lnTo>
                  <a:lnTo>
                    <a:pt x="3675761" y="1629498"/>
                  </a:lnTo>
                  <a:lnTo>
                    <a:pt x="3760343" y="161851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948" name="Google Shape;948;p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67426" y="3240151"/>
              <a:ext cx="1752600" cy="1352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9" name="Google Shape;949;p63"/>
          <p:cNvSpPr txBox="1"/>
          <p:nvPr/>
        </p:nvSpPr>
        <p:spPr>
          <a:xfrm>
            <a:off x="8730360" y="4721821"/>
            <a:ext cx="2510155" cy="59182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0625" rIns="0" bIns="0" anchor="t" anchorCtr="0">
            <a:spAutoFit/>
          </a:bodyPr>
          <a:lstStyle/>
          <a:p>
            <a:pPr marL="92710" marR="2381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Il est recommandé de donner un nom à l'élément &lt;input&gt;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63"/>
          <p:cNvSpPr txBox="1"/>
          <p:nvPr/>
        </p:nvSpPr>
        <p:spPr>
          <a:xfrm>
            <a:off x="4588002" y="5629757"/>
            <a:ext cx="3268345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page1.html/?fname=pr1&amp;lname=n1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1" name="Google Shape;951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17060" y="5436247"/>
            <a:ext cx="591604" cy="591604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63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953" name="Google Shape;953;p63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4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959" name="Google Shape;959;p64"/>
          <p:cNvSpPr txBox="1"/>
          <p:nvPr/>
        </p:nvSpPr>
        <p:spPr>
          <a:xfrm>
            <a:off x="251561" y="593216"/>
            <a:ext cx="10971530" cy="256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496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Formulaires - zones de texte spécialisées -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405765" lvl="0" indent="-368935" algn="l" rtl="0">
              <a:lnSpc>
                <a:spcPct val="100000"/>
              </a:lnSpc>
              <a:spcBef>
                <a:spcPts val="3165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2110"/>
              </a:spcBef>
              <a:spcAft>
                <a:spcPts val="0"/>
              </a:spcAft>
              <a:buSzPts val="2600"/>
              <a:buFont typeface="Calibri"/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0" name="Google Shape;960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0501" y="2171620"/>
            <a:ext cx="2302632" cy="40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1738" y="3833634"/>
            <a:ext cx="3297047" cy="548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9249" y="1509937"/>
            <a:ext cx="1495498" cy="179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21738" y="4627549"/>
            <a:ext cx="3514725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6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647" y="3559251"/>
            <a:ext cx="2020268" cy="2836418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64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sp>
        <p:nvSpPr>
          <p:cNvPr id="966" name="Google Shape;966;p64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5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972" name="Google Shape;972;p65"/>
          <p:cNvSpPr txBox="1"/>
          <p:nvPr/>
        </p:nvSpPr>
        <p:spPr>
          <a:xfrm>
            <a:off x="251561" y="528656"/>
            <a:ext cx="10664825" cy="262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6050" rIns="0" bIns="0" anchor="t" anchorCtr="0">
            <a:spAutoFit/>
          </a:bodyPr>
          <a:lstStyle/>
          <a:p>
            <a:pPr marL="15544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Formulaires - zone de texte multiligne -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405765" lvl="0" indent="-368935" algn="l" rtl="0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2105"/>
              </a:spcBef>
              <a:spcAft>
                <a:spcPts val="0"/>
              </a:spcAft>
              <a:buSzPts val="2600"/>
              <a:buFont typeface="Calibri"/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05765" lvl="0" indent="-3930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3" name="Google Shape;97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8941" y="2110232"/>
            <a:ext cx="279082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2925" y="4632121"/>
            <a:ext cx="6298565" cy="1524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88563" y="3280778"/>
            <a:ext cx="6021414" cy="118465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65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sp>
        <p:nvSpPr>
          <p:cNvPr id="977" name="Google Shape;977;p65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6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983" name="Google Shape;983;p66"/>
          <p:cNvSpPr txBox="1"/>
          <p:nvPr/>
        </p:nvSpPr>
        <p:spPr>
          <a:xfrm>
            <a:off x="2708529" y="821512"/>
            <a:ext cx="729360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Formulaires - Menu déroulant -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66"/>
          <p:cNvSpPr txBox="1"/>
          <p:nvPr/>
        </p:nvSpPr>
        <p:spPr>
          <a:xfrm>
            <a:off x="275945" y="1666113"/>
            <a:ext cx="1646555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66"/>
          <p:cNvSpPr txBox="1"/>
          <p:nvPr/>
        </p:nvSpPr>
        <p:spPr>
          <a:xfrm>
            <a:off x="251561" y="3403853"/>
            <a:ext cx="175768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6" name="Google Shape;986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5574" y="1892370"/>
            <a:ext cx="2059133" cy="1312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5158" y="3947150"/>
            <a:ext cx="4817881" cy="2375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4129" y="4624552"/>
            <a:ext cx="5578221" cy="544601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66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sp>
        <p:nvSpPr>
          <p:cNvPr id="990" name="Google Shape;990;p66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7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996" name="Google Shape;996;p67"/>
          <p:cNvSpPr txBox="1"/>
          <p:nvPr/>
        </p:nvSpPr>
        <p:spPr>
          <a:xfrm>
            <a:off x="251561" y="528656"/>
            <a:ext cx="10944225" cy="262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6050" rIns="0" bIns="0" anchor="t" anchorCtr="0">
            <a:spAutoFit/>
          </a:bodyPr>
          <a:lstStyle/>
          <a:p>
            <a:pPr marL="12757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Formulaires - Boutons radio et checkbox -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405765" lvl="0" indent="-368935" algn="l" rtl="0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2105"/>
              </a:spcBef>
              <a:spcAft>
                <a:spcPts val="0"/>
              </a:spcAft>
              <a:buSzPts val="2600"/>
              <a:buFont typeface="Calibri"/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405765" lvl="0" indent="-3930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7" name="Google Shape;99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1850" y="2173353"/>
            <a:ext cx="2221637" cy="459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4541" y="2224015"/>
            <a:ext cx="2405845" cy="432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416" y="3274246"/>
            <a:ext cx="5567804" cy="1502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40380" y="4875276"/>
            <a:ext cx="1631315" cy="152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95264" y="3210799"/>
            <a:ext cx="4572154" cy="1487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68056" y="4875161"/>
            <a:ext cx="3097656" cy="147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67"/>
          <p:cNvSpPr/>
          <p:nvPr/>
        </p:nvSpPr>
        <p:spPr>
          <a:xfrm>
            <a:off x="6736080" y="3102610"/>
            <a:ext cx="0" cy="3249930"/>
          </a:xfrm>
          <a:custGeom>
            <a:avLst/>
            <a:gdLst/>
            <a:ahLst/>
            <a:cxnLst/>
            <a:rect l="l" t="t" r="r" b="b"/>
            <a:pathLst>
              <a:path w="120000" h="3249929" extrusionOk="0">
                <a:moveTo>
                  <a:pt x="0" y="0"/>
                </a:moveTo>
                <a:lnTo>
                  <a:pt x="0" y="3249320"/>
                </a:lnTo>
              </a:path>
            </a:pathLst>
          </a:custGeom>
          <a:noFill/>
          <a:ln w="952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04" name="Google Shape;1004;p67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sp>
        <p:nvSpPr>
          <p:cNvPr id="1005" name="Google Shape;1005;p67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8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011" name="Google Shape;1011;p68"/>
          <p:cNvSpPr txBox="1"/>
          <p:nvPr/>
        </p:nvSpPr>
        <p:spPr>
          <a:xfrm>
            <a:off x="275945" y="528656"/>
            <a:ext cx="10697210" cy="156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6050" rIns="0" bIns="0" anchor="t" anchorCtr="0">
            <a:spAutoFit/>
          </a:bodyPr>
          <a:lstStyle/>
          <a:p>
            <a:pPr marL="14738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Formulaires - Boutons Submit et Reset -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381000" lvl="0" indent="-368300" algn="l" rtl="0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8"/>
          <p:cNvSpPr txBox="1"/>
          <p:nvPr/>
        </p:nvSpPr>
        <p:spPr>
          <a:xfrm>
            <a:off x="251561" y="3068574"/>
            <a:ext cx="175768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05765" lvl="0" indent="-3930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3" name="Google Shape;1013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9144" y="1906609"/>
            <a:ext cx="3311355" cy="117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4691" y="4148582"/>
            <a:ext cx="7381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54497" y="4746878"/>
            <a:ext cx="24574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68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sp>
        <p:nvSpPr>
          <p:cNvPr id="1017" name="Google Shape;1017;p68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69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023" name="Google Shape;1023;p69"/>
          <p:cNvSpPr txBox="1"/>
          <p:nvPr/>
        </p:nvSpPr>
        <p:spPr>
          <a:xfrm>
            <a:off x="275945" y="500966"/>
            <a:ext cx="10088880" cy="15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4000" rIns="0" bIns="0" anchor="t" anchorCtr="0">
            <a:spAutoFit/>
          </a:bodyPr>
          <a:lstStyle/>
          <a:p>
            <a:pPr marL="208216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Quelques attributs booléens utiles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Required 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une valeur pour l’entrée est obligatoire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69"/>
          <p:cNvSpPr txBox="1"/>
          <p:nvPr/>
        </p:nvSpPr>
        <p:spPr>
          <a:xfrm>
            <a:off x="275945" y="3252978"/>
            <a:ext cx="370014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Disabled 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désactive l’élément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69"/>
          <p:cNvSpPr txBox="1"/>
          <p:nvPr/>
        </p:nvSpPr>
        <p:spPr>
          <a:xfrm>
            <a:off x="275945" y="4899152"/>
            <a:ext cx="483298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Readonly 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l’élément est en lecture seule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Google Shape;1026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35242" y="3803015"/>
            <a:ext cx="260032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69"/>
          <p:cNvSpPr txBox="1"/>
          <p:nvPr/>
        </p:nvSpPr>
        <p:spPr>
          <a:xfrm>
            <a:off x="623112" y="3802976"/>
            <a:ext cx="4766945" cy="83121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25907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&lt;label for="fname"&gt;First name:&lt;/label&gt;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25907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&lt;input type="text" id="fname" name="fname"&gt;&lt;br&gt;&lt;br&gt;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25907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&lt;label for="lname"&gt;Last name:&lt;/label&gt;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25907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&lt;input type="text" id="lname" name="lname" </a:t>
            </a:r>
            <a:r>
              <a:rPr lang="en-US" sz="12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disabled</a:t>
            </a: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8" name="Google Shape;1028;p69"/>
          <p:cNvSpPr txBox="1"/>
          <p:nvPr/>
        </p:nvSpPr>
        <p:spPr>
          <a:xfrm>
            <a:off x="1450213" y="5522493"/>
            <a:ext cx="3112770" cy="27749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&lt;input type="textarea" </a:t>
            </a:r>
            <a:r>
              <a:rPr lang="en-US" sz="12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readonly</a:t>
            </a: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29" name="Google Shape;1029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74432" y="5504992"/>
            <a:ext cx="16859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6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83882" y="2260726"/>
            <a:ext cx="3048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9"/>
          <p:cNvSpPr txBox="1"/>
          <p:nvPr/>
        </p:nvSpPr>
        <p:spPr>
          <a:xfrm>
            <a:off x="623112" y="2169007"/>
            <a:ext cx="5216525" cy="64643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1752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&lt;label for="username"&gt;Username:&lt;/label&gt;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1752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&lt;input type="text" id="username" name="username" </a:t>
            </a:r>
            <a:r>
              <a:rPr lang="en-US" sz="12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1752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/>
                <a:ea typeface="Consolas"/>
                <a:cs typeface="Consolas"/>
                <a:sym typeface="Consolas"/>
              </a:rPr>
              <a:t>&lt;input type="submit"&gt;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2" name="Google Shape;1032;p69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sp>
        <p:nvSpPr>
          <p:cNvPr id="1033" name="Google Shape;1033;p69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70"/>
          <p:cNvSpPr txBox="1">
            <a:spLocks noGrp="1"/>
          </p:cNvSpPr>
          <p:nvPr>
            <p:ph type="title"/>
          </p:nvPr>
        </p:nvSpPr>
        <p:spPr>
          <a:xfrm>
            <a:off x="4955794" y="2598496"/>
            <a:ext cx="227139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Tableaux</a:t>
            </a:r>
            <a:endParaRPr sz="4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70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sp>
        <p:nvSpPr>
          <p:cNvPr id="1040" name="Google Shape;1040;p70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71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71"/>
          <p:cNvSpPr txBox="1">
            <a:spLocks noGrp="1"/>
          </p:cNvSpPr>
          <p:nvPr>
            <p:ph type="title"/>
          </p:nvPr>
        </p:nvSpPr>
        <p:spPr>
          <a:xfrm>
            <a:off x="4801361" y="59817"/>
            <a:ext cx="2129155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Tableaux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7" name="Google Shape;1047;p71"/>
          <p:cNvGraphicFramePr/>
          <p:nvPr/>
        </p:nvGraphicFramePr>
        <p:xfrm>
          <a:off x="748283" y="103676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{47C756BD-769A-4933-AF03-410CCDEDF079}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Balise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DAF8"/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&lt;table&gt; … &lt;/table&gt;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90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Début et fin du tableau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9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&lt;tr&gt; …&lt;/tr&gt;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90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Déclaration du ligne (table row)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&lt;th&gt; …&lt;/th&gt;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970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61820" marR="1353820" lvl="0" indent="-4984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Déclaration d'un en-tête (table header)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&lt;td&gt; …&lt;/td&gt;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970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Déclaration d'une cellule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(table cell data)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&lt;caption&gt; … &lt;/caption&gt;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970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Titre du tableau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3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48" name="Google Shape;1048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3768" y="4636059"/>
            <a:ext cx="6039697" cy="1756282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71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  <p:sp>
        <p:nvSpPr>
          <p:cNvPr id="1050" name="Google Shape;1050;p71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72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056" name="Google Shape;1056;p72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  <p:sp>
        <p:nvSpPr>
          <p:cNvPr id="1057" name="Google Shape;1057;p72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058" name="Google Shape;1058;p72"/>
          <p:cNvSpPr txBox="1"/>
          <p:nvPr/>
        </p:nvSpPr>
        <p:spPr>
          <a:xfrm>
            <a:off x="5029961" y="821512"/>
            <a:ext cx="212979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Tableaux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59" name="Google Shape;1059;p72"/>
          <p:cNvGraphicFramePr/>
          <p:nvPr/>
        </p:nvGraphicFramePr>
        <p:xfrm>
          <a:off x="748283" y="172256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{47C756BD-769A-4933-AF03-410CCDEDF079}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350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Attributs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DAF8"/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7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&lt;td colspan="</a:t>
                      </a:r>
                      <a:r>
                        <a:rPr lang="en-US" sz="1800" b="1" u="none" strike="noStrike" cap="none">
                          <a:solidFill>
                            <a:srgbClr val="A61C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"&gt; … &lt;/td&gt;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&lt;th colspan="</a:t>
                      </a:r>
                      <a:r>
                        <a:rPr lang="en-US" sz="1800" b="1" u="none" strike="noStrike" cap="none">
                          <a:solidFill>
                            <a:srgbClr val="A61C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"&gt; … &lt;/th&gt;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90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Fusion de "</a:t>
                      </a:r>
                      <a:r>
                        <a:rPr lang="en-US" sz="1800" b="1" u="none" strike="noStrike" cap="none">
                          <a:solidFill>
                            <a:srgbClr val="851F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n" 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colonnes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7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&lt;tr rowspan="</a:t>
                      </a:r>
                      <a:r>
                        <a:rPr lang="en-US" sz="1800" b="1" u="none" strike="noStrike" cap="none">
                          <a:solidFill>
                            <a:srgbClr val="A61C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"&gt; …&lt;/tr&gt;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&lt;th rowspan="</a:t>
                      </a:r>
                      <a:r>
                        <a:rPr lang="en-US" sz="1800" b="1" u="none" strike="noStrike" cap="none">
                          <a:solidFill>
                            <a:srgbClr val="A61C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"&gt; … &lt;/th&gt;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970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Fusion de "</a:t>
                      </a:r>
                      <a:r>
                        <a:rPr lang="en-US" sz="1800" b="1" u="none" strike="noStrike" cap="none">
                          <a:solidFill>
                            <a:srgbClr val="851F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m" 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lignes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73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73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sp>
        <p:nvSpPr>
          <p:cNvPr id="1066" name="Google Shape;1066;p73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067" name="Google Shape;1067;p73"/>
          <p:cNvSpPr txBox="1">
            <a:spLocks noGrp="1"/>
          </p:cNvSpPr>
          <p:nvPr>
            <p:ph type="title"/>
          </p:nvPr>
        </p:nvSpPr>
        <p:spPr>
          <a:xfrm>
            <a:off x="5029961" y="821512"/>
            <a:ext cx="212979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Tableaux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8" name="Google Shape;1068;p73"/>
          <p:cNvGraphicFramePr/>
          <p:nvPr/>
        </p:nvGraphicFramePr>
        <p:xfrm>
          <a:off x="748283" y="172256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{47C756BD-769A-4933-AF03-410CCDEDF079}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350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Attributs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DAF8"/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7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&lt;td colspan="</a:t>
                      </a:r>
                      <a:r>
                        <a:rPr lang="en-US" sz="1800" b="1" u="none" strike="noStrike" cap="none">
                          <a:solidFill>
                            <a:srgbClr val="A61C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"&gt; … &lt;/td&gt;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&lt;th colspan="</a:t>
                      </a:r>
                      <a:r>
                        <a:rPr lang="en-US" sz="1800" b="1" u="none" strike="noStrike" cap="none">
                          <a:solidFill>
                            <a:srgbClr val="A61C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"&gt; … &lt;/th&gt;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905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Fusion de "</a:t>
                      </a:r>
                      <a:r>
                        <a:rPr lang="en-US" sz="1800" b="1" u="none" strike="noStrike" cap="none">
                          <a:solidFill>
                            <a:srgbClr val="851F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n" 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colonnes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7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&lt;td rowspan="</a:t>
                      </a:r>
                      <a:r>
                        <a:rPr lang="en-US" sz="1800" b="1" u="none" strike="noStrike" cap="none">
                          <a:solidFill>
                            <a:srgbClr val="A61C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"&gt; …&lt;/tr&gt;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&lt;th rowspan="</a:t>
                      </a:r>
                      <a:r>
                        <a:rPr lang="en-US" sz="1800" b="1" u="none" strike="noStrike" cap="none">
                          <a:solidFill>
                            <a:srgbClr val="A61C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"&gt; … &lt;/th&gt;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9970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Fusion de "</a:t>
                      </a:r>
                      <a:r>
                        <a:rPr lang="en-US" sz="1800" b="1" u="none" strike="noStrike" cap="none">
                          <a:solidFill>
                            <a:srgbClr val="851F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m" </a:t>
                      </a: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lignes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5725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69" name="Google Shape;1069;p73"/>
          <p:cNvSpPr txBox="1"/>
          <p:nvPr/>
        </p:nvSpPr>
        <p:spPr>
          <a:xfrm>
            <a:off x="231140" y="3970726"/>
            <a:ext cx="11225530" cy="23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1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Il est pratique de regrouper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plusieurs </a:t>
            </a:r>
            <a:r>
              <a:rPr lang="en-US" sz="2400">
                <a:solidFill>
                  <a:srgbClr val="851F0C"/>
                </a:solidFill>
                <a:latin typeface="Calibri"/>
                <a:ea typeface="Calibri"/>
                <a:cs typeface="Calibri"/>
                <a:sym typeface="Calibri"/>
              </a:rPr>
              <a:t>&lt;th&gt;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dans </a:t>
            </a:r>
            <a:r>
              <a:rPr lang="en-US" sz="2400">
                <a:solidFill>
                  <a:srgbClr val="851F0C"/>
                </a:solidFill>
                <a:latin typeface="Calibri"/>
                <a:ea typeface="Calibri"/>
                <a:cs typeface="Calibri"/>
                <a:sym typeface="Calibri"/>
              </a:rPr>
              <a:t>&lt;thead&gt;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plusieurs </a:t>
            </a:r>
            <a:r>
              <a:rPr lang="en-US" sz="2400">
                <a:solidFill>
                  <a:srgbClr val="851F0C"/>
                </a:solidFill>
                <a:latin typeface="Calibri"/>
                <a:ea typeface="Calibri"/>
                <a:cs typeface="Calibri"/>
                <a:sym typeface="Calibri"/>
              </a:rPr>
              <a:t>&lt;tr&gt;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dans </a:t>
            </a:r>
            <a:r>
              <a:rPr lang="en-US" sz="2400">
                <a:solidFill>
                  <a:srgbClr val="851F0C"/>
                </a:solidFill>
                <a:latin typeface="Calibri"/>
                <a:ea typeface="Calibri"/>
                <a:cs typeface="Calibri"/>
                <a:sym typeface="Calibri"/>
              </a:rPr>
              <a:t>&lt;tbody&gt;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2900" algn="l" rtl="0">
              <a:lnSpc>
                <a:spcPct val="137857"/>
              </a:lnSpc>
              <a:spcBef>
                <a:spcPts val="5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La balise </a:t>
            </a:r>
            <a:r>
              <a:rPr lang="en-US" sz="2800">
                <a:solidFill>
                  <a:srgbClr val="851F0C"/>
                </a:solidFill>
                <a:latin typeface="Calibri"/>
                <a:ea typeface="Calibri"/>
                <a:cs typeface="Calibri"/>
                <a:sym typeface="Calibri"/>
              </a:rPr>
              <a:t>&lt;tfoot&gt;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sert à insérer un </a:t>
            </a:r>
            <a:r>
              <a:rPr lang="en-US" sz="2800" i="1">
                <a:latin typeface="Calibri"/>
                <a:ea typeface="Calibri"/>
                <a:cs typeface="Calibri"/>
                <a:sym typeface="Calibri"/>
              </a:rPr>
              <a:t>footer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au tableau (comme un résumé par exemple)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4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075" name="Google Shape;1075;p74"/>
          <p:cNvSpPr txBox="1"/>
          <p:nvPr/>
        </p:nvSpPr>
        <p:spPr>
          <a:xfrm>
            <a:off x="40640" y="703480"/>
            <a:ext cx="11007725" cy="131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1425" rIns="0" bIns="0" anchor="t" anchorCtr="0">
            <a:spAutoFit/>
          </a:bodyPr>
          <a:lstStyle/>
          <a:p>
            <a:pPr marL="110109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Tableaux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Avant la version HTML5, un attribut border dans la balise table permet de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74"/>
          <p:cNvSpPr txBox="1"/>
          <p:nvPr/>
        </p:nvSpPr>
        <p:spPr>
          <a:xfrm>
            <a:off x="383540" y="2058669"/>
            <a:ext cx="320294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générer les bordures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74"/>
          <p:cNvSpPr txBox="1"/>
          <p:nvPr/>
        </p:nvSpPr>
        <p:spPr>
          <a:xfrm>
            <a:off x="4059935" y="2086229"/>
            <a:ext cx="3035300" cy="4343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34925" rIns="0" bIns="0" anchor="t" anchorCtr="0">
            <a:spAutoFit/>
          </a:bodyPr>
          <a:lstStyle/>
          <a:p>
            <a:pPr marL="6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&lt;table border=</a:t>
            </a:r>
            <a:r>
              <a:rPr lang="en-US" sz="24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"5"</a:t>
            </a:r>
            <a:r>
              <a:rPr lang="en-US" sz="2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8" name="Google Shape;1078;p74"/>
          <p:cNvSpPr txBox="1"/>
          <p:nvPr/>
        </p:nvSpPr>
        <p:spPr>
          <a:xfrm>
            <a:off x="840739" y="2975889"/>
            <a:ext cx="10196195" cy="1007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8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L'attribut border ainsi que d'autres attributs (bgcolor, align, …) ne sont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plus autorisés en HTML5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9" name="Google Shape;1079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82" y="3259035"/>
            <a:ext cx="672261" cy="5916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74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1081" name="Google Shape;1081;p74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5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75"/>
          <p:cNvSpPr txBox="1">
            <a:spLocks noGrp="1"/>
          </p:cNvSpPr>
          <p:nvPr>
            <p:ph type="title"/>
          </p:nvPr>
        </p:nvSpPr>
        <p:spPr>
          <a:xfrm>
            <a:off x="5029961" y="821512"/>
            <a:ext cx="212979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Tableaux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75"/>
          <p:cNvSpPr txBox="1"/>
          <p:nvPr/>
        </p:nvSpPr>
        <p:spPr>
          <a:xfrm>
            <a:off x="40640" y="1567942"/>
            <a:ext cx="1100772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Avant la version HTML5, un attribut border dans la balise table permet de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75"/>
          <p:cNvSpPr txBox="1"/>
          <p:nvPr/>
        </p:nvSpPr>
        <p:spPr>
          <a:xfrm>
            <a:off x="383540" y="2058669"/>
            <a:ext cx="3204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générer les bordures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75"/>
          <p:cNvSpPr txBox="1"/>
          <p:nvPr/>
        </p:nvSpPr>
        <p:spPr>
          <a:xfrm>
            <a:off x="4059935" y="2086229"/>
            <a:ext cx="3035300" cy="4343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34925" rIns="0" bIns="0" anchor="t" anchorCtr="0">
            <a:spAutoFit/>
          </a:bodyPr>
          <a:lstStyle/>
          <a:p>
            <a:pPr marL="6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&lt;table border=</a:t>
            </a:r>
            <a:r>
              <a:rPr lang="en-US" sz="24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"5"</a:t>
            </a:r>
            <a:r>
              <a:rPr lang="en-US" sz="2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p75"/>
          <p:cNvSpPr txBox="1"/>
          <p:nvPr/>
        </p:nvSpPr>
        <p:spPr>
          <a:xfrm>
            <a:off x="40640" y="2484100"/>
            <a:ext cx="11497945" cy="248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450" rIns="0" bIns="0" anchor="t" anchorCtr="0">
            <a:spAutoFit/>
          </a:bodyPr>
          <a:lstStyle/>
          <a:p>
            <a:pPr marL="812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L'attribut border ainsi que d'autres attributs (bgcolor, align, …) ne sont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80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plus autorisés en HTML5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2900" algn="l" rtl="0">
              <a:lnSpc>
                <a:spcPct val="115100"/>
              </a:lnSpc>
              <a:spcBef>
                <a:spcPts val="5"/>
              </a:spcBef>
              <a:spcAft>
                <a:spcPts val="0"/>
              </a:spcAft>
              <a:buClr>
                <a:srgbClr val="E20512"/>
              </a:buClr>
              <a:buSzPts val="1800"/>
              <a:buFont typeface="Calibri"/>
              <a:buChar char="▪"/>
            </a:pPr>
            <a:r>
              <a:rPr lang="en-US" sz="28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Solution :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utilisation d'un style CSS (Cascading Style Sheets) pour les tableaux (</a:t>
            </a:r>
            <a:r>
              <a:rPr lang="en-US" sz="2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à insérer entre &lt;head&gt; et &lt;/head&gt;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2" name="Google Shape;1092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85" y="2690710"/>
            <a:ext cx="672261" cy="5916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75"/>
          <p:cNvSpPr txBox="1"/>
          <p:nvPr/>
        </p:nvSpPr>
        <p:spPr>
          <a:xfrm>
            <a:off x="3852545" y="5274754"/>
            <a:ext cx="1090295" cy="3276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&lt;style&gt;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4" name="Google Shape;1094;p75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  <p:sp>
        <p:nvSpPr>
          <p:cNvPr id="1095" name="Google Shape;1095;p75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096" name="Google Shape;1096;p75"/>
          <p:cNvSpPr txBox="1"/>
          <p:nvPr/>
        </p:nvSpPr>
        <p:spPr>
          <a:xfrm>
            <a:off x="3852545" y="5660326"/>
            <a:ext cx="6007100" cy="3276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5035" lvl="0" indent="0" algn="l" rtl="0">
              <a:lnSpc>
                <a:spcPct val="11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n-US" sz="2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2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n-US" sz="2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200" b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th </a:t>
            </a:r>
            <a:r>
              <a:rPr lang="en-US" sz="2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2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2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2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1px </a:t>
            </a:r>
            <a:r>
              <a:rPr lang="en-US" sz="2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solid}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7" name="Google Shape;1097;p75"/>
          <p:cNvSpPr txBox="1"/>
          <p:nvPr/>
        </p:nvSpPr>
        <p:spPr>
          <a:xfrm>
            <a:off x="3852545" y="6045898"/>
            <a:ext cx="1244600" cy="3276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2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&lt;/style&gt;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6"/>
          <p:cNvSpPr txBox="1">
            <a:spLocks noGrp="1"/>
          </p:cNvSpPr>
          <p:nvPr>
            <p:ph type="title"/>
          </p:nvPr>
        </p:nvSpPr>
        <p:spPr>
          <a:xfrm>
            <a:off x="4955794" y="2598496"/>
            <a:ext cx="1850389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Médias</a:t>
            </a:r>
            <a:endParaRPr sz="4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76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  <p:sp>
        <p:nvSpPr>
          <p:cNvPr id="1104" name="Google Shape;1104;p76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77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10" name="Google Shape;1110;p77"/>
          <p:cNvSpPr txBox="1"/>
          <p:nvPr/>
        </p:nvSpPr>
        <p:spPr>
          <a:xfrm>
            <a:off x="243840" y="703480"/>
            <a:ext cx="8994775" cy="349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1425" rIns="0" bIns="0" anchor="t" anchorCtr="0">
            <a:spAutoFit/>
          </a:bodyPr>
          <a:lstStyle/>
          <a:p>
            <a:pPr marL="4998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380365" lvl="0" indent="-342265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 fichier multimédia stocké dans le serveur web possède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37564" lvl="1" indent="-342264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Un type MIME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(Multipurpose Internet Mail Extensions) </a:t>
            </a:r>
            <a:r>
              <a:rPr lang="en-US" sz="2400" baseline="30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aseline="30000">
              <a:latin typeface="Calibri"/>
              <a:ea typeface="Calibri"/>
              <a:cs typeface="Calibri"/>
              <a:sym typeface="Calibri"/>
            </a:endParaRPr>
          </a:p>
          <a:p>
            <a:pPr marL="837564" lvl="1" indent="-342264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Un suffixe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(une extension) ou plusieurs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8100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Exemple : SVG (Scalable Vector Graphics)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37564" lvl="1" indent="-342264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Type MIME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images/svg+xml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37564" lvl="1" indent="-342264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Suffixes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.svg ou .svgz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77"/>
          <p:cNvSpPr/>
          <p:nvPr/>
        </p:nvSpPr>
        <p:spPr>
          <a:xfrm>
            <a:off x="212750" y="6022924"/>
            <a:ext cx="10949940" cy="29845"/>
          </a:xfrm>
          <a:custGeom>
            <a:avLst/>
            <a:gdLst/>
            <a:ahLst/>
            <a:cxnLst/>
            <a:rect l="l" t="t" r="r" b="b"/>
            <a:pathLst>
              <a:path w="10949940" h="29845" extrusionOk="0">
                <a:moveTo>
                  <a:pt x="10949660" y="0"/>
                </a:moveTo>
                <a:lnTo>
                  <a:pt x="0" y="29400"/>
                </a:lnTo>
              </a:path>
            </a:pathLst>
          </a:custGeom>
          <a:noFill/>
          <a:ln w="19050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12" name="Google Shape;1112;p77"/>
          <p:cNvSpPr txBox="1"/>
          <p:nvPr/>
        </p:nvSpPr>
        <p:spPr>
          <a:xfrm>
            <a:off x="437794" y="6186945"/>
            <a:ext cx="4630420" cy="60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800" u="sng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https://htmlstrip.com/mime-file-type-checker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210945" lvl="0" indent="0" algn="ctr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76</a:t>
            </a:fld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77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78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19" name="Google Shape;1119;p78"/>
          <p:cNvSpPr txBox="1"/>
          <p:nvPr/>
        </p:nvSpPr>
        <p:spPr>
          <a:xfrm>
            <a:off x="243840" y="703480"/>
            <a:ext cx="11259185" cy="496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1425" rIns="0" bIns="0" anchor="t" anchorCtr="0">
            <a:spAutoFit/>
          </a:bodyPr>
          <a:lstStyle/>
          <a:p>
            <a:pPr marL="445769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380365" lvl="0" indent="-342265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 fichier multimédia stocké dans le serveur web possède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37564" lvl="1" indent="-342264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Un type MIME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(Multipurpose Internet Mail Extensions) </a:t>
            </a:r>
            <a:r>
              <a:rPr lang="en-US" sz="2400" baseline="30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aseline="30000">
              <a:latin typeface="Calibri"/>
              <a:ea typeface="Calibri"/>
              <a:cs typeface="Calibri"/>
              <a:sym typeface="Calibri"/>
            </a:endParaRPr>
          </a:p>
          <a:p>
            <a:pPr marL="837564" lvl="1" indent="-342264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Un suffixe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(une extension) ou plusieurs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8100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Exemple : SVG (Scalable Vector Graphics)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37564" lvl="1" indent="-342264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Type MIME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images/svg+xml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37564" lvl="1" indent="-342264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Suffixes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.svg ou .svgz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80365" lvl="0" indent="-342265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L'emplacement des informations MIME diffère d'un serveur à un autre.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81000" marR="3048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Par exemple dans le cas du serveur Apache, ces informations sont stockées dans un fichier localisé dans un dossier racine appelé htaccess.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78"/>
          <p:cNvSpPr/>
          <p:nvPr/>
        </p:nvSpPr>
        <p:spPr>
          <a:xfrm>
            <a:off x="212750" y="6022924"/>
            <a:ext cx="10949940" cy="29845"/>
          </a:xfrm>
          <a:custGeom>
            <a:avLst/>
            <a:gdLst/>
            <a:ahLst/>
            <a:cxnLst/>
            <a:rect l="l" t="t" r="r" b="b"/>
            <a:pathLst>
              <a:path w="10949940" h="29845" extrusionOk="0">
                <a:moveTo>
                  <a:pt x="10949660" y="0"/>
                </a:moveTo>
                <a:lnTo>
                  <a:pt x="0" y="29400"/>
                </a:lnTo>
              </a:path>
            </a:pathLst>
          </a:custGeom>
          <a:noFill/>
          <a:ln w="19050" cap="flat" cmpd="sng">
            <a:solidFill>
              <a:srgbClr val="4453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21" name="Google Shape;1121;p78"/>
          <p:cNvSpPr txBox="1"/>
          <p:nvPr/>
        </p:nvSpPr>
        <p:spPr>
          <a:xfrm>
            <a:off x="437794" y="6186945"/>
            <a:ext cx="4630420" cy="60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800" u="sng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https://htmlstrip.com/mime-file-type-checker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210945" lvl="0" indent="0" algn="ctr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77</a:t>
            </a:fld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78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79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79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1129" name="Google Shape;1129;p79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30" name="Google Shape;1130;p79"/>
          <p:cNvSpPr txBox="1">
            <a:spLocks noGrp="1"/>
          </p:cNvSpPr>
          <p:nvPr>
            <p:ph type="title"/>
          </p:nvPr>
        </p:nvSpPr>
        <p:spPr>
          <a:xfrm>
            <a:off x="4208526" y="821512"/>
            <a:ext cx="377761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 : images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79"/>
          <p:cNvSpPr txBox="1"/>
          <p:nvPr/>
        </p:nvSpPr>
        <p:spPr>
          <a:xfrm>
            <a:off x="269240" y="1953840"/>
            <a:ext cx="11677015" cy="3328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1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Syntaxe :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&lt;img src="url" alt="texte"&gt;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l'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url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peut être soit absolue ou relative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alt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(alternative text) : utile au cas de non chargement de l'image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Bonne pratique : regrouper toutes les images dans un répertoire (nommé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images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par exemple)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2900" algn="l" rtl="0">
              <a:lnSpc>
                <a:spcPct val="114999"/>
              </a:lnSpc>
              <a:spcBef>
                <a:spcPts val="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 navigateur, au chargement de l'image, il l'enregistre dans la mémoire cache (mémoire temporaire)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80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80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sp>
        <p:nvSpPr>
          <p:cNvPr id="1138" name="Google Shape;1138;p80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39" name="Google Shape;1139;p80"/>
          <p:cNvSpPr txBox="1">
            <a:spLocks noGrp="1"/>
          </p:cNvSpPr>
          <p:nvPr>
            <p:ph type="title"/>
          </p:nvPr>
        </p:nvSpPr>
        <p:spPr>
          <a:xfrm>
            <a:off x="4208526" y="821512"/>
            <a:ext cx="377761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 : images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80"/>
          <p:cNvSpPr txBox="1"/>
          <p:nvPr/>
        </p:nvSpPr>
        <p:spPr>
          <a:xfrm>
            <a:off x="269240" y="1350924"/>
            <a:ext cx="11297920" cy="198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On peut définir une largeur et une hauteur d'une image en pixel en utilisant les attributs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width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et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height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800" marR="690880" lvl="1" indent="-342900" algn="l" rtl="0">
              <a:lnSpc>
                <a:spcPct val="138214"/>
              </a:lnSpc>
              <a:spcBef>
                <a:spcPts val="9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Exemple </a:t>
            </a:r>
            <a:r>
              <a:rPr lang="en-US" sz="28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: &lt;img src="images/logo.jpg" alt="logo officiel"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width="72" height="72"</a:t>
            </a:r>
            <a:r>
              <a:rPr lang="en-US" sz="28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1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81"/>
          <p:cNvSpPr txBox="1">
            <a:spLocks noGrp="1"/>
          </p:cNvSpPr>
          <p:nvPr>
            <p:ph type="title"/>
          </p:nvPr>
        </p:nvSpPr>
        <p:spPr>
          <a:xfrm>
            <a:off x="4208526" y="821512"/>
            <a:ext cx="377761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 : images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81"/>
          <p:cNvSpPr txBox="1"/>
          <p:nvPr/>
        </p:nvSpPr>
        <p:spPr>
          <a:xfrm>
            <a:off x="269240" y="1350924"/>
            <a:ext cx="11297920" cy="515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On peut définir une largeur et une hauteur d'une image en pixel en utilisant les attributs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width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et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height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800" marR="690245" lvl="1" indent="-342900" algn="l" rtl="0">
              <a:lnSpc>
                <a:spcPct val="138214"/>
              </a:lnSpc>
              <a:spcBef>
                <a:spcPts val="20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Exemple </a:t>
            </a:r>
            <a:r>
              <a:rPr lang="en-US" sz="28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: &lt;img src="images/logo.jpg" alt="logo officiel"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width="72" height="72"</a:t>
            </a:r>
            <a:r>
              <a:rPr lang="en-US" sz="28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Formats des images souvent utilisés sur le web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Images matricielles (bitmap)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PNG (Portable Network Graphics)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JPEG (Joint Photographic Experts Group)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GIF (Graphics Interchange Format)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3B78D7"/>
              </a:buClr>
              <a:buSzPts val="1800"/>
              <a:buFont typeface="Arial"/>
              <a:buChar char="•"/>
            </a:pPr>
            <a:r>
              <a:rPr lang="en-US" sz="2400">
                <a:solidFill>
                  <a:srgbClr val="3B78D7"/>
                </a:solidFill>
                <a:latin typeface="Calibri"/>
                <a:ea typeface="Calibri"/>
                <a:cs typeface="Calibri"/>
                <a:sym typeface="Calibri"/>
              </a:rPr>
              <a:t>Images vectorielles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3B78D7"/>
              </a:buClr>
              <a:buSzPts val="1800"/>
              <a:buFont typeface="Courier New"/>
              <a:buChar char="o"/>
            </a:pPr>
            <a:r>
              <a:rPr lang="en-US" sz="2000">
                <a:solidFill>
                  <a:srgbClr val="3B78D7"/>
                </a:solidFill>
                <a:latin typeface="Calibri"/>
                <a:ea typeface="Calibri"/>
                <a:cs typeface="Calibri"/>
                <a:sym typeface="Calibri"/>
              </a:rPr>
              <a:t>SVG (Scalable Vector Graphics)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...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8" name="Google Shape;1148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3914" y="3749331"/>
            <a:ext cx="4319397" cy="2591689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81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sp>
        <p:nvSpPr>
          <p:cNvPr id="1150" name="Google Shape;1150;p81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82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56" name="Google Shape;1156;p82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  <p:sp>
        <p:nvSpPr>
          <p:cNvPr id="1157" name="Google Shape;1157;p82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58" name="Google Shape;1158;p82"/>
          <p:cNvSpPr txBox="1"/>
          <p:nvPr/>
        </p:nvSpPr>
        <p:spPr>
          <a:xfrm>
            <a:off x="4208526" y="821512"/>
            <a:ext cx="377761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 : images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82"/>
          <p:cNvSpPr txBox="1"/>
          <p:nvPr/>
        </p:nvSpPr>
        <p:spPr>
          <a:xfrm>
            <a:off x="269240" y="1953840"/>
            <a:ext cx="10852150" cy="165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1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.svg (.svg) est le format d'image recommandé en web qui peut s'insérer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970000"/>
              </a:buClr>
              <a:buSzPts val="1800"/>
              <a:buFont typeface="Arial"/>
              <a:buChar char="•"/>
            </a:pPr>
            <a:r>
              <a:rPr lang="en-US" sz="24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avec la balise &lt;img&gt;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72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&lt;img src="/images/logo-isen.svg" alt=""&gt;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3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168021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65" name="Google Shape;1165;p83"/>
          <p:cNvSpPr txBox="1"/>
          <p:nvPr/>
        </p:nvSpPr>
        <p:spPr>
          <a:xfrm>
            <a:off x="4208526" y="821512"/>
            <a:ext cx="377761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 : images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83"/>
          <p:cNvSpPr txBox="1"/>
          <p:nvPr/>
        </p:nvSpPr>
        <p:spPr>
          <a:xfrm>
            <a:off x="269240" y="1877640"/>
            <a:ext cx="10852150" cy="179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1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.svg (.svg) est le format d'image recommandé en web qui peut s'insérer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970000"/>
              </a:buClr>
              <a:buSzPts val="1800"/>
              <a:buFont typeface="Arial"/>
              <a:buChar char="•"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avec la balise &lt;img&gt;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970000"/>
              </a:buClr>
              <a:buSzPts val="1800"/>
              <a:buFont typeface="Arial"/>
              <a:buChar char="•"/>
            </a:pPr>
            <a:r>
              <a:rPr lang="en-US" sz="24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avec la balise &lt;svg&gt; … &lt;/svg&gt;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00" lvl="2" indent="-34290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83"/>
          <p:cNvSpPr txBox="1"/>
          <p:nvPr/>
        </p:nvSpPr>
        <p:spPr>
          <a:xfrm>
            <a:off x="1510411" y="3669690"/>
            <a:ext cx="7621905" cy="1002030"/>
          </a:xfrm>
          <a:prstGeom prst="rect">
            <a:avLst/>
          </a:prstGeom>
          <a:noFill/>
          <a:ln w="952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8725" rIns="0" bIns="0" anchor="t" anchorCtr="0">
            <a:spAutoFit/>
          </a:bodyPr>
          <a:lstStyle/>
          <a:p>
            <a:pPr marL="285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&lt;svg width="100" height="100"&gt;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85775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&lt;circle cx="50" cy="50" r="40" stroke="black" stroke-width="4" fill="gray" /&gt;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8575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&lt;/svg&gt;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8" name="Google Shape;1168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6415" y="3707765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83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  <p:sp>
        <p:nvSpPr>
          <p:cNvPr id="1170" name="Google Shape;1170;p83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4"/>
          <p:cNvSpPr txBox="1">
            <a:spLocks noGrp="1"/>
          </p:cNvSpPr>
          <p:nvPr>
            <p:ph type="title"/>
          </p:nvPr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76" name="Google Shape;1176;p84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  <p:sp>
        <p:nvSpPr>
          <p:cNvPr id="1177" name="Google Shape;1177;p84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78" name="Google Shape;1178;p84"/>
          <p:cNvSpPr txBox="1"/>
          <p:nvPr/>
        </p:nvSpPr>
        <p:spPr>
          <a:xfrm>
            <a:off x="420725" y="435883"/>
            <a:ext cx="10852150" cy="3442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8775" rIns="0" bIns="0" anchor="t" anchorCtr="0">
            <a:spAutoFit/>
          </a:bodyPr>
          <a:lstStyle/>
          <a:p>
            <a:pPr marL="5003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 : images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925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.svg (.svg) est le format d'image recommandé en web qui peut s'insérer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970000"/>
              </a:buClr>
              <a:buSzPts val="1800"/>
              <a:buFont typeface="Arial"/>
              <a:buChar char="•"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avec la balise &lt;img&gt;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970000"/>
              </a:buClr>
              <a:buSzPts val="1800"/>
              <a:buFont typeface="Arial"/>
              <a:buChar char="•"/>
            </a:pPr>
            <a:r>
              <a:rPr lang="en-US" sz="24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avec la balise &lt;svg&gt; … &lt;/svg&gt;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970000"/>
              </a:buClr>
              <a:buSzPts val="1800"/>
              <a:buFont typeface="Arial"/>
              <a:buChar char="•"/>
            </a:pPr>
            <a:r>
              <a:rPr lang="en-US" sz="2400" b="1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avec la balise &lt;object&gt; … &lt;/object&gt;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69365" lvl="2" indent="-342264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84"/>
          <p:cNvSpPr txBox="1"/>
          <p:nvPr/>
        </p:nvSpPr>
        <p:spPr>
          <a:xfrm>
            <a:off x="2038985" y="3888854"/>
            <a:ext cx="5173980" cy="970915"/>
          </a:xfrm>
          <a:prstGeom prst="rect">
            <a:avLst/>
          </a:prstGeom>
          <a:noFill/>
          <a:ln w="952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9200" rIns="0" bIns="0" anchor="t" anchorCtr="0">
            <a:spAutoFit/>
          </a:bodyPr>
          <a:lstStyle/>
          <a:p>
            <a:pPr marL="1085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&lt;object type="image/svg+xml" data="logo-isen.svg"&gt;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565785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&lt;img src="logo-isen.png" alt="pizza"&gt;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08585" lvl="0" indent="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&lt;/object&gt;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85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85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  <p:sp>
        <p:nvSpPr>
          <p:cNvPr id="1186" name="Google Shape;1186;p85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87" name="Google Shape;1187;p85"/>
          <p:cNvSpPr txBox="1">
            <a:spLocks noGrp="1"/>
          </p:cNvSpPr>
          <p:nvPr>
            <p:ph type="title"/>
          </p:nvPr>
        </p:nvSpPr>
        <p:spPr>
          <a:xfrm>
            <a:off x="4351782" y="821512"/>
            <a:ext cx="349059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 : Vidéo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85"/>
          <p:cNvSpPr txBox="1"/>
          <p:nvPr/>
        </p:nvSpPr>
        <p:spPr>
          <a:xfrm>
            <a:off x="40640" y="1825883"/>
            <a:ext cx="11638915" cy="1007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2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Aucun consensus existe entre les navigateurs sur l'extension à utiliser pour 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fichiers vidéos (MP4, WebM, Ogg, …)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85"/>
          <p:cNvSpPr txBox="1"/>
          <p:nvPr/>
        </p:nvSpPr>
        <p:spPr>
          <a:xfrm>
            <a:off x="40640" y="2871977"/>
            <a:ext cx="167513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85"/>
          <p:cNvSpPr txBox="1"/>
          <p:nvPr/>
        </p:nvSpPr>
        <p:spPr>
          <a:xfrm>
            <a:off x="497840" y="4286503"/>
            <a:ext cx="4790440" cy="212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3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controls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affichage de play/pause ..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src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URL relative ou absolue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width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largeur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height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hauteur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type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MIME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85"/>
          <p:cNvSpPr txBox="1"/>
          <p:nvPr/>
        </p:nvSpPr>
        <p:spPr>
          <a:xfrm>
            <a:off x="1892045" y="3049358"/>
            <a:ext cx="5283200" cy="1260475"/>
          </a:xfrm>
          <a:prstGeom prst="rect">
            <a:avLst/>
          </a:prstGeom>
          <a:noFill/>
          <a:ln w="952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&lt;video width="320" height="240" controls&gt;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486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&lt;source src="movie.mp4" type="video/mp4"&gt;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486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&lt;source src="movie.ogg" type="video/ogg"&gt;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&lt;/video&gt;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86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86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85</a:t>
            </a:fld>
            <a:endParaRPr/>
          </a:p>
        </p:txBody>
      </p:sp>
      <p:sp>
        <p:nvSpPr>
          <p:cNvPr id="1198" name="Google Shape;1198;p86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199" name="Google Shape;1199;p86"/>
          <p:cNvSpPr txBox="1">
            <a:spLocks noGrp="1"/>
          </p:cNvSpPr>
          <p:nvPr>
            <p:ph type="title"/>
          </p:nvPr>
        </p:nvSpPr>
        <p:spPr>
          <a:xfrm>
            <a:off x="4339590" y="821512"/>
            <a:ext cx="351536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 : Audio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86"/>
          <p:cNvSpPr txBox="1"/>
          <p:nvPr/>
        </p:nvSpPr>
        <p:spPr>
          <a:xfrm>
            <a:off x="420725" y="1673483"/>
            <a:ext cx="10495915" cy="1007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2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Pareil que les vidéos, aucun consensus existe entre les navigateurs sur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l'extension à utiliser pour les fichiers audio (MP3, WAV, Ogg, …)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86"/>
          <p:cNvSpPr txBox="1"/>
          <p:nvPr/>
        </p:nvSpPr>
        <p:spPr>
          <a:xfrm>
            <a:off x="420725" y="2719577"/>
            <a:ext cx="167513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Syntaxe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86"/>
          <p:cNvSpPr txBox="1"/>
          <p:nvPr/>
        </p:nvSpPr>
        <p:spPr>
          <a:xfrm>
            <a:off x="877925" y="4624832"/>
            <a:ext cx="4790440" cy="128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3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controls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affichage de play/pause ..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src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URL relative ou absolue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type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MIME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86"/>
          <p:cNvSpPr txBox="1"/>
          <p:nvPr/>
        </p:nvSpPr>
        <p:spPr>
          <a:xfrm>
            <a:off x="2322067" y="3012249"/>
            <a:ext cx="5283200" cy="1255395"/>
          </a:xfrm>
          <a:prstGeom prst="rect">
            <a:avLst/>
          </a:prstGeom>
          <a:noFill/>
          <a:ln w="9525" cap="flat" cmpd="sng">
            <a:solidFill>
              <a:srgbClr val="97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&lt;audio controls&gt;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486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&lt;source src="audio.mp3" type="audio/mp3"&gt;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486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&lt;source src="audio.ogg" type="audio/ogg"&gt;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70000"/>
                </a:solidFill>
                <a:latin typeface="Arial"/>
                <a:ea typeface="Arial"/>
                <a:cs typeface="Arial"/>
                <a:sym typeface="Arial"/>
              </a:rPr>
              <a:t>&lt;/audio&gt;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87"/>
          <p:cNvSpPr txBox="1"/>
          <p:nvPr/>
        </p:nvSpPr>
        <p:spPr>
          <a:xfrm>
            <a:off x="232359" y="225298"/>
            <a:ext cx="8724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87"/>
          <p:cNvSpPr txBox="1"/>
          <p:nvPr/>
        </p:nvSpPr>
        <p:spPr>
          <a:xfrm>
            <a:off x="5229605" y="821512"/>
            <a:ext cx="173418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Calibri"/>
                <a:ea typeface="Calibri"/>
                <a:cs typeface="Calibri"/>
                <a:sym typeface="Calibri"/>
              </a:rPr>
              <a:t>Médias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87"/>
          <p:cNvSpPr txBox="1"/>
          <p:nvPr/>
        </p:nvSpPr>
        <p:spPr>
          <a:xfrm>
            <a:off x="2604261" y="2806065"/>
            <a:ext cx="7868284" cy="167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970000"/>
                </a:solidFill>
                <a:latin typeface="Calibri"/>
                <a:ea typeface="Calibri"/>
                <a:cs typeface="Calibri"/>
                <a:sym typeface="Calibri"/>
              </a:rPr>
              <a:t>Vous devez avoir le droit d'utilisation pour chaque média (image, vidéo, audio, …) utilisé dans votre site web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1" name="Google Shape;1211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527" y="3036061"/>
            <a:ext cx="1676019" cy="1474977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87"/>
          <p:cNvSpPr txBox="1">
            <a:spLocks noGrp="1"/>
          </p:cNvSpPr>
          <p:nvPr>
            <p:ph type="sldNum" idx="12"/>
          </p:nvPr>
        </p:nvSpPr>
        <p:spPr>
          <a:xfrm>
            <a:off x="3242436" y="6614871"/>
            <a:ext cx="2451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86</a:t>
            </a:fld>
            <a:endParaRPr/>
          </a:p>
        </p:txBody>
      </p:sp>
      <p:sp>
        <p:nvSpPr>
          <p:cNvPr id="1213" name="Google Shape;1213;p87"/>
          <p:cNvSpPr txBox="1">
            <a:spLocks noGrp="1"/>
          </p:cNvSpPr>
          <p:nvPr>
            <p:ph type="ftr" idx="11"/>
          </p:nvPr>
        </p:nvSpPr>
        <p:spPr>
          <a:xfrm>
            <a:off x="11724513" y="6617614"/>
            <a:ext cx="38989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4618</Words>
  <Application>Microsoft Office PowerPoint</Application>
  <PresentationFormat>Grand écran</PresentationFormat>
  <Paragraphs>884</Paragraphs>
  <Slides>86</Slides>
  <Notes>86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86</vt:i4>
      </vt:variant>
    </vt:vector>
  </HeadingPairs>
  <TitlesOfParts>
    <vt:vector size="95" baseType="lpstr">
      <vt:lpstr>Helvetica Neue</vt:lpstr>
      <vt:lpstr>Arial</vt:lpstr>
      <vt:lpstr>Verdana</vt:lpstr>
      <vt:lpstr>Trebuchet MS</vt:lpstr>
      <vt:lpstr>Consolas</vt:lpstr>
      <vt:lpstr>Times New Roman</vt:lpstr>
      <vt:lpstr>Courier New</vt:lpstr>
      <vt:lpstr>Calibri</vt:lpstr>
      <vt:lpstr>Office Theme</vt:lpstr>
      <vt:lpstr>Développement web</vt:lpstr>
      <vt:lpstr>Présentation PowerPoint</vt:lpstr>
      <vt:lpstr>Généralités</vt:lpstr>
      <vt:lpstr>Internet : Définition</vt:lpstr>
      <vt:lpstr>Généralités</vt:lpstr>
      <vt:lpstr>Internet</vt:lpstr>
      <vt:lpstr>Internet   Web</vt:lpstr>
      <vt:lpstr>Web</vt:lpstr>
      <vt:lpstr>Web : mode de fonctionnement</vt:lpstr>
      <vt:lpstr>Web : mode de fonctionnement</vt:lpstr>
      <vt:lpstr>Web : mode de fonctionnement</vt:lpstr>
      <vt:lpstr>Web : mode de fonctionnement</vt:lpstr>
      <vt:lpstr>Web : mode de fonctionnement</vt:lpstr>
      <vt:lpstr>Web : mode de fonctionnement</vt:lpstr>
      <vt:lpstr>Généralités</vt:lpstr>
      <vt:lpstr>Front-end VS Back-end</vt:lpstr>
      <vt:lpstr>Front-end VS Back-end</vt:lpstr>
      <vt:lpstr>Front-end VS Back-end</vt:lpstr>
      <vt:lpstr>Généralités sur HTML</vt:lpstr>
      <vt:lpstr>HTML</vt:lpstr>
      <vt:lpstr>HTML</vt:lpstr>
      <vt:lpstr>Définition</vt:lpstr>
      <vt:lpstr>Présentation PowerPoint</vt:lpstr>
      <vt:lpstr>HTML</vt:lpstr>
      <vt:lpstr>HTML</vt:lpstr>
      <vt:lpstr>Choix des noms de fichiers : bonnes pratiques</vt:lpstr>
      <vt:lpstr>Ce que le navigateur ignore dans un fichier HTML</vt:lpstr>
      <vt:lpstr>Balises HTML</vt:lpstr>
      <vt:lpstr>Balises HTML</vt:lpstr>
      <vt:lpstr>Commentaires</vt:lpstr>
      <vt:lpstr>Attributs</vt:lpstr>
      <vt:lpstr>Attributs</vt:lpstr>
      <vt:lpstr>HTML</vt:lpstr>
      <vt:lpstr>Validation d'un document HTML</vt:lpstr>
      <vt:lpstr>HTML</vt:lpstr>
      <vt:lpstr>Textes et liens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Liens</vt:lpstr>
      <vt:lpstr>HTML</vt:lpstr>
      <vt:lpstr>Liens</vt:lpstr>
      <vt:lpstr>Liens</vt:lpstr>
      <vt:lpstr>Formulaires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HTML</vt:lpstr>
      <vt:lpstr>Tableaux</vt:lpstr>
      <vt:lpstr>Tableaux</vt:lpstr>
      <vt:lpstr>HTML</vt:lpstr>
      <vt:lpstr>Tableaux</vt:lpstr>
      <vt:lpstr>HTML</vt:lpstr>
      <vt:lpstr>Tableaux</vt:lpstr>
      <vt:lpstr>Médias</vt:lpstr>
      <vt:lpstr>HTML</vt:lpstr>
      <vt:lpstr>HTML</vt:lpstr>
      <vt:lpstr>Médias : images</vt:lpstr>
      <vt:lpstr>Médias : images</vt:lpstr>
      <vt:lpstr>Médias : images</vt:lpstr>
      <vt:lpstr>HTML</vt:lpstr>
      <vt:lpstr>HTML</vt:lpstr>
      <vt:lpstr>HTML</vt:lpstr>
      <vt:lpstr>Médias : Vidéo</vt:lpstr>
      <vt:lpstr>Médias : Audio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ELLOUZE (EXT Ouest)</cp:lastModifiedBy>
  <cp:revision>2</cp:revision>
  <dcterms:created xsi:type="dcterms:W3CDTF">2026-01-01T13:37:21Z</dcterms:created>
  <dcterms:modified xsi:type="dcterms:W3CDTF">2026-01-01T23:40:41Z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2024-09-04T00:00:00Z</vt:filetime>
  </property>
  <property fmtid="{D5CDD505-2E9C-101B-9397-08002B2CF9AE}" pid="3" name="Creator">
    <vt:lpwstr>Microsoft® PowerPoint® pour Microsoft 365</vt:lpwstr>
  </property>
  <property fmtid="{D5CDD505-2E9C-101B-9397-08002B2CF9AE}" pid="4" name="LastSaved">
    <vt:filetime>2026-01-01T00:00:00Z</vt:filetime>
  </property>
  <property fmtid="{D5CDD505-2E9C-101B-9397-08002B2CF9AE}" pid="5" name="Producer">
    <vt:lpwstr>Microsoft® PowerPoint® pour Microsoft 365</vt:lpwstr>
  </property>
</Properties>
</file>